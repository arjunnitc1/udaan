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2872" y="0"/>
            <a:ext cx="2926080" cy="6858000"/>
          </a:xfrm>
          <a:prstGeom prst="rect">
            <a:avLst/>
          </a:prstGeom>
          <a:solidFill>
            <a:srgbClr val="2A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8961120" y="365760"/>
            <a:ext cx="822960" cy="822960"/>
          </a:xfrm>
          <a:prstGeom prst="rect">
            <a:avLst/>
          </a:prstGeom>
          <a:solidFill>
            <a:srgbClr val="F2A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10241280" y="1371600"/>
            <a:ext cx="457200" cy="457200"/>
          </a:xfrm>
          <a:prstGeom prst="rect">
            <a:avLst/>
          </a:prstGeom>
          <a:solidFill>
            <a:srgbClr val="C85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9509760" y="5303520"/>
            <a:ext cx="548640" cy="548640"/>
          </a:xfrm>
          <a:prstGeom prst="rect">
            <a:avLst/>
          </a:prstGeom>
          <a:solidFill>
            <a:srgbClr val="F2A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2A007"/>
                </a:solidFill>
                <a:latin typeface="Calibri"/>
              </a:rPr>
              <a:t>AI FOR GOOD HACKATHON  ·  REUBEN COLLEGE, OXFORD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Palatino Linotype"/>
              </a:rPr>
              <a:t>Udaan  उड़ान</a:t>
            </a:r>
          </a:p>
          <a:p>
            <a:pPr algn="l">
              <a:spcBef>
                <a:spcPts val="600"/>
              </a:spcBef>
            </a:pPr>
            <a:r>
              <a:rPr sz="2000" b="0" i="1">
                <a:solidFill>
                  <a:srgbClr val="FFFDF7"/>
                </a:solidFill>
                <a:latin typeface="Calibri"/>
              </a:rPr>
              <a:t>Your skill. Your business. Your flight.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0FF"/>
                </a:solidFill>
                <a:latin typeface="Calibri"/>
              </a:rPr>
              <a:t>AI business coach that turns an Indian woman's existing skill
into her first independent income — in her language, on her phone.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120640"/>
            <a:ext cx="1645920" cy="347472"/>
          </a:xfrm>
          <a:prstGeom prst="rect">
            <a:avLst/>
          </a:prstGeom>
          <a:solidFill>
            <a:srgbClr val="2A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2A007"/>
                </a:solidFill>
                <a:latin typeface="Calibri"/>
              </a:rPr>
              <a:t>Voice-first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5120640"/>
            <a:ext cx="1645920" cy="347472"/>
          </a:xfrm>
          <a:prstGeom prst="rect">
            <a:avLst/>
          </a:prstGeom>
          <a:solidFill>
            <a:srgbClr val="2A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512064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2A007"/>
                </a:solidFill>
                <a:latin typeface="Calibri"/>
              </a:rPr>
              <a:t>6 Indian languages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5120640"/>
            <a:ext cx="1645920" cy="347472"/>
          </a:xfrm>
          <a:prstGeom prst="rect">
            <a:avLst/>
          </a:prstGeom>
          <a:solidFill>
            <a:srgbClr val="2A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512064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2A007"/>
                </a:solidFill>
                <a:latin typeface="Calibri"/>
              </a:rPr>
              <a:t>Judgment-free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5120640"/>
            <a:ext cx="1645920" cy="347472"/>
          </a:xfrm>
          <a:prstGeom prst="rect">
            <a:avLst/>
          </a:prstGeom>
          <a:solidFill>
            <a:srgbClr val="2A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512064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2A007"/>
                </a:solidFill>
                <a:latin typeface="Calibri"/>
              </a:rPr>
              <a:t>Free forever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126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88AA"/>
                </a:solidFill>
                <a:latin typeface="Calibri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A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2A007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143"/>
                </a:solidFill>
                <a:latin typeface="Palatino Linotype"/>
              </a:rPr>
              <a:t>197 million Indian women have marketable skills.
None of them have a business.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6517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B2143"/>
                </a:solidFill>
                <a:latin typeface="Calibri"/>
              </a:rPr>
              <a:t>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143"/>
                </a:solidFill>
                <a:latin typeface="Calibri"/>
              </a:rPr>
              <a:t>Language barrier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404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270"/>
                </a:solidFill>
                <a:latin typeface="Calibri"/>
              </a:rPr>
              <a:t>95% of business tools are in English. 78% of Indian women prefer their mother tongue.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246888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6517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B2143"/>
                </a:solidFill>
                <a:latin typeface="Calibri"/>
              </a:rPr>
              <a:t>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3337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143"/>
                </a:solidFill>
                <a:latin typeface="Calibri"/>
              </a:rPr>
              <a:t>Pricing paralysis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8404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270"/>
                </a:solidFill>
                <a:latin typeface="Calibri"/>
              </a:rPr>
              <a:t>Women charge for materials only — never for their own time. Chronic underpricing keeps them in poverty.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74736" y="246888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3336" y="26517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B2143"/>
                </a:solidFill>
                <a:latin typeface="Calibri"/>
              </a:rPr>
              <a:t>🏛️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6" y="3337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143"/>
                </a:solidFill>
                <a:latin typeface="Calibri"/>
              </a:rPr>
              <a:t>Scheme invisibility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38404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4270"/>
                </a:solidFill>
                <a:latin typeface="Calibri"/>
              </a:rPr>
              <a:t>₹3.4L crore in government schemes exist for women entrepreneurs. Most don't know they qualify.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126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8506E"/>
                </a:solidFill>
                <a:latin typeface="Calibri"/>
              </a:rPr>
              <a:t>The path from 'I can cook' to 'I run a business' has no map. Udaan draws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700000">
            <a:off x="11064240" y="274320"/>
            <a:ext cx="640080" cy="640080"/>
          </a:xfrm>
          <a:prstGeom prst="rect">
            <a:avLst/>
          </a:prstGeom>
          <a:solidFill>
            <a:srgbClr val="F2A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1704320" y="1097280"/>
            <a:ext cx="320040" cy="320040"/>
          </a:xfrm>
          <a:prstGeom prst="rect">
            <a:avLst/>
          </a:prstGeom>
          <a:solidFill>
            <a:srgbClr val="C85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2A007"/>
                </a:solidFill>
                <a:latin typeface="Calibr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Palatino Linotype"/>
              </a:rPr>
              <a:t>One conversation. A complete business.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3657600" cy="4023360"/>
          </a:xfrm>
          <a:prstGeom prst="rect">
            <a:avLst/>
          </a:prstGeom>
          <a:solidFill>
            <a:srgbClr val="2A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3657600" cy="54864"/>
          </a:xfrm>
          <a:prstGeom prst="rect">
            <a:avLst/>
          </a:prstGeom>
          <a:solidFill>
            <a:srgbClr val="F2A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9339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2A007"/>
                </a:solidFill>
                <a:latin typeface="Palatino Linotype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542032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She talks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090672"/>
            <a:ext cx="3246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FF"/>
                </a:solidFill>
                <a:latin typeface="Calibri"/>
              </a:rPr>
              <a:t>Voice or text, any Indian language.
Udaan asks about her life,
family, skills — like a trusted elder sister.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874519"/>
            <a:ext cx="3657600" cy="4023360"/>
          </a:xfrm>
          <a:prstGeom prst="rect">
            <a:avLst/>
          </a:prstGeom>
          <a:solidFill>
            <a:srgbClr val="2A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874519"/>
            <a:ext cx="3657600" cy="54864"/>
          </a:xfrm>
          <a:prstGeom prst="rect">
            <a:avLst/>
          </a:prstGeom>
          <a:solidFill>
            <a:srgbClr val="C85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99339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506E"/>
                </a:solidFill>
                <a:latin typeface="Palatino Linotype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542032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AI builds her Kit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3090672"/>
            <a:ext cx="3246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FF"/>
                </a:solidFill>
                <a:latin typeface="Calibri"/>
              </a:rPr>
              <a:t>After 5–7 exchanges, Claude generates
a complete personalised business plan
as structured JSON — not chat 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874519"/>
            <a:ext cx="3657600" cy="4023360"/>
          </a:xfrm>
          <a:prstGeom prst="rect">
            <a:avLst/>
          </a:prstGeom>
          <a:solidFill>
            <a:srgbClr val="2A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874519"/>
            <a:ext cx="3657600" cy="54864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8" y="199339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7D5B"/>
                </a:solidFill>
                <a:latin typeface="Palatino Linotype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2542032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She 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3090672"/>
            <a:ext cx="3246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8FF"/>
                </a:solidFill>
                <a:latin typeface="Calibri"/>
              </a:rPr>
              <a:t>Gets prices, WhatsApp message,
government schemes, Instagram bio,
vendor list — all in her language.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264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088AA"/>
                </a:solidFill>
                <a:latin typeface="Calibri"/>
              </a:rPr>
              <a:t>The output is the Udaan Kit — a fully rendered, bilingual, shareable business 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A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2A007"/>
                </a:solidFill>
                <a:latin typeface="Calibri"/>
              </a:rPr>
              <a:t>THE UDAAN KIT — AI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143"/>
                </a:solidFill>
                <a:latin typeface="Palatino Linotype"/>
              </a:rPr>
              <a:t>Not a chat response. A typed, renderable business plan.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37360"/>
            <a:ext cx="278892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737360"/>
            <a:ext cx="2788920" cy="45720"/>
          </a:xfrm>
          <a:prstGeom prst="rect">
            <a:avLst/>
          </a:prstGeom>
          <a:solidFill>
            <a:srgbClr val="F2A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9019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143"/>
                </a:solidFill>
                <a:latin typeface="Calibri"/>
              </a:rPr>
              <a:t>💰  Labour-first Pricing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395728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270"/>
                </a:solidFill>
                <a:latin typeface="Calibri"/>
              </a:rPr>
              <a:t>Prices calculated with HER time as a cost.
Never lets her undervalue herself.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737360"/>
            <a:ext cx="278892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737360"/>
            <a:ext cx="2788920" cy="45720"/>
          </a:xfrm>
          <a:prstGeom prst="rect">
            <a:avLst/>
          </a:prstGeom>
          <a:solidFill>
            <a:srgbClr val="F2A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19019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143"/>
                </a:solidFill>
                <a:latin typeface="Calibri"/>
              </a:rPr>
              <a:t>📱  WhatsApp Message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395728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270"/>
                </a:solidFill>
                <a:latin typeface="Calibri"/>
              </a:rPr>
              <a:t>Ready-to-send promo message in her language,
with emoji. One tap to share.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737360"/>
            <a:ext cx="278892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737360"/>
            <a:ext cx="2788920" cy="45720"/>
          </a:xfrm>
          <a:prstGeom prst="rect">
            <a:avLst/>
          </a:prstGeom>
          <a:solidFill>
            <a:srgbClr val="F2A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19019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143"/>
                </a:solidFill>
                <a:latin typeface="Calibri"/>
              </a:rPr>
              <a:t>🏛️  Scheme Matching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395728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270"/>
                </a:solidFill>
                <a:latin typeface="Calibri"/>
              </a:rPr>
              <a:t>2–3 government schemes she actually qualifies
for — verified, never hallucinated.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1737360"/>
            <a:ext cx="278892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737360"/>
            <a:ext cx="2788920" cy="45720"/>
          </a:xfrm>
          <a:prstGeom prst="rect">
            <a:avLst/>
          </a:prstGeom>
          <a:solidFill>
            <a:srgbClr val="F2A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54312" y="19019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143"/>
                </a:solidFill>
                <a:latin typeface="Calibri"/>
              </a:rPr>
              <a:t>📊  Income Projection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4312" y="2395728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270"/>
                </a:solidFill>
                <a:latin typeface="Calibri"/>
              </a:rPr>
              <a:t>Monthly + yearly estimate with
honest assumptions shown.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749040"/>
            <a:ext cx="278892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749040"/>
            <a:ext cx="2788920" cy="45720"/>
          </a:xfrm>
          <a:prstGeom prst="rect">
            <a:avLst/>
          </a:prstGeom>
          <a:solidFill>
            <a:srgbClr val="F2A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39136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143"/>
                </a:solidFill>
                <a:latin typeface="Calibri"/>
              </a:rPr>
              <a:t>📸  Instagram Setup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4407408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270"/>
                </a:solidFill>
                <a:latin typeface="Calibri"/>
              </a:rPr>
              <a:t>Bio, 3 post ideas, and
5 relevant hashtags.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3749040"/>
            <a:ext cx="278892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37560" y="3749040"/>
            <a:ext cx="2788920" cy="45720"/>
          </a:xfrm>
          <a:prstGeom prst="rect">
            <a:avLst/>
          </a:prstGeom>
          <a:solidFill>
            <a:srgbClr val="F2A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39136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143"/>
                </a:solidFill>
                <a:latin typeface="Calibri"/>
              </a:rPr>
              <a:t>🛒  Vendor Sourcing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4407408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270"/>
                </a:solidFill>
                <a:latin typeface="Calibri"/>
              </a:rPr>
              <a:t>Online + local sources for
her raw materials.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749040"/>
            <a:ext cx="278892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3749040"/>
            <a:ext cx="2788920" cy="45720"/>
          </a:xfrm>
          <a:prstGeom prst="rect">
            <a:avLst/>
          </a:prstGeom>
          <a:solidFill>
            <a:srgbClr val="F2A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28232" y="39136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143"/>
                </a:solidFill>
                <a:latin typeface="Calibri"/>
              </a:rPr>
              <a:t>📅  First 7 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4407408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270"/>
                </a:solidFill>
                <a:latin typeface="Calibri"/>
              </a:rPr>
              <a:t>Day-by-day action plan
to get her first order.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89720" y="3749040"/>
            <a:ext cx="278892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89720" y="3749040"/>
            <a:ext cx="2788920" cy="45720"/>
          </a:xfrm>
          <a:prstGeom prst="rect">
            <a:avLst/>
          </a:prstGeom>
          <a:solidFill>
            <a:srgbClr val="F2A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54312" y="39136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143"/>
                </a:solidFill>
                <a:latin typeface="Calibri"/>
              </a:rPr>
              <a:t>🦸‍♀️  Motivation Message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4312" y="4407408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270"/>
                </a:solidFill>
                <a:latin typeface="Calibri"/>
              </a:rPr>
              <a:t>Personalised message referencing
her specific story.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172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8506E"/>
                </a:solidFill>
                <a:latin typeface="Calibri"/>
              </a:rPr>
              <a:t>All fields returned as validated TypeScript JSON — machine-readable, not prose.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700000">
            <a:off x="11247120" y="5029200"/>
            <a:ext cx="731520" cy="731520"/>
          </a:xfrm>
          <a:prstGeom prst="rect">
            <a:avLst/>
          </a:prstGeom>
          <a:solidFill>
            <a:srgbClr val="F2A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2A007"/>
                </a:solidFill>
                <a:latin typeface="Calibri"/>
              </a:rPr>
              <a:t>HOW AI DOES REAL WORK — NOT A WRAPPER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Palatino Linotype"/>
              </a:rPr>
              <a:t>Five layers of AI reasoning beyond the system prompt.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36576" cy="457200"/>
          </a:xfrm>
          <a:prstGeom prst="rect">
            <a:avLst/>
          </a:prstGeom>
          <a:solidFill>
            <a:srgbClr val="F2A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647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A007"/>
                </a:solidFill>
                <a:latin typeface="Calibri"/>
              </a:rPr>
              <a:t>Structured conversation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671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8FF"/>
                </a:solidFill>
                <a:latin typeface="Calibri"/>
              </a:rPr>
              <a:t>The model follows a staged protocol (life → motivation → skills → business → kit). Each turn returns a typed stage tag. The conversation ends when Claude has enough signal — not on a fixed turn count.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24912"/>
            <a:ext cx="36576" cy="457200"/>
          </a:xfrm>
          <a:prstGeom prst="rect">
            <a:avLst/>
          </a:prstGeom>
          <a:solidFill>
            <a:srgbClr val="C85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66090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506E"/>
                </a:solidFill>
                <a:latin typeface="Calibri"/>
              </a:rPr>
              <a:t>Anti-hallucination scheme grounding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063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8FF"/>
                </a:solidFill>
                <a:latin typeface="Calibri"/>
              </a:rPr>
              <a:t>Government schemes live in code (schemes.json), not in model weights. System prompt injects the full dataset and enforces: 'Use ONLY these schemes, never invent others.' Structural guarantee, not a prompt instruction.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621024"/>
            <a:ext cx="36576" cy="45720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55701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5B"/>
                </a:solidFill>
                <a:latin typeface="Calibri"/>
              </a:rPr>
              <a:t>Labour-as-cost pricing enforcement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9593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8FF"/>
                </a:solidFill>
                <a:latin typeface="Calibri"/>
              </a:rPr>
              <a:t>A hard constraint in the prompt: 'Always count her own labour as a cost. Women underprice because they don't value their time — you must.' Every Kit enforces this — it cannot be skipped.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517136"/>
            <a:ext cx="36576" cy="457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45312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38CA"/>
                </a:solidFill>
                <a:latin typeface="Calibri"/>
              </a:rPr>
              <a:t>Structured JSON output — not prose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85546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8FF"/>
                </a:solidFill>
                <a:latin typeface="Calibri"/>
              </a:rPr>
              <a:t>Claude returns a fully typed Kit object (15+ fields). The UI renders it as a 4-tab visual plan. The AI's job is structured data extraction, not conversation. Output is verifiable and saveable.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413248"/>
            <a:ext cx="36576" cy="457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3492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A5E9"/>
                </a:solidFill>
                <a:latin typeface="Calibri"/>
              </a:rPr>
              <a:t>Multilingual auto-detection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75157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8FF"/>
                </a:solidFill>
                <a:latin typeface="Calibri"/>
              </a:rPr>
              <a:t>Input language detected via Unicode character ranges (Devanagari/Tamil/Telugu/Kannada/Bengali). TTS via browser Web Speech API — no external service, no extra cost.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2A007"/>
                </a:solidFill>
                <a:latin typeface="Calibri"/>
              </a:rP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143"/>
                </a:solidFill>
                <a:latin typeface="Palatino Linotype"/>
              </a:rPr>
              <a:t>Built for real-world India — offline-capable, zero extra dependencies.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7772400" cy="1005840"/>
          </a:xfrm>
          <a:prstGeom prst="rect">
            <a:avLst/>
          </a:prstGeom>
          <a:solidFill>
            <a:srgbClr val="2A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A007"/>
                </a:solidFill>
                <a:latin typeface="Calibri"/>
              </a:rPr>
              <a:t>BROWSER  (Next.js 14 App Router)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12848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FF"/>
                </a:solidFill>
                <a:latin typeface="Calibri"/>
              </a:rPr>
              <a:t>Web Speech API  ·  SpeechSynthesis TTS  ·  localStorage (auth, goals, savings)  ·  6 Indian languages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7772400" cy="1005840"/>
          </a:xfrm>
          <a:prstGeom prst="rect">
            <a:avLst/>
          </a:prstGeom>
          <a:solidFill>
            <a:srgbClr val="1B2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92608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A007"/>
                </a:solidFill>
                <a:latin typeface="Calibri"/>
              </a:rPr>
              <a:t>API LAYER  (/api/coach  ·  /api/session)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310128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8FF"/>
                </a:solidFill>
                <a:latin typeface="Calibri"/>
              </a:rPr>
              <a:t>Zod validation  ·  Upstash Redis rate limiting (10 req/60s)  ·  Anthropic Claude (claude-opus-4-8)  ·  Structured JSON Kit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7772400" cy="100584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402336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 LAYER  (Supabase PostgreSQL via Drizzle ORM)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407408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sessions  ·  events (funnel analytics)  ·  kits (full Kit JSON)  ·  schemes.json (verified, injected at runtime)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1691640"/>
            <a:ext cx="3383280" cy="3383280"/>
          </a:xfrm>
          <a:prstGeom prst="rect">
            <a:avLst/>
          </a:prstGeom>
          <a:solidFill>
            <a:srgbClr val="F6EFE2"/>
          </a:solidFill>
          <a:ln w="12700">
            <a:solidFill>
              <a:srgbClr val="E8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178308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88B00"/>
                </a:solidFill>
                <a:latin typeface="Calibri"/>
              </a:rPr>
              <a:t>By the numbers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24028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1B2143"/>
                </a:solidFill>
                <a:latin typeface="Calibri"/>
              </a:rPr>
              <a:t>2,654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227685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270"/>
                </a:solidFill>
                <a:latin typeface="Calibri"/>
              </a:rPr>
              <a:t>lines of TypeScript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2715768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1B2143"/>
                </a:solidFill>
                <a:latin typeface="Calibri"/>
              </a:rP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275234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270"/>
                </a:solidFill>
                <a:latin typeface="Calibri"/>
              </a:rPr>
              <a:t>source 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191256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1B2143"/>
                </a:solidFill>
                <a:latin typeface="Calibri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32278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270"/>
                </a:solidFill>
                <a:latin typeface="Calibri"/>
              </a:rPr>
              <a:t>routes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3666744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1B2143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3703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270"/>
                </a:solidFill>
                <a:latin typeface="Calibri"/>
              </a:rPr>
              <a:t>Indian languages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414223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1B2143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41788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270"/>
                </a:solidFill>
                <a:latin typeface="Calibri"/>
              </a:rPr>
              <a:t>verified schemes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61772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1B2143"/>
                </a:solidFill>
                <a:latin typeface="Calibri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465429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270"/>
                </a:solidFill>
                <a:latin typeface="Calibri"/>
              </a:rPr>
              <a:t>new npm packages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349240"/>
            <a:ext cx="11430000" cy="594360"/>
          </a:xfrm>
          <a:prstGeom prst="rect">
            <a:avLst/>
          </a:prstGeom>
          <a:solidFill>
            <a:srgbClr val="1B2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4132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2A007"/>
                </a:solidFill>
                <a:latin typeface="Calibri"/>
              </a:rPr>
              <a:t>🔗  github.com/arjunnitc1/udaan  ·  branch: shreya/scheme-engine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1264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3A4270"/>
                </a:solidFill>
                <a:latin typeface="Calibri"/>
              </a:rPr>
              <a:t>Data sources: Government schemes manually verified June 2026 against official portals (udyamregistration.gov.in · mudra.org.in · aajeevika.gov.in · pmvishwakarma.gov.in)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700000">
            <a:off x="11064240" y="274320"/>
            <a:ext cx="640080" cy="640080"/>
          </a:xfrm>
          <a:prstGeom prst="rect">
            <a:avLst/>
          </a:prstGeom>
          <a:solidFill>
            <a:srgbClr val="F2A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2A007"/>
                </a:solidFill>
                <a:latin typeface="Calibri"/>
              </a:rPr>
              <a:t>DIFFERENTIATION &amp;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alatino Linotype"/>
              </a:rPr>
              <a:t>Why Udaan isn't what already exists.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2157984" cy="438912"/>
          </a:xfrm>
          <a:prstGeom prst="rect">
            <a:avLst/>
          </a:prstGeom>
          <a:solidFill>
            <a:srgbClr val="2A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20665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2A007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600200"/>
            <a:ext cx="1975104" cy="438912"/>
          </a:xfrm>
          <a:prstGeom prst="rect">
            <a:avLst/>
          </a:prstGeom>
          <a:solidFill>
            <a:srgbClr val="2A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1645920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2A007"/>
                </a:solidFill>
                <a:latin typeface="Calibri"/>
              </a:rPr>
              <a:t>ChatGPT / Gemini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600200"/>
            <a:ext cx="2157984" cy="438912"/>
          </a:xfrm>
          <a:prstGeom prst="rect">
            <a:avLst/>
          </a:prstGeom>
          <a:solidFill>
            <a:srgbClr val="2A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645920"/>
            <a:ext cx="20665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2A007"/>
                </a:solidFill>
                <a:latin typeface="Calibri"/>
              </a:rPr>
              <a:t>Startup India Portal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12280" y="1600200"/>
            <a:ext cx="1975104" cy="438912"/>
          </a:xfrm>
          <a:prstGeom prst="rect">
            <a:avLst/>
          </a:prstGeom>
          <a:solidFill>
            <a:srgbClr val="2A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1645920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2A007"/>
                </a:solidFill>
                <a:latin typeface="Calibri"/>
              </a:rPr>
              <a:t>Rang De / Milaap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3960" y="1600200"/>
            <a:ext cx="1975104" cy="438912"/>
          </a:xfrm>
          <a:prstGeom prst="rect">
            <a:avLst/>
          </a:prstGeom>
          <a:solidFill>
            <a:srgbClr val="2A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1645920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2A007"/>
                </a:solidFill>
                <a:latin typeface="Calibri"/>
              </a:rPr>
              <a:t>Udaan 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103120"/>
            <a:ext cx="2157984" cy="475488"/>
          </a:xfrm>
          <a:prstGeom prst="rect">
            <a:avLst/>
          </a:prstGeom>
          <a:solidFill>
            <a:srgbClr val="22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167128"/>
            <a:ext cx="20665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Language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40" y="2103120"/>
            <a:ext cx="1975104" cy="475488"/>
          </a:xfrm>
          <a:prstGeom prst="rect">
            <a:avLst/>
          </a:prstGeom>
          <a:solidFill>
            <a:srgbClr val="22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80" y="2167128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8FF"/>
                </a:solidFill>
                <a:latin typeface="Calibri"/>
              </a:rPr>
              <a:t>English-first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2103120"/>
            <a:ext cx="2157984" cy="475488"/>
          </a:xfrm>
          <a:prstGeom prst="rect">
            <a:avLst/>
          </a:prstGeom>
          <a:solidFill>
            <a:srgbClr val="22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2167128"/>
            <a:ext cx="20665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8FF"/>
                </a:solidFill>
                <a:latin typeface="Calibri"/>
              </a:rPr>
              <a:t>English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12280" y="2103120"/>
            <a:ext cx="1975104" cy="475488"/>
          </a:xfrm>
          <a:prstGeom prst="rect">
            <a:avLst/>
          </a:prstGeom>
          <a:solidFill>
            <a:srgbClr val="22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2167128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8FF"/>
                </a:solidFill>
                <a:latin typeface="Calibri"/>
              </a:rPr>
              <a:t>English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23960" y="2103120"/>
            <a:ext cx="1975104" cy="475488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5400" y="2167128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2A007"/>
                </a:solidFill>
                <a:latin typeface="Calibri"/>
              </a:rPr>
              <a:t>Hindi + 5 langs 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633472"/>
            <a:ext cx="2157984" cy="475488"/>
          </a:xfrm>
          <a:prstGeom prst="rect">
            <a:avLst/>
          </a:prstGeom>
          <a:solidFill>
            <a:srgbClr val="1B2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697480"/>
            <a:ext cx="20665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Schemes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06040" y="2633472"/>
            <a:ext cx="1975104" cy="475488"/>
          </a:xfrm>
          <a:prstGeom prst="rect">
            <a:avLst/>
          </a:prstGeom>
          <a:solidFill>
            <a:srgbClr val="1B2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97480" y="2697480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8FF"/>
                </a:solidFill>
                <a:latin typeface="Calibri"/>
              </a:rPr>
              <a:t>Can hallucinate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17720" y="2633472"/>
            <a:ext cx="2157984" cy="475488"/>
          </a:xfrm>
          <a:prstGeom prst="rect">
            <a:avLst/>
          </a:prstGeom>
          <a:solidFill>
            <a:srgbClr val="1B2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60" y="2697480"/>
            <a:ext cx="20665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8FF"/>
                </a:solidFill>
                <a:latin typeface="Calibri"/>
              </a:rPr>
              <a:t>Accurate, complex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12280" y="2633472"/>
            <a:ext cx="1975104" cy="475488"/>
          </a:xfrm>
          <a:prstGeom prst="rect">
            <a:avLst/>
          </a:prstGeom>
          <a:solidFill>
            <a:srgbClr val="1B2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3720" y="2697480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8FF"/>
                </a:solidFill>
                <a:latin typeface="Calibri"/>
              </a:rPr>
              <a:t>None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23960" y="2633472"/>
            <a:ext cx="1975104" cy="475488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2697480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2A007"/>
                </a:solidFill>
                <a:latin typeface="Calibri"/>
              </a:rPr>
              <a:t>Verified, matched 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163824"/>
            <a:ext cx="2157984" cy="475488"/>
          </a:xfrm>
          <a:prstGeom prst="rect">
            <a:avLst/>
          </a:prstGeom>
          <a:solidFill>
            <a:srgbClr val="22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3227832"/>
            <a:ext cx="20665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Pricing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06040" y="3163824"/>
            <a:ext cx="1975104" cy="475488"/>
          </a:xfrm>
          <a:prstGeom prst="rect">
            <a:avLst/>
          </a:prstGeom>
          <a:solidFill>
            <a:srgbClr val="22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97480" y="3227832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8FF"/>
                </a:solidFill>
                <a:latin typeface="Calibri"/>
              </a:rPr>
              <a:t>Generic advice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17720" y="3163824"/>
            <a:ext cx="2157984" cy="475488"/>
          </a:xfrm>
          <a:prstGeom prst="rect">
            <a:avLst/>
          </a:prstGeom>
          <a:solidFill>
            <a:srgbClr val="22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09160" y="3227832"/>
            <a:ext cx="20665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8FF"/>
                </a:solidFill>
                <a:latin typeface="Calibri"/>
              </a:rPr>
              <a:t>None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12280" y="3163824"/>
            <a:ext cx="1975104" cy="475488"/>
          </a:xfrm>
          <a:prstGeom prst="rect">
            <a:avLst/>
          </a:prstGeom>
          <a:solidFill>
            <a:srgbClr val="22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03720" y="3227832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8FF"/>
                </a:solidFill>
                <a:latin typeface="Calibri"/>
              </a:rPr>
              <a:t>None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23960" y="3163824"/>
            <a:ext cx="1975104" cy="475488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15400" y="3227832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2A007"/>
                </a:solidFill>
                <a:latin typeface="Calibri"/>
              </a:rPr>
              <a:t>Labour-counted 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3694176"/>
            <a:ext cx="2157984" cy="475488"/>
          </a:xfrm>
          <a:prstGeom prst="rect">
            <a:avLst/>
          </a:prstGeom>
          <a:solidFill>
            <a:srgbClr val="1B2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3758184"/>
            <a:ext cx="20665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Voice I/O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06040" y="3694176"/>
            <a:ext cx="1975104" cy="475488"/>
          </a:xfrm>
          <a:prstGeom prst="rect">
            <a:avLst/>
          </a:prstGeom>
          <a:solidFill>
            <a:srgbClr val="1B2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97480" y="3758184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8FF"/>
                </a:solidFill>
                <a:latin typeface="Calibri"/>
              </a:rPr>
              <a:t>No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17720" y="3694176"/>
            <a:ext cx="2157984" cy="475488"/>
          </a:xfrm>
          <a:prstGeom prst="rect">
            <a:avLst/>
          </a:prstGeom>
          <a:solidFill>
            <a:srgbClr val="1B2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09160" y="3758184"/>
            <a:ext cx="20665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8FF"/>
                </a:solidFill>
                <a:latin typeface="Calibri"/>
              </a:rPr>
              <a:t>No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12280" y="3694176"/>
            <a:ext cx="1975104" cy="475488"/>
          </a:xfrm>
          <a:prstGeom prst="rect">
            <a:avLst/>
          </a:prstGeom>
          <a:solidFill>
            <a:srgbClr val="1B2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03720" y="3758184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8FF"/>
                </a:solidFill>
                <a:latin typeface="Calibri"/>
              </a:rPr>
              <a:t>No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23960" y="3694176"/>
            <a:ext cx="1975104" cy="475488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15400" y="3758184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2A007"/>
                </a:solidFill>
                <a:latin typeface="Calibri"/>
              </a:rPr>
              <a:t>Yes, Indian langs 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4224528"/>
            <a:ext cx="2157984" cy="475488"/>
          </a:xfrm>
          <a:prstGeom prst="rect">
            <a:avLst/>
          </a:prstGeom>
          <a:solidFill>
            <a:srgbClr val="22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4288536"/>
            <a:ext cx="20665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Customer asset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06040" y="4224528"/>
            <a:ext cx="1975104" cy="475488"/>
          </a:xfrm>
          <a:prstGeom prst="rect">
            <a:avLst/>
          </a:prstGeom>
          <a:solidFill>
            <a:srgbClr val="22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97480" y="4288536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8FF"/>
                </a:solidFill>
                <a:latin typeface="Calibri"/>
              </a:rPr>
              <a:t>No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17720" y="4224528"/>
            <a:ext cx="2157984" cy="475488"/>
          </a:xfrm>
          <a:prstGeom prst="rect">
            <a:avLst/>
          </a:prstGeom>
          <a:solidFill>
            <a:srgbClr val="22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09160" y="4288536"/>
            <a:ext cx="20665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8FF"/>
                </a:solidFill>
                <a:latin typeface="Calibri"/>
              </a:rPr>
              <a:t>No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12280" y="4224528"/>
            <a:ext cx="1975104" cy="475488"/>
          </a:xfrm>
          <a:prstGeom prst="rect">
            <a:avLst/>
          </a:prstGeom>
          <a:solidFill>
            <a:srgbClr val="22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03720" y="4288536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8FF"/>
                </a:solidFill>
                <a:latin typeface="Calibri"/>
              </a:rPr>
              <a:t>No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823960" y="4224528"/>
            <a:ext cx="1975104" cy="475488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15400" y="4288536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2A007"/>
                </a:solidFill>
                <a:latin typeface="Calibri"/>
              </a:rPr>
              <a:t>WhatsApp ready 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4754880"/>
            <a:ext cx="2157984" cy="475488"/>
          </a:xfrm>
          <a:prstGeom prst="rect">
            <a:avLst/>
          </a:prstGeom>
          <a:solidFill>
            <a:srgbClr val="1B2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920" y="4818888"/>
            <a:ext cx="20665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Cost to user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06040" y="4754880"/>
            <a:ext cx="1975104" cy="475488"/>
          </a:xfrm>
          <a:prstGeom prst="rect">
            <a:avLst/>
          </a:prstGeom>
          <a:solidFill>
            <a:srgbClr val="1B2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697480" y="4818888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8FF"/>
                </a:solidFill>
                <a:latin typeface="Calibri"/>
              </a:rPr>
              <a:t>$20/month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17720" y="4754880"/>
            <a:ext cx="2157984" cy="475488"/>
          </a:xfrm>
          <a:prstGeom prst="rect">
            <a:avLst/>
          </a:prstGeom>
          <a:solidFill>
            <a:srgbClr val="1B2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09160" y="4818888"/>
            <a:ext cx="20665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8FF"/>
                </a:solidFill>
                <a:latin typeface="Calibri"/>
              </a:rPr>
              <a:t>Free, inaccessible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812280" y="4754880"/>
            <a:ext cx="1975104" cy="475488"/>
          </a:xfrm>
          <a:prstGeom prst="rect">
            <a:avLst/>
          </a:prstGeom>
          <a:solidFill>
            <a:srgbClr val="1B2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03720" y="4818888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8FF"/>
                </a:solidFill>
                <a:latin typeface="Calibri"/>
              </a:rPr>
              <a:t>Loan-based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823960" y="4754880"/>
            <a:ext cx="1975104" cy="475488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15400" y="4818888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2A007"/>
                </a:solidFill>
                <a:latin typeface="Calibri"/>
              </a:rPr>
              <a:t>Free forever ✓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6172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2A007"/>
                </a:solidFill>
                <a:latin typeface="Calibri"/>
              </a:rPr>
              <a:t>The three genuine innovations: grounded scheme matching  ·  labour-as-cost pricing enforcement  ·  voice-native multilingualism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5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2A007"/>
                </a:solidFill>
                <a:latin typeface="Calibri"/>
              </a:rPr>
              <a:t>FULL PRODUCT — BEYOND THE COACH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143"/>
                </a:solidFill>
                <a:latin typeface="Palatino Linotype"/>
              </a:rPr>
              <a:t>A complete platform, not a single feature.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91640"/>
            <a:ext cx="370332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3703320" cy="50292"/>
          </a:xfrm>
          <a:prstGeom prst="rect">
            <a:avLst/>
          </a:prstGeom>
          <a:solidFill>
            <a:srgbClr val="C85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56232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143"/>
                </a:solidFill>
                <a:latin typeface="Calibri"/>
              </a:rPr>
              <a:t>📱  Mobile OTP 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50008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270"/>
                </a:solidFill>
                <a:latin typeface="Calibri"/>
              </a:rPr>
              <a:t>Indian mobile number + dummy OTP.
No email, no complex signup.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691640"/>
            <a:ext cx="370332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691640"/>
            <a:ext cx="3703320" cy="50292"/>
          </a:xfrm>
          <a:prstGeom prst="rect">
            <a:avLst/>
          </a:prstGeom>
          <a:solidFill>
            <a:srgbClr val="C85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856232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143"/>
                </a:solidFill>
                <a:latin typeface="Calibri"/>
              </a:rPr>
              <a:t>🏠 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350008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270"/>
                </a:solidFill>
                <a:latin typeface="Calibri"/>
              </a:rPr>
              <a:t>Personalised greeting, daily motivation,
quick actions, notification centre.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80" y="1691640"/>
            <a:ext cx="370332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1691640"/>
            <a:ext cx="3703320" cy="50292"/>
          </a:xfrm>
          <a:prstGeom prst="rect">
            <a:avLst/>
          </a:prstGeom>
          <a:solidFill>
            <a:srgbClr val="C85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856232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143"/>
                </a:solidFill>
                <a:latin typeface="Calibri"/>
              </a:rPr>
              <a:t>🏆  Community Heroes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350008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270"/>
                </a:solidFill>
                <a:latin typeface="Calibri"/>
              </a:rPr>
              <a:t>6 real-style profiles of women who launched.
Direct WhatsApp + Instagram contact.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703320"/>
            <a:ext cx="370332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703320"/>
            <a:ext cx="3703320" cy="50292"/>
          </a:xfrm>
          <a:prstGeom prst="rect">
            <a:avLst/>
          </a:prstGeom>
          <a:solidFill>
            <a:srgbClr val="C85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867912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143"/>
                </a:solidFill>
                <a:latin typeface="Calibri"/>
              </a:rPr>
              <a:t>🎯  Goals Tracker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361688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270"/>
                </a:solidFill>
                <a:latin typeface="Calibri"/>
              </a:rPr>
              <a:t>Set financial goals, track progress,
celebration notifications at milestones.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703320"/>
            <a:ext cx="370332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703320"/>
            <a:ext cx="3703320" cy="50292"/>
          </a:xfrm>
          <a:prstGeom prst="rect">
            <a:avLst/>
          </a:prstGeom>
          <a:solidFill>
            <a:srgbClr val="C85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3867912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143"/>
                </a:solidFill>
                <a:latin typeface="Calibri"/>
              </a:rPr>
              <a:t>🐷  Piggy Bank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361688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270"/>
                </a:solidFill>
                <a:latin typeface="Calibri"/>
              </a:rPr>
              <a:t>Multiple named savings jars with targets,
history, and motivational messages.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80" y="3703320"/>
            <a:ext cx="370332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80" y="3703320"/>
            <a:ext cx="3703320" cy="50292"/>
          </a:xfrm>
          <a:prstGeom prst="rect">
            <a:avLst/>
          </a:prstGeom>
          <a:solidFill>
            <a:srgbClr val="C85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3867912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143"/>
                </a:solidFill>
                <a:latin typeface="Calibri"/>
              </a:rPr>
              <a:t>🔔  Notifications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361688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270"/>
                </a:solidFill>
                <a:latin typeface="Calibri"/>
              </a:rPr>
              <a:t>Superwoman-framed nudges: milestone alerts,
daily motivation, coaching reminders.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14476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3A4270"/>
                </a:solidFill>
                <a:latin typeface="Calibri"/>
              </a:rPr>
              <a:t>Zero additional npm packages. Auth, notifications, goals, and savings use browser APIs and localStorage only.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2A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2A007"/>
                </a:solidFill>
                <a:latin typeface="Calibr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alatino Linotype"/>
              </a:rPr>
              <a:t>Sunita from Lucknow gets her business plan — live.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502920" cy="868680"/>
          </a:xfrm>
          <a:prstGeom prst="rect">
            <a:avLst/>
          </a:prstGeom>
          <a:solidFill>
            <a:srgbClr val="F2A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4767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2143"/>
                </a:solidFill>
                <a:latin typeface="Palatino Linotyp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85623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2A007"/>
                </a:solidFill>
                <a:latin typeface="Calibri"/>
              </a:rPr>
              <a:t>Landing → 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2402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FF"/>
                </a:solidFill>
                <a:latin typeface="Calibri"/>
              </a:rPr>
              <a:t>Visit the app. Enter a 10-digit mobile number. Enter OTP 123456. Land on the personalised dashboard.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80360"/>
            <a:ext cx="502920" cy="868680"/>
          </a:xfrm>
          <a:prstGeom prst="rect">
            <a:avLst/>
          </a:prstGeom>
          <a:solidFill>
            <a:srgbClr val="C85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4495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2143"/>
                </a:solidFill>
                <a:latin typeface="Palatino Linotype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95351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506E"/>
                </a:solidFill>
                <a:latin typeface="Calibri"/>
              </a:rPr>
              <a:t>Coach conversation in Hindi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375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FF"/>
                </a:solidFill>
                <a:latin typeface="Calibri"/>
              </a:rPr>
              <a:t>Type: 'मैं बहुत अच्छा खाना बनाती हूँ, लखनऊ में रहती हूँ'
Watch the coach respond in Hindi — voice reads it aloud.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977640"/>
            <a:ext cx="502920" cy="86868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14223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2143"/>
                </a:solidFill>
                <a:latin typeface="Palatino Linotyp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5079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5B"/>
                </a:solidFill>
                <a:latin typeface="Calibri"/>
              </a:rPr>
              <a:t>Kit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4348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FF"/>
                </a:solidFill>
                <a:latin typeface="Calibri"/>
              </a:rPr>
              <a:t>After 3–4 exchanges, the Udaan Kit appears. Scroll through all 4 tabs: Plan · Instagram · Vendors · Business Tips.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074920"/>
            <a:ext cx="502920" cy="86868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23951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2143"/>
                </a:solidFill>
                <a:latin typeface="Palatino Linotype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14807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38CA"/>
                </a:solidFill>
                <a:latin typeface="Calibri"/>
              </a:rPr>
              <a:t>WhatsApp + Notification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5321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8FF"/>
                </a:solidFill>
                <a:latin typeface="Calibri"/>
              </a:rPr>
              <a:t>Tap 'Copy for WhatsApp' → notification fires: 'Your first customer is around the corner!' Open Goals → add savings.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035040"/>
            <a:ext cx="11155680" cy="548640"/>
          </a:xfrm>
          <a:prstGeom prst="rect">
            <a:avLst/>
          </a:prstGeom>
          <a:solidFill>
            <a:srgbClr val="2A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0990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2A007"/>
                </a:solidFill>
                <a:latin typeface="Calibri"/>
              </a:rPr>
              <a:t>⚡  Backup: 'Watch Sunita's demo' button — fully offline, scripted, no API key needed.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2A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5303520" y="365760"/>
            <a:ext cx="1645920" cy="1645920"/>
          </a:xfrm>
          <a:prstGeom prst="rect">
            <a:avLst/>
          </a:prstGeom>
          <a:solidFill>
            <a:srgbClr val="F2A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0800" y="1280160"/>
            <a:ext cx="731520" cy="731520"/>
          </a:xfrm>
          <a:prstGeom prst="rect">
            <a:avLst/>
          </a:prstGeom>
          <a:solidFill>
            <a:srgbClr val="C85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5669280" y="2011680"/>
            <a:ext cx="457200" cy="457200"/>
          </a:xfrm>
          <a:prstGeom prst="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Palatino Linotype"/>
              </a:rPr>
              <a:t>Udaan  उड़ान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F2A007"/>
                </a:solidFill>
                <a:latin typeface="Calibri"/>
              </a:rPr>
              <a:t>Your skill. Your business. Your flight.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3876" y="4389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088AA"/>
                </a:solidFill>
                <a:latin typeface="Calibri"/>
              </a:rPr>
              <a:t>· Voice-first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4116" y="4389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088AA"/>
                </a:solidFill>
                <a:latin typeface="Calibri"/>
              </a:rPr>
              <a:t>· Hindi + 5 Indian languages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4356" y="4389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088AA"/>
                </a:solidFill>
                <a:latin typeface="Calibri"/>
              </a:rPr>
              <a:t>· Labour-counted pricing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4596" y="4389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088AA"/>
                </a:solidFill>
                <a:latin typeface="Calibri"/>
              </a:rPr>
              <a:t>· Verified government schemes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4836" y="4389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088AA"/>
                </a:solidFill>
                <a:latin typeface="Calibri"/>
              </a:rPr>
              <a:t>· Free forever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2A007"/>
                </a:solidFill>
                <a:latin typeface="Calibri"/>
              </a:rPr>
              <a:t>github.com/arjunnitc1/udaan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