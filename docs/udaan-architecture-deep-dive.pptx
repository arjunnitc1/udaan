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1352" y="0"/>
            <a:ext cx="3657600" cy="6858000"/>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2188952" cy="54864"/>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2700000">
            <a:off x="9144000" y="457200"/>
            <a:ext cx="1097280" cy="109728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2700000">
            <a:off x="10607040" y="1645920"/>
            <a:ext cx="548640" cy="548640"/>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2700000">
            <a:off x="9875520" y="5394960"/>
            <a:ext cx="731520" cy="73152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731520"/>
            <a:ext cx="7772400" cy="457200"/>
          </a:xfrm>
          <a:prstGeom prst="rect">
            <a:avLst/>
          </a:prstGeom>
          <a:noFill/>
        </p:spPr>
        <p:txBody>
          <a:bodyPr wrap="square">
            <a:spAutoFit/>
          </a:bodyPr>
          <a:lstStyle/>
          <a:p>
            <a:pPr algn="l"/>
            <a:r>
              <a:rPr sz="1100" b="1" i="0">
                <a:solidFill>
                  <a:srgbClr val="F2A007"/>
                </a:solidFill>
                <a:latin typeface="Calibri"/>
              </a:rPr>
              <a:t>UDAAN  उड़ान</a:t>
            </a:r>
          </a:p>
        </p:txBody>
      </p:sp>
      <p:sp>
        <p:nvSpPr>
          <p:cNvPr id="9" name="TextBox 8"/>
          <p:cNvSpPr txBox="1"/>
          <p:nvPr/>
        </p:nvSpPr>
        <p:spPr>
          <a:xfrm>
            <a:off x="548640" y="1280160"/>
            <a:ext cx="7772400" cy="1371600"/>
          </a:xfrm>
          <a:prstGeom prst="rect">
            <a:avLst/>
          </a:prstGeom>
          <a:noFill/>
        </p:spPr>
        <p:txBody>
          <a:bodyPr wrap="square">
            <a:spAutoFit/>
          </a:bodyPr>
          <a:lstStyle/>
          <a:p>
            <a:pPr algn="l"/>
            <a:r>
              <a:rPr sz="4600" b="1" i="0">
                <a:solidFill>
                  <a:srgbClr val="FFFFFF"/>
                </a:solidFill>
                <a:latin typeface="Palatino Linotype"/>
              </a:rPr>
              <a:t>Technical Architecture</a:t>
            </a:r>
          </a:p>
        </p:txBody>
      </p:sp>
      <p:sp>
        <p:nvSpPr>
          <p:cNvPr id="10" name="TextBox 9"/>
          <p:cNvSpPr txBox="1"/>
          <p:nvPr/>
        </p:nvSpPr>
        <p:spPr>
          <a:xfrm>
            <a:off x="548640" y="2651760"/>
            <a:ext cx="7772400" cy="822960"/>
          </a:xfrm>
          <a:prstGeom prst="rect">
            <a:avLst/>
          </a:prstGeom>
          <a:noFill/>
        </p:spPr>
        <p:txBody>
          <a:bodyPr wrap="square">
            <a:spAutoFit/>
          </a:bodyPr>
          <a:lstStyle/>
          <a:p>
            <a:pPr algn="l"/>
            <a:r>
              <a:rPr sz="3600" b="1" i="1">
                <a:solidFill>
                  <a:srgbClr val="F2A007"/>
                </a:solidFill>
                <a:latin typeface="Palatino Linotype"/>
              </a:rPr>
              <a:t>Deep Dive</a:t>
            </a:r>
          </a:p>
        </p:txBody>
      </p:sp>
      <p:sp>
        <p:nvSpPr>
          <p:cNvPr id="11" name="TextBox 10"/>
          <p:cNvSpPr txBox="1"/>
          <p:nvPr/>
        </p:nvSpPr>
        <p:spPr>
          <a:xfrm>
            <a:off x="548640" y="3749039"/>
            <a:ext cx="7772400" cy="1097280"/>
          </a:xfrm>
          <a:prstGeom prst="rect">
            <a:avLst/>
          </a:prstGeom>
          <a:noFill/>
        </p:spPr>
        <p:txBody>
          <a:bodyPr wrap="square">
            <a:spAutoFit/>
          </a:bodyPr>
          <a:lstStyle/>
          <a:p>
            <a:pPr algn="l"/>
            <a:r>
              <a:rPr sz="1500" b="0" i="0">
                <a:solidFill>
                  <a:srgbClr val="C0C8FF"/>
                </a:solidFill>
                <a:latin typeface="Calibri"/>
              </a:rPr>
              <a:t>How we built a production-grade AI coaching platform
for 197 million Indian women — from first principles.</a:t>
            </a:r>
          </a:p>
        </p:txBody>
      </p:sp>
      <p:sp>
        <p:nvSpPr>
          <p:cNvPr id="12" name="Rectangle 11"/>
          <p:cNvSpPr/>
          <p:nvPr/>
        </p:nvSpPr>
        <p:spPr>
          <a:xfrm>
            <a:off x="548640" y="5120640"/>
            <a:ext cx="1463040" cy="1417320"/>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120640"/>
            <a:ext cx="1463040" cy="4572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230368"/>
            <a:ext cx="1280160" cy="1097280"/>
          </a:xfrm>
          <a:prstGeom prst="rect">
            <a:avLst/>
          </a:prstGeom>
          <a:noFill/>
        </p:spPr>
        <p:txBody>
          <a:bodyPr wrap="square">
            <a:spAutoFit/>
          </a:bodyPr>
          <a:lstStyle/>
          <a:p>
            <a:pPr algn="ctr"/>
            <a:r>
              <a:rPr sz="900" b="1" i="0">
                <a:solidFill>
                  <a:srgbClr val="F2A007"/>
                </a:solidFill>
                <a:latin typeface="Calibri"/>
              </a:rPr>
              <a:t>Anti-hallucination
by design</a:t>
            </a:r>
          </a:p>
        </p:txBody>
      </p:sp>
      <p:sp>
        <p:nvSpPr>
          <p:cNvPr id="15" name="Rectangle 14"/>
          <p:cNvSpPr/>
          <p:nvPr/>
        </p:nvSpPr>
        <p:spPr>
          <a:xfrm>
            <a:off x="2121408" y="5120640"/>
            <a:ext cx="1463040" cy="1417320"/>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21408" y="5120640"/>
            <a:ext cx="1463040" cy="45720"/>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12848" y="5230368"/>
            <a:ext cx="1280160" cy="1097280"/>
          </a:xfrm>
          <a:prstGeom prst="rect">
            <a:avLst/>
          </a:prstGeom>
          <a:noFill/>
        </p:spPr>
        <p:txBody>
          <a:bodyPr wrap="square">
            <a:spAutoFit/>
          </a:bodyPr>
          <a:lstStyle/>
          <a:p>
            <a:pPr algn="ctr"/>
            <a:r>
              <a:rPr sz="900" b="1" i="0">
                <a:solidFill>
                  <a:srgbClr val="C8506E"/>
                </a:solidFill>
                <a:latin typeface="Calibri"/>
              </a:rPr>
              <a:t>Structured AI
output, not prose</a:t>
            </a:r>
          </a:p>
        </p:txBody>
      </p:sp>
      <p:sp>
        <p:nvSpPr>
          <p:cNvPr id="18" name="Rectangle 17"/>
          <p:cNvSpPr/>
          <p:nvPr/>
        </p:nvSpPr>
        <p:spPr>
          <a:xfrm>
            <a:off x="3694176" y="5120640"/>
            <a:ext cx="1463040" cy="1417320"/>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94176" y="5120640"/>
            <a:ext cx="146304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85616" y="5230368"/>
            <a:ext cx="1280160" cy="1097280"/>
          </a:xfrm>
          <a:prstGeom prst="rect">
            <a:avLst/>
          </a:prstGeom>
          <a:noFill/>
        </p:spPr>
        <p:txBody>
          <a:bodyPr wrap="square">
            <a:spAutoFit/>
          </a:bodyPr>
          <a:lstStyle/>
          <a:p>
            <a:pPr algn="ctr"/>
            <a:r>
              <a:rPr sz="900" b="1" i="0">
                <a:solidFill>
                  <a:srgbClr val="6366F1"/>
                </a:solidFill>
                <a:latin typeface="Calibri"/>
              </a:rPr>
              <a:t>Zero vendor lock-in
database</a:t>
            </a:r>
          </a:p>
        </p:txBody>
      </p:sp>
      <p:sp>
        <p:nvSpPr>
          <p:cNvPr id="21" name="Rectangle 20"/>
          <p:cNvSpPr/>
          <p:nvPr/>
        </p:nvSpPr>
        <p:spPr>
          <a:xfrm>
            <a:off x="5266944" y="5120640"/>
            <a:ext cx="1463040" cy="1417320"/>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66944" y="5120640"/>
            <a:ext cx="1463040" cy="45720"/>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58384" y="5230368"/>
            <a:ext cx="1280160" cy="1097280"/>
          </a:xfrm>
          <a:prstGeom prst="rect">
            <a:avLst/>
          </a:prstGeom>
          <a:noFill/>
        </p:spPr>
        <p:txBody>
          <a:bodyPr wrap="square">
            <a:spAutoFit/>
          </a:bodyPr>
          <a:lstStyle/>
          <a:p>
            <a:pPr algn="ctr"/>
            <a:r>
              <a:rPr sz="900" b="1" i="0">
                <a:solidFill>
                  <a:srgbClr val="2E7D5B"/>
                </a:solidFill>
                <a:latin typeface="Calibri"/>
              </a:rPr>
              <a:t>Voice-native
multilingual</a:t>
            </a:r>
          </a:p>
        </p:txBody>
      </p:sp>
      <p:sp>
        <p:nvSpPr>
          <p:cNvPr id="24" name="Rectangle 23"/>
          <p:cNvSpPr/>
          <p:nvPr/>
        </p:nvSpPr>
        <p:spPr>
          <a:xfrm>
            <a:off x="6839712" y="5120640"/>
            <a:ext cx="1463040" cy="1417320"/>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39712" y="5120640"/>
            <a:ext cx="146304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31152" y="5230368"/>
            <a:ext cx="1280160" cy="1097280"/>
          </a:xfrm>
          <a:prstGeom prst="rect">
            <a:avLst/>
          </a:prstGeom>
          <a:noFill/>
        </p:spPr>
        <p:txBody>
          <a:bodyPr wrap="square">
            <a:spAutoFit/>
          </a:bodyPr>
          <a:lstStyle/>
          <a:p>
            <a:pPr algn="ctr"/>
            <a:r>
              <a:rPr sz="900" b="1" i="0">
                <a:solidFill>
                  <a:srgbClr val="0EA5E9"/>
                </a:solidFill>
                <a:latin typeface="Calibri"/>
              </a:rPr>
              <a:t>Privacy-first
(DPDP ready)</a:t>
            </a:r>
          </a:p>
        </p:txBody>
      </p:sp>
      <p:sp>
        <p:nvSpPr>
          <p:cNvPr id="27" name="TextBox 26"/>
          <p:cNvSpPr txBox="1"/>
          <p:nvPr/>
        </p:nvSpPr>
        <p:spPr>
          <a:xfrm>
            <a:off x="548640" y="6537960"/>
            <a:ext cx="7315200" cy="274320"/>
          </a:xfrm>
          <a:prstGeom prst="rect">
            <a:avLst/>
          </a:prstGeom>
          <a:noFill/>
        </p:spPr>
        <p:txBody>
          <a:bodyPr wrap="square">
            <a:spAutoFit/>
          </a:bodyPr>
          <a:lstStyle/>
          <a:p>
            <a:pPr algn="l"/>
            <a:r>
              <a:rPr sz="900" b="0" i="0">
                <a:solidFill>
                  <a:srgbClr val="8088AA"/>
                </a:solidFill>
                <a:latin typeface="Calibri"/>
              </a:rPr>
              <a:t>AI for Good Hackathon  ·  Reuben College, Oxford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0972800" cy="320040"/>
          </a:xfrm>
          <a:prstGeom prst="rect">
            <a:avLst/>
          </a:prstGeom>
          <a:noFill/>
        </p:spPr>
        <p:txBody>
          <a:bodyPr wrap="square">
            <a:spAutoFit/>
          </a:bodyPr>
          <a:lstStyle/>
          <a:p>
            <a:pPr algn="l"/>
            <a:r>
              <a:rPr sz="800" b="1" i="0">
                <a:solidFill>
                  <a:srgbClr val="D88B00"/>
                </a:solidFill>
                <a:latin typeface="Calibri"/>
              </a:rPr>
              <a:t>ARCHITECTURE PHILOSOPHY — THREE PRINCIPLES</a:t>
            </a:r>
          </a:p>
        </p:txBody>
      </p:sp>
      <p:sp>
        <p:nvSpPr>
          <p:cNvPr id="5" name="TextBox 4"/>
          <p:cNvSpPr txBox="1"/>
          <p:nvPr/>
        </p:nvSpPr>
        <p:spPr>
          <a:xfrm>
            <a:off x="457200" y="749808"/>
            <a:ext cx="10972800" cy="685800"/>
          </a:xfrm>
          <a:prstGeom prst="rect">
            <a:avLst/>
          </a:prstGeom>
          <a:noFill/>
        </p:spPr>
        <p:txBody>
          <a:bodyPr wrap="square">
            <a:spAutoFit/>
          </a:bodyPr>
          <a:lstStyle/>
          <a:p>
            <a:pPr algn="l"/>
            <a:r>
              <a:rPr sz="2800" b="1" i="0">
                <a:solidFill>
                  <a:srgbClr val="1B2143"/>
                </a:solidFill>
                <a:latin typeface="Palatino Linotype"/>
              </a:rPr>
              <a:t>Every decision has a reason. Here's ours.</a:t>
            </a:r>
          </a:p>
        </p:txBody>
      </p:sp>
      <p:sp>
        <p:nvSpPr>
          <p:cNvPr id="6" name="Rectangle 5"/>
          <p:cNvSpPr/>
          <p:nvPr/>
        </p:nvSpPr>
        <p:spPr>
          <a:xfrm>
            <a:off x="411480" y="1691640"/>
            <a:ext cx="11338560" cy="1463040"/>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691640"/>
            <a:ext cx="54864" cy="146304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0080" cy="457200"/>
          </a:xfrm>
          <a:prstGeom prst="rect">
            <a:avLst/>
          </a:prstGeom>
          <a:noFill/>
        </p:spPr>
        <p:txBody>
          <a:bodyPr wrap="square">
            <a:spAutoFit/>
          </a:bodyPr>
          <a:lstStyle/>
          <a:p>
            <a:pPr algn="l"/>
            <a:r>
              <a:rPr sz="2200" b="1" i="0">
                <a:solidFill>
                  <a:srgbClr val="F2A007"/>
                </a:solidFill>
                <a:latin typeface="Palatino Linotype"/>
              </a:rPr>
              <a:t>01</a:t>
            </a:r>
          </a:p>
        </p:txBody>
      </p:sp>
      <p:sp>
        <p:nvSpPr>
          <p:cNvPr id="9" name="TextBox 8"/>
          <p:cNvSpPr txBox="1"/>
          <p:nvPr/>
        </p:nvSpPr>
        <p:spPr>
          <a:xfrm>
            <a:off x="594360" y="2258568"/>
            <a:ext cx="3291840" cy="777240"/>
          </a:xfrm>
          <a:prstGeom prst="rect">
            <a:avLst/>
          </a:prstGeom>
          <a:noFill/>
        </p:spPr>
        <p:txBody>
          <a:bodyPr wrap="square">
            <a:spAutoFit/>
          </a:bodyPr>
          <a:lstStyle/>
          <a:p>
            <a:pPr algn="l"/>
            <a:r>
              <a:rPr sz="1300" b="1" i="0">
                <a:solidFill>
                  <a:srgbClr val="1B2143"/>
                </a:solidFill>
                <a:latin typeface="Calibri"/>
              </a:rPr>
              <a:t>AI does structured reasoning,
not free conversation.</a:t>
            </a:r>
          </a:p>
        </p:txBody>
      </p:sp>
      <p:sp>
        <p:nvSpPr>
          <p:cNvPr id="10" name="TextBox 9"/>
          <p:cNvSpPr txBox="1"/>
          <p:nvPr/>
        </p:nvSpPr>
        <p:spPr>
          <a:xfrm>
            <a:off x="4114800" y="1856232"/>
            <a:ext cx="7498079" cy="1170432"/>
          </a:xfrm>
          <a:prstGeom prst="rect">
            <a:avLst/>
          </a:prstGeom>
          <a:noFill/>
        </p:spPr>
        <p:txBody>
          <a:bodyPr wrap="square">
            <a:spAutoFit/>
          </a:bodyPr>
          <a:lstStyle/>
          <a:p>
            <a:pPr algn="l"/>
            <a:r>
              <a:rPr sz="1100" b="0" i="0">
                <a:solidFill>
                  <a:srgbClr val="3A4270"/>
                </a:solidFill>
                <a:latin typeface="Calibri"/>
              </a:rPr>
              <a:t>The model returns a fully typed JSON object (the Kit) — not chat text. Every field is validated. The UI renders data, not prose. This means the output is verifiable, saveable, and testable. Most 'AI apps' at hackathons return a string. We return a type-safe business plan.</a:t>
            </a:r>
          </a:p>
        </p:txBody>
      </p:sp>
      <p:sp>
        <p:nvSpPr>
          <p:cNvPr id="11" name="Rectangle 10"/>
          <p:cNvSpPr/>
          <p:nvPr/>
        </p:nvSpPr>
        <p:spPr>
          <a:xfrm>
            <a:off x="3931920" y="1965960"/>
            <a:ext cx="27432" cy="9144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264408"/>
            <a:ext cx="11338560" cy="1463040"/>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264408"/>
            <a:ext cx="54864" cy="1463040"/>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401568"/>
            <a:ext cx="640080" cy="457200"/>
          </a:xfrm>
          <a:prstGeom prst="rect">
            <a:avLst/>
          </a:prstGeom>
          <a:noFill/>
        </p:spPr>
        <p:txBody>
          <a:bodyPr wrap="square">
            <a:spAutoFit/>
          </a:bodyPr>
          <a:lstStyle/>
          <a:p>
            <a:pPr algn="l"/>
            <a:r>
              <a:rPr sz="2200" b="1" i="0">
                <a:solidFill>
                  <a:srgbClr val="C8506E"/>
                </a:solidFill>
                <a:latin typeface="Palatino Linotype"/>
              </a:rPr>
              <a:t>02</a:t>
            </a:r>
          </a:p>
        </p:txBody>
      </p:sp>
      <p:sp>
        <p:nvSpPr>
          <p:cNvPr id="15" name="TextBox 14"/>
          <p:cNvSpPr txBox="1"/>
          <p:nvPr/>
        </p:nvSpPr>
        <p:spPr>
          <a:xfrm>
            <a:off x="594360" y="3831336"/>
            <a:ext cx="3291840" cy="777240"/>
          </a:xfrm>
          <a:prstGeom prst="rect">
            <a:avLst/>
          </a:prstGeom>
          <a:noFill/>
        </p:spPr>
        <p:txBody>
          <a:bodyPr wrap="square">
            <a:spAutoFit/>
          </a:bodyPr>
          <a:lstStyle/>
          <a:p>
            <a:pPr algn="l"/>
            <a:r>
              <a:rPr sz="1300" b="1" i="0">
                <a:solidFill>
                  <a:srgbClr val="1B2143"/>
                </a:solidFill>
                <a:latin typeface="Calibri"/>
              </a:rPr>
              <a:t>Ground truth lives in
code, not in model weights.</a:t>
            </a:r>
          </a:p>
        </p:txBody>
      </p:sp>
      <p:sp>
        <p:nvSpPr>
          <p:cNvPr id="16" name="TextBox 15"/>
          <p:cNvSpPr txBox="1"/>
          <p:nvPr/>
        </p:nvSpPr>
        <p:spPr>
          <a:xfrm>
            <a:off x="4114800" y="3429000"/>
            <a:ext cx="7498079" cy="1170432"/>
          </a:xfrm>
          <a:prstGeom prst="rect">
            <a:avLst/>
          </a:prstGeom>
          <a:noFill/>
        </p:spPr>
        <p:txBody>
          <a:bodyPr wrap="square">
            <a:spAutoFit/>
          </a:bodyPr>
          <a:lstStyle/>
          <a:p>
            <a:pPr algn="l"/>
            <a:r>
              <a:rPr sz="1100" b="0" i="0">
                <a:solidFill>
                  <a:srgbClr val="3A4270"/>
                </a:solidFill>
                <a:latin typeface="Calibri"/>
              </a:rPr>
              <a:t>Government schemes, pricing rules, and coaching ethics are encoded in files and prompts — not trusted to the model's memory. schemes.json is the source of truth. The prompt injects it at runtime. Claude cannot hallucinate a scheme that isn't in the file.</a:t>
            </a:r>
          </a:p>
        </p:txBody>
      </p:sp>
      <p:sp>
        <p:nvSpPr>
          <p:cNvPr id="17" name="Rectangle 16"/>
          <p:cNvSpPr/>
          <p:nvPr/>
        </p:nvSpPr>
        <p:spPr>
          <a:xfrm>
            <a:off x="3931920" y="3538728"/>
            <a:ext cx="27432" cy="9144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4837176"/>
            <a:ext cx="11338560" cy="1463040"/>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4837176"/>
            <a:ext cx="54864" cy="14630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974336"/>
            <a:ext cx="640080" cy="457200"/>
          </a:xfrm>
          <a:prstGeom prst="rect">
            <a:avLst/>
          </a:prstGeom>
          <a:noFill/>
        </p:spPr>
        <p:txBody>
          <a:bodyPr wrap="square">
            <a:spAutoFit/>
          </a:bodyPr>
          <a:lstStyle/>
          <a:p>
            <a:pPr algn="l"/>
            <a:r>
              <a:rPr sz="2200" b="1" i="0">
                <a:solidFill>
                  <a:srgbClr val="6366F1"/>
                </a:solidFill>
                <a:latin typeface="Palatino Linotype"/>
              </a:rPr>
              <a:t>03</a:t>
            </a:r>
          </a:p>
        </p:txBody>
      </p:sp>
      <p:sp>
        <p:nvSpPr>
          <p:cNvPr id="21" name="TextBox 20"/>
          <p:cNvSpPr txBox="1"/>
          <p:nvPr/>
        </p:nvSpPr>
        <p:spPr>
          <a:xfrm>
            <a:off x="594360" y="5404104"/>
            <a:ext cx="3291840" cy="777240"/>
          </a:xfrm>
          <a:prstGeom prst="rect">
            <a:avLst/>
          </a:prstGeom>
          <a:noFill/>
        </p:spPr>
        <p:txBody>
          <a:bodyPr wrap="square">
            <a:spAutoFit/>
          </a:bodyPr>
          <a:lstStyle/>
          <a:p>
            <a:pPr algn="l"/>
            <a:r>
              <a:rPr sz="1300" b="1" i="0">
                <a:solidFill>
                  <a:srgbClr val="1B2143"/>
                </a:solidFill>
                <a:latin typeface="Calibri"/>
              </a:rPr>
              <a:t>The database is infrastructure,
not a dependency.</a:t>
            </a:r>
          </a:p>
        </p:txBody>
      </p:sp>
      <p:sp>
        <p:nvSpPr>
          <p:cNvPr id="22" name="TextBox 21"/>
          <p:cNvSpPr txBox="1"/>
          <p:nvPr/>
        </p:nvSpPr>
        <p:spPr>
          <a:xfrm>
            <a:off x="4114800" y="5001768"/>
            <a:ext cx="7498079" cy="1170432"/>
          </a:xfrm>
          <a:prstGeom prst="rect">
            <a:avLst/>
          </a:prstGeom>
          <a:noFill/>
        </p:spPr>
        <p:txBody>
          <a:bodyPr wrap="square">
            <a:spAutoFit/>
          </a:bodyPr>
          <a:lstStyle/>
          <a:p>
            <a:pPr algn="l"/>
            <a:r>
              <a:rPr sz="1100" b="0" i="0">
                <a:solidFill>
                  <a:srgbClr val="3A4270"/>
                </a:solidFill>
                <a:latin typeface="Calibri"/>
              </a:rPr>
              <a:t>We use Drizzle ORM with a single DATABASE_URL environment variable. Switching from Supabase to our own self-deployed PostgreSQL requires changing one line. No application code changes. This is intentional: we built for data sovereignty from day one.</a:t>
            </a:r>
          </a:p>
        </p:txBody>
      </p:sp>
      <p:sp>
        <p:nvSpPr>
          <p:cNvPr id="23" name="Rectangle 22"/>
          <p:cNvSpPr/>
          <p:nvPr/>
        </p:nvSpPr>
        <p:spPr>
          <a:xfrm>
            <a:off x="3931920" y="5111496"/>
            <a:ext cx="27432" cy="9144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473952"/>
            <a:ext cx="11247120" cy="320040"/>
          </a:xfrm>
          <a:prstGeom prst="rect">
            <a:avLst/>
          </a:prstGeom>
          <a:noFill/>
        </p:spPr>
        <p:txBody>
          <a:bodyPr wrap="square">
            <a:spAutoFit/>
          </a:bodyPr>
          <a:lstStyle/>
          <a:p>
            <a:pPr algn="ctr"/>
            <a:r>
              <a:rPr sz="1000" b="0" i="1">
                <a:solidFill>
                  <a:srgbClr val="C8506E"/>
                </a:solidFill>
                <a:latin typeface="Calibri"/>
              </a:rPr>
              <a:t>These three principles are why our architecture looks different from other teams'.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2700000">
            <a:off x="11430000" y="274320"/>
            <a:ext cx="640080" cy="64008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47472"/>
            <a:ext cx="10972800" cy="320040"/>
          </a:xfrm>
          <a:prstGeom prst="rect">
            <a:avLst/>
          </a:prstGeom>
          <a:noFill/>
        </p:spPr>
        <p:txBody>
          <a:bodyPr wrap="square">
            <a:spAutoFit/>
          </a:bodyPr>
          <a:lstStyle/>
          <a:p>
            <a:pPr algn="l"/>
            <a:r>
              <a:rPr sz="800" b="1" i="0">
                <a:solidFill>
                  <a:srgbClr val="D88B00"/>
                </a:solidFill>
                <a:latin typeface="Calibri"/>
              </a:rPr>
              <a:t>SYSTEM ARCHITECTURE — FULL STACK</a:t>
            </a:r>
          </a:p>
        </p:txBody>
      </p:sp>
      <p:sp>
        <p:nvSpPr>
          <p:cNvPr id="5" name="TextBox 4"/>
          <p:cNvSpPr txBox="1"/>
          <p:nvPr/>
        </p:nvSpPr>
        <p:spPr>
          <a:xfrm>
            <a:off x="457200" y="713232"/>
            <a:ext cx="9144000" cy="594360"/>
          </a:xfrm>
          <a:prstGeom prst="rect">
            <a:avLst/>
          </a:prstGeom>
          <a:noFill/>
        </p:spPr>
        <p:txBody>
          <a:bodyPr wrap="square">
            <a:spAutoFit/>
          </a:bodyPr>
          <a:lstStyle/>
          <a:p>
            <a:pPr algn="l"/>
            <a:r>
              <a:rPr sz="2400" b="1" i="0">
                <a:solidFill>
                  <a:srgbClr val="FFFFFF"/>
                </a:solidFill>
                <a:latin typeface="Palatino Linotype"/>
              </a:rPr>
              <a:t>Three layers. One data flow. Zero black boxes.</a:t>
            </a:r>
          </a:p>
        </p:txBody>
      </p:sp>
      <p:sp>
        <p:nvSpPr>
          <p:cNvPr id="6" name="Rectangle 5"/>
          <p:cNvSpPr/>
          <p:nvPr/>
        </p:nvSpPr>
        <p:spPr>
          <a:xfrm>
            <a:off x="365760" y="1417320"/>
            <a:ext cx="11430000" cy="1417320"/>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1143000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63040"/>
            <a:ext cx="7315200" cy="347472"/>
          </a:xfrm>
          <a:prstGeom prst="rect">
            <a:avLst/>
          </a:prstGeom>
          <a:noFill/>
        </p:spPr>
        <p:txBody>
          <a:bodyPr wrap="square">
            <a:spAutoFit/>
          </a:bodyPr>
          <a:lstStyle/>
          <a:p>
            <a:pPr algn="l"/>
            <a:r>
              <a:rPr sz="1000" b="1" i="0">
                <a:solidFill>
                  <a:srgbClr val="0EA5E9"/>
                </a:solidFill>
                <a:latin typeface="Calibri"/>
              </a:rPr>
              <a:t>LAYER 1 — BROWSER  (Next.js 14 App Router · Client Components)</a:t>
            </a:r>
          </a:p>
        </p:txBody>
      </p:sp>
      <p:sp>
        <p:nvSpPr>
          <p:cNvPr id="9" name="Rectangle 8"/>
          <p:cNvSpPr/>
          <p:nvPr/>
        </p:nvSpPr>
        <p:spPr>
          <a:xfrm>
            <a:off x="502920" y="1865376"/>
            <a:ext cx="1536192" cy="841248"/>
          </a:xfrm>
          <a:prstGeom prst="rect">
            <a:avLst/>
          </a:prstGeom>
          <a:solidFill>
            <a:srgbClr val="0E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865376"/>
            <a:ext cx="1536192"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920240"/>
            <a:ext cx="1389888" cy="731520"/>
          </a:xfrm>
          <a:prstGeom prst="rect">
            <a:avLst/>
          </a:prstGeom>
          <a:noFill/>
        </p:spPr>
        <p:txBody>
          <a:bodyPr wrap="square">
            <a:spAutoFit/>
          </a:bodyPr>
          <a:lstStyle/>
          <a:p>
            <a:pPr algn="ctr"/>
            <a:r>
              <a:rPr sz="850" b="1" i="0">
                <a:solidFill>
                  <a:srgbClr val="0EA5E9"/>
                </a:solidFill>
                <a:latin typeface="Calibri"/>
              </a:rPr>
              <a:t>Landing Page
/</a:t>
            </a:r>
          </a:p>
        </p:txBody>
      </p:sp>
      <p:sp>
        <p:nvSpPr>
          <p:cNvPr id="12" name="Rectangle 11"/>
          <p:cNvSpPr/>
          <p:nvPr/>
        </p:nvSpPr>
        <p:spPr>
          <a:xfrm>
            <a:off x="2121408" y="1865376"/>
            <a:ext cx="1536192" cy="841248"/>
          </a:xfrm>
          <a:prstGeom prst="rect">
            <a:avLst/>
          </a:prstGeom>
          <a:solidFill>
            <a:srgbClr val="0E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21408" y="1865376"/>
            <a:ext cx="1536192"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94560" y="1920240"/>
            <a:ext cx="1389888" cy="731520"/>
          </a:xfrm>
          <a:prstGeom prst="rect">
            <a:avLst/>
          </a:prstGeom>
          <a:noFill/>
        </p:spPr>
        <p:txBody>
          <a:bodyPr wrap="square">
            <a:spAutoFit/>
          </a:bodyPr>
          <a:lstStyle/>
          <a:p>
            <a:pPr algn="ctr"/>
            <a:r>
              <a:rPr sz="850" b="1" i="0">
                <a:solidFill>
                  <a:srgbClr val="0EA5E9"/>
                </a:solidFill>
                <a:latin typeface="Calibri"/>
              </a:rPr>
              <a:t>Auth
/auth</a:t>
            </a:r>
          </a:p>
        </p:txBody>
      </p:sp>
      <p:sp>
        <p:nvSpPr>
          <p:cNvPr id="15" name="Rectangle 14"/>
          <p:cNvSpPr/>
          <p:nvPr/>
        </p:nvSpPr>
        <p:spPr>
          <a:xfrm>
            <a:off x="3739896" y="1865376"/>
            <a:ext cx="1536192" cy="841248"/>
          </a:xfrm>
          <a:prstGeom prst="rect">
            <a:avLst/>
          </a:prstGeom>
          <a:solidFill>
            <a:srgbClr val="0E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39896" y="1865376"/>
            <a:ext cx="1536192"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13048" y="1920240"/>
            <a:ext cx="1389888" cy="731520"/>
          </a:xfrm>
          <a:prstGeom prst="rect">
            <a:avLst/>
          </a:prstGeom>
          <a:noFill/>
        </p:spPr>
        <p:txBody>
          <a:bodyPr wrap="square">
            <a:spAutoFit/>
          </a:bodyPr>
          <a:lstStyle/>
          <a:p>
            <a:pPr algn="ctr"/>
            <a:r>
              <a:rPr sz="850" b="1" i="0">
                <a:solidFill>
                  <a:srgbClr val="0EA5E9"/>
                </a:solidFill>
                <a:latin typeface="Calibri"/>
              </a:rPr>
              <a:t>Dashboard
/dashboard</a:t>
            </a:r>
          </a:p>
        </p:txBody>
      </p:sp>
      <p:sp>
        <p:nvSpPr>
          <p:cNvPr id="18" name="Rectangle 17"/>
          <p:cNvSpPr/>
          <p:nvPr/>
        </p:nvSpPr>
        <p:spPr>
          <a:xfrm>
            <a:off x="5358384" y="1865376"/>
            <a:ext cx="1536192" cy="841248"/>
          </a:xfrm>
          <a:prstGeom prst="rect">
            <a:avLst/>
          </a:prstGeom>
          <a:solidFill>
            <a:srgbClr val="0E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58384" y="1865376"/>
            <a:ext cx="1536192" cy="36576"/>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31536" y="1920240"/>
            <a:ext cx="1389888" cy="731520"/>
          </a:xfrm>
          <a:prstGeom prst="rect">
            <a:avLst/>
          </a:prstGeom>
          <a:noFill/>
        </p:spPr>
        <p:txBody>
          <a:bodyPr wrap="square">
            <a:spAutoFit/>
          </a:bodyPr>
          <a:lstStyle/>
          <a:p>
            <a:pPr algn="ctr"/>
            <a:r>
              <a:rPr sz="850" b="1" i="0">
                <a:solidFill>
                  <a:srgbClr val="F2A007"/>
                </a:solidFill>
                <a:latin typeface="Calibri"/>
              </a:rPr>
              <a:t>Coach Chat
/coach</a:t>
            </a:r>
          </a:p>
        </p:txBody>
      </p:sp>
      <p:sp>
        <p:nvSpPr>
          <p:cNvPr id="21" name="Rectangle 20"/>
          <p:cNvSpPr/>
          <p:nvPr/>
        </p:nvSpPr>
        <p:spPr>
          <a:xfrm>
            <a:off x="6976872" y="1865376"/>
            <a:ext cx="1536192" cy="841248"/>
          </a:xfrm>
          <a:prstGeom prst="rect">
            <a:avLst/>
          </a:prstGeom>
          <a:solidFill>
            <a:srgbClr val="0E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76872" y="1865376"/>
            <a:ext cx="1536192"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4" y="1920240"/>
            <a:ext cx="1389888" cy="731520"/>
          </a:xfrm>
          <a:prstGeom prst="rect">
            <a:avLst/>
          </a:prstGeom>
          <a:noFill/>
        </p:spPr>
        <p:txBody>
          <a:bodyPr wrap="square">
            <a:spAutoFit/>
          </a:bodyPr>
          <a:lstStyle/>
          <a:p>
            <a:pPr algn="ctr"/>
            <a:r>
              <a:rPr sz="850" b="1" i="0">
                <a:solidFill>
                  <a:srgbClr val="0EA5E9"/>
                </a:solidFill>
                <a:latin typeface="Calibri"/>
              </a:rPr>
              <a:t>Community
/community</a:t>
            </a:r>
          </a:p>
        </p:txBody>
      </p:sp>
      <p:sp>
        <p:nvSpPr>
          <p:cNvPr id="24" name="Rectangle 23"/>
          <p:cNvSpPr/>
          <p:nvPr/>
        </p:nvSpPr>
        <p:spPr>
          <a:xfrm>
            <a:off x="8595360" y="1865376"/>
            <a:ext cx="1536192" cy="841248"/>
          </a:xfrm>
          <a:prstGeom prst="rect">
            <a:avLst/>
          </a:prstGeom>
          <a:solidFill>
            <a:srgbClr val="0E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95360" y="1865376"/>
            <a:ext cx="1536192"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68512" y="1920240"/>
            <a:ext cx="1389888" cy="731520"/>
          </a:xfrm>
          <a:prstGeom prst="rect">
            <a:avLst/>
          </a:prstGeom>
          <a:noFill/>
        </p:spPr>
        <p:txBody>
          <a:bodyPr wrap="square">
            <a:spAutoFit/>
          </a:bodyPr>
          <a:lstStyle/>
          <a:p>
            <a:pPr algn="ctr"/>
            <a:r>
              <a:rPr sz="850" b="1" i="0">
                <a:solidFill>
                  <a:srgbClr val="0EA5E9"/>
                </a:solidFill>
                <a:latin typeface="Calibri"/>
              </a:rPr>
              <a:t>Goals
/goals</a:t>
            </a:r>
          </a:p>
        </p:txBody>
      </p:sp>
      <p:sp>
        <p:nvSpPr>
          <p:cNvPr id="27" name="Rectangle 26"/>
          <p:cNvSpPr/>
          <p:nvPr/>
        </p:nvSpPr>
        <p:spPr>
          <a:xfrm>
            <a:off x="10213848" y="1865376"/>
            <a:ext cx="1536192" cy="841248"/>
          </a:xfrm>
          <a:prstGeom prst="rect">
            <a:avLst/>
          </a:prstGeom>
          <a:solidFill>
            <a:srgbClr val="0E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213848" y="1865376"/>
            <a:ext cx="1536192"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87000" y="1920240"/>
            <a:ext cx="1389888" cy="731520"/>
          </a:xfrm>
          <a:prstGeom prst="rect">
            <a:avLst/>
          </a:prstGeom>
          <a:noFill/>
        </p:spPr>
        <p:txBody>
          <a:bodyPr wrap="square">
            <a:spAutoFit/>
          </a:bodyPr>
          <a:lstStyle/>
          <a:p>
            <a:pPr algn="ctr"/>
            <a:r>
              <a:rPr sz="850" b="1" i="0">
                <a:solidFill>
                  <a:srgbClr val="0EA5E9"/>
                </a:solidFill>
                <a:latin typeface="Calibri"/>
              </a:rPr>
              <a:t>Piggy Bank
/piggy-bank</a:t>
            </a:r>
          </a:p>
        </p:txBody>
      </p:sp>
      <p:sp>
        <p:nvSpPr>
          <p:cNvPr id="30" name="Rectangle 29"/>
          <p:cNvSpPr/>
          <p:nvPr/>
        </p:nvSpPr>
        <p:spPr>
          <a:xfrm>
            <a:off x="365760" y="2907792"/>
            <a:ext cx="11430000" cy="384048"/>
          </a:xfrm>
          <a:prstGeom prst="rect">
            <a:avLst/>
          </a:prstGeom>
          <a:solidFill>
            <a:srgbClr val="051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962656"/>
            <a:ext cx="3566160" cy="274320"/>
          </a:xfrm>
          <a:prstGeom prst="rect">
            <a:avLst/>
          </a:prstGeom>
          <a:noFill/>
        </p:spPr>
        <p:txBody>
          <a:bodyPr wrap="square">
            <a:spAutoFit/>
          </a:bodyPr>
          <a:lstStyle/>
          <a:p>
            <a:pPr algn="l"/>
            <a:r>
              <a:rPr sz="800" b="0" i="0">
                <a:solidFill>
                  <a:srgbClr val="C0C8FF"/>
                </a:solidFill>
                <a:latin typeface="Calibri"/>
              </a:rPr>
              <a:t>⚡ Web Speech API (voice input · 6 langs)</a:t>
            </a:r>
          </a:p>
        </p:txBody>
      </p:sp>
      <p:sp>
        <p:nvSpPr>
          <p:cNvPr id="32" name="TextBox 31"/>
          <p:cNvSpPr txBox="1"/>
          <p:nvPr/>
        </p:nvSpPr>
        <p:spPr>
          <a:xfrm>
            <a:off x="4297679" y="2962656"/>
            <a:ext cx="3566160" cy="274320"/>
          </a:xfrm>
          <a:prstGeom prst="rect">
            <a:avLst/>
          </a:prstGeom>
          <a:noFill/>
        </p:spPr>
        <p:txBody>
          <a:bodyPr wrap="square">
            <a:spAutoFit/>
          </a:bodyPr>
          <a:lstStyle/>
          <a:p>
            <a:pPr algn="l"/>
            <a:r>
              <a:rPr sz="800" b="0" i="0">
                <a:solidFill>
                  <a:srgbClr val="C0C8FF"/>
                </a:solidFill>
                <a:latin typeface="Calibri"/>
              </a:rPr>
              <a:t>⚡ SpeechSynthesis TTS (voice output · zero cost)</a:t>
            </a:r>
          </a:p>
        </p:txBody>
      </p:sp>
      <p:sp>
        <p:nvSpPr>
          <p:cNvPr id="33" name="TextBox 32"/>
          <p:cNvSpPr txBox="1"/>
          <p:nvPr/>
        </p:nvSpPr>
        <p:spPr>
          <a:xfrm>
            <a:off x="8046718" y="2962656"/>
            <a:ext cx="3566160" cy="274320"/>
          </a:xfrm>
          <a:prstGeom prst="rect">
            <a:avLst/>
          </a:prstGeom>
          <a:noFill/>
        </p:spPr>
        <p:txBody>
          <a:bodyPr wrap="square">
            <a:spAutoFit/>
          </a:bodyPr>
          <a:lstStyle/>
          <a:p>
            <a:pPr algn="l"/>
            <a:r>
              <a:rPr sz="800" b="0" i="0">
                <a:solidFill>
                  <a:srgbClr val="C0C8FF"/>
                </a:solidFill>
                <a:latin typeface="Calibri"/>
              </a:rPr>
              <a:t>⚡ localStorage (auth · goals · piggy bank · notifications)</a:t>
            </a:r>
          </a:p>
        </p:txBody>
      </p:sp>
      <p:sp>
        <p:nvSpPr>
          <p:cNvPr id="34" name="TextBox 33"/>
          <p:cNvSpPr txBox="1"/>
          <p:nvPr/>
        </p:nvSpPr>
        <p:spPr>
          <a:xfrm>
            <a:off x="365760" y="3337560"/>
            <a:ext cx="11430000" cy="292608"/>
          </a:xfrm>
          <a:prstGeom prst="rect">
            <a:avLst/>
          </a:prstGeom>
          <a:noFill/>
        </p:spPr>
        <p:txBody>
          <a:bodyPr wrap="square">
            <a:spAutoFit/>
          </a:bodyPr>
          <a:lstStyle/>
          <a:p>
            <a:pPr algn="ctr"/>
            <a:r>
              <a:rPr sz="900" b="1" i="0">
                <a:solidFill>
                  <a:srgbClr val="8088AA"/>
                </a:solidFill>
                <a:latin typeface="Calibri"/>
              </a:rPr>
              <a:t>↓  HTTPS  ↓</a:t>
            </a:r>
          </a:p>
        </p:txBody>
      </p:sp>
      <p:sp>
        <p:nvSpPr>
          <p:cNvPr id="35" name="Rectangle 34"/>
          <p:cNvSpPr/>
          <p:nvPr/>
        </p:nvSpPr>
        <p:spPr>
          <a:xfrm>
            <a:off x="365760" y="3657600"/>
            <a:ext cx="11430000" cy="1353312"/>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3657600"/>
            <a:ext cx="11430000" cy="4572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703320"/>
            <a:ext cx="7315200" cy="347472"/>
          </a:xfrm>
          <a:prstGeom prst="rect">
            <a:avLst/>
          </a:prstGeom>
          <a:noFill/>
        </p:spPr>
        <p:txBody>
          <a:bodyPr wrap="square">
            <a:spAutoFit/>
          </a:bodyPr>
          <a:lstStyle/>
          <a:p>
            <a:pPr algn="l"/>
            <a:r>
              <a:rPr sz="1000" b="1" i="0">
                <a:solidFill>
                  <a:srgbClr val="F2A007"/>
                </a:solidFill>
                <a:latin typeface="Calibri"/>
              </a:rPr>
              <a:t>LAYER 2 — API LAYER  (Next.js Route Handlers · Server-side only)</a:t>
            </a:r>
          </a:p>
        </p:txBody>
      </p:sp>
      <p:sp>
        <p:nvSpPr>
          <p:cNvPr id="38" name="Rectangle 37"/>
          <p:cNvSpPr/>
          <p:nvPr/>
        </p:nvSpPr>
        <p:spPr>
          <a:xfrm>
            <a:off x="502920" y="4114800"/>
            <a:ext cx="2697480" cy="77724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4114800"/>
            <a:ext cx="2697480" cy="36576"/>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4169663"/>
            <a:ext cx="2514600" cy="292608"/>
          </a:xfrm>
          <a:prstGeom prst="rect">
            <a:avLst/>
          </a:prstGeom>
          <a:noFill/>
        </p:spPr>
        <p:txBody>
          <a:bodyPr wrap="square">
            <a:spAutoFit/>
          </a:bodyPr>
          <a:lstStyle/>
          <a:p>
            <a:pPr algn="l"/>
            <a:r>
              <a:rPr sz="1000" b="1" i="0">
                <a:solidFill>
                  <a:srgbClr val="F2A007"/>
                </a:solidFill>
                <a:latin typeface="Calibri"/>
              </a:rPr>
              <a:t>/api/coach</a:t>
            </a:r>
          </a:p>
        </p:txBody>
      </p:sp>
      <p:sp>
        <p:nvSpPr>
          <p:cNvPr id="41" name="TextBox 40"/>
          <p:cNvSpPr txBox="1"/>
          <p:nvPr/>
        </p:nvSpPr>
        <p:spPr>
          <a:xfrm>
            <a:off x="594360" y="4480560"/>
            <a:ext cx="2514600" cy="347472"/>
          </a:xfrm>
          <a:prstGeom prst="rect">
            <a:avLst/>
          </a:prstGeom>
          <a:noFill/>
        </p:spPr>
        <p:txBody>
          <a:bodyPr wrap="square">
            <a:spAutoFit/>
          </a:bodyPr>
          <a:lstStyle/>
          <a:p>
            <a:pPr algn="l"/>
            <a:r>
              <a:rPr sz="750" b="0" i="0">
                <a:solidFill>
                  <a:srgbClr val="C0C8FF"/>
                </a:solidFill>
                <a:latin typeface="Calibri"/>
              </a:rPr>
              <a:t>POST
Zod validate → Rate limit → Claude → Parse JSON → Persist Kit</a:t>
            </a:r>
          </a:p>
        </p:txBody>
      </p:sp>
      <p:sp>
        <p:nvSpPr>
          <p:cNvPr id="42" name="Rectangle 41"/>
          <p:cNvSpPr/>
          <p:nvPr/>
        </p:nvSpPr>
        <p:spPr>
          <a:xfrm>
            <a:off x="3337560" y="4114800"/>
            <a:ext cx="2697480" cy="77724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37560" y="4114800"/>
            <a:ext cx="269748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29000" y="4169663"/>
            <a:ext cx="2514600" cy="292608"/>
          </a:xfrm>
          <a:prstGeom prst="rect">
            <a:avLst/>
          </a:prstGeom>
          <a:noFill/>
        </p:spPr>
        <p:txBody>
          <a:bodyPr wrap="square">
            <a:spAutoFit/>
          </a:bodyPr>
          <a:lstStyle/>
          <a:p>
            <a:pPr algn="l"/>
            <a:r>
              <a:rPr sz="1000" b="1" i="0">
                <a:solidFill>
                  <a:srgbClr val="0EA5E9"/>
                </a:solidFill>
                <a:latin typeface="Calibri"/>
              </a:rPr>
              <a:t>/api/session</a:t>
            </a:r>
          </a:p>
        </p:txBody>
      </p:sp>
      <p:sp>
        <p:nvSpPr>
          <p:cNvPr id="45" name="TextBox 44"/>
          <p:cNvSpPr txBox="1"/>
          <p:nvPr/>
        </p:nvSpPr>
        <p:spPr>
          <a:xfrm>
            <a:off x="3429000" y="4480560"/>
            <a:ext cx="2514600" cy="347472"/>
          </a:xfrm>
          <a:prstGeom prst="rect">
            <a:avLst/>
          </a:prstGeom>
          <a:noFill/>
        </p:spPr>
        <p:txBody>
          <a:bodyPr wrap="square">
            <a:spAutoFit/>
          </a:bodyPr>
          <a:lstStyle/>
          <a:p>
            <a:pPr algn="l"/>
            <a:r>
              <a:rPr sz="750" b="0" i="0">
                <a:solidFill>
                  <a:srgbClr val="C0C8FF"/>
                </a:solidFill>
                <a:latin typeface="Calibri"/>
              </a:rPr>
              <a:t>GET/POST
Funnel analytics: session_start → interview_answer → kit_generated → whatsapp_copied</a:t>
            </a:r>
          </a:p>
        </p:txBody>
      </p:sp>
      <p:sp>
        <p:nvSpPr>
          <p:cNvPr id="46" name="Rectangle 45"/>
          <p:cNvSpPr/>
          <p:nvPr/>
        </p:nvSpPr>
        <p:spPr>
          <a:xfrm>
            <a:off x="6172200" y="4114800"/>
            <a:ext cx="2697480" cy="77724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72200" y="4114800"/>
            <a:ext cx="2697480" cy="36576"/>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4169663"/>
            <a:ext cx="2514600" cy="292608"/>
          </a:xfrm>
          <a:prstGeom prst="rect">
            <a:avLst/>
          </a:prstGeom>
          <a:noFill/>
        </p:spPr>
        <p:txBody>
          <a:bodyPr wrap="square">
            <a:spAutoFit/>
          </a:bodyPr>
          <a:lstStyle/>
          <a:p>
            <a:pPr algn="l"/>
            <a:r>
              <a:rPr sz="1000" b="1" i="0">
                <a:solidFill>
                  <a:srgbClr val="C8506E"/>
                </a:solidFill>
                <a:latin typeface="Calibri"/>
              </a:rPr>
              <a:t>Upstash Redis</a:t>
            </a:r>
          </a:p>
        </p:txBody>
      </p:sp>
      <p:sp>
        <p:nvSpPr>
          <p:cNvPr id="49" name="TextBox 48"/>
          <p:cNvSpPr txBox="1"/>
          <p:nvPr/>
        </p:nvSpPr>
        <p:spPr>
          <a:xfrm>
            <a:off x="6263640" y="4480560"/>
            <a:ext cx="2514600" cy="347472"/>
          </a:xfrm>
          <a:prstGeom prst="rect">
            <a:avLst/>
          </a:prstGeom>
          <a:noFill/>
        </p:spPr>
        <p:txBody>
          <a:bodyPr wrap="square">
            <a:spAutoFit/>
          </a:bodyPr>
          <a:lstStyle/>
          <a:p>
            <a:pPr algn="l"/>
            <a:r>
              <a:rPr sz="750" b="0" i="0">
                <a:solidFill>
                  <a:srgbClr val="C0C8FF"/>
                </a:solidFill>
                <a:latin typeface="Calibri"/>
              </a:rPr>
              <a:t>Sliding window
10 req / 60s per IP · Serverless-safe REST API</a:t>
            </a:r>
          </a:p>
        </p:txBody>
      </p:sp>
      <p:sp>
        <p:nvSpPr>
          <p:cNvPr id="50" name="Rectangle 49"/>
          <p:cNvSpPr/>
          <p:nvPr/>
        </p:nvSpPr>
        <p:spPr>
          <a:xfrm>
            <a:off x="9006840" y="4114800"/>
            <a:ext cx="2697480" cy="77724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006840" y="4114800"/>
            <a:ext cx="269748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98280" y="4169663"/>
            <a:ext cx="2514600" cy="292608"/>
          </a:xfrm>
          <a:prstGeom prst="rect">
            <a:avLst/>
          </a:prstGeom>
          <a:noFill/>
        </p:spPr>
        <p:txBody>
          <a:bodyPr wrap="square">
            <a:spAutoFit/>
          </a:bodyPr>
          <a:lstStyle/>
          <a:p>
            <a:pPr algn="l"/>
            <a:r>
              <a:rPr sz="1000" b="1" i="0">
                <a:solidFill>
                  <a:srgbClr val="6366F1"/>
                </a:solidFill>
                <a:latin typeface="Calibri"/>
              </a:rPr>
              <a:t>Anthropic SDK</a:t>
            </a:r>
          </a:p>
        </p:txBody>
      </p:sp>
      <p:sp>
        <p:nvSpPr>
          <p:cNvPr id="53" name="TextBox 52"/>
          <p:cNvSpPr txBox="1"/>
          <p:nvPr/>
        </p:nvSpPr>
        <p:spPr>
          <a:xfrm>
            <a:off x="9098280" y="4480560"/>
            <a:ext cx="2514600" cy="347472"/>
          </a:xfrm>
          <a:prstGeom prst="rect">
            <a:avLst/>
          </a:prstGeom>
          <a:noFill/>
        </p:spPr>
        <p:txBody>
          <a:bodyPr wrap="square">
            <a:spAutoFit/>
          </a:bodyPr>
          <a:lstStyle/>
          <a:p>
            <a:pPr algn="l"/>
            <a:r>
              <a:rPr sz="750" b="0" i="0">
                <a:solidFill>
                  <a:srgbClr val="C0C8FF"/>
                </a:solidFill>
                <a:latin typeface="Calibri"/>
              </a:rPr>
              <a:t>claude-opus-4-8
Server-side only · API key never in browser</a:t>
            </a:r>
          </a:p>
        </p:txBody>
      </p:sp>
      <p:sp>
        <p:nvSpPr>
          <p:cNvPr id="54" name="TextBox 53"/>
          <p:cNvSpPr txBox="1"/>
          <p:nvPr/>
        </p:nvSpPr>
        <p:spPr>
          <a:xfrm>
            <a:off x="365760" y="5047488"/>
            <a:ext cx="11430000" cy="274320"/>
          </a:xfrm>
          <a:prstGeom prst="rect">
            <a:avLst/>
          </a:prstGeom>
          <a:noFill/>
        </p:spPr>
        <p:txBody>
          <a:bodyPr wrap="square">
            <a:spAutoFit/>
          </a:bodyPr>
          <a:lstStyle/>
          <a:p>
            <a:pPr algn="ctr"/>
            <a:r>
              <a:rPr sz="900" b="1" i="0">
                <a:solidFill>
                  <a:srgbClr val="8088AA"/>
                </a:solidFill>
                <a:latin typeface="Calibri"/>
              </a:rPr>
              <a:t>↓  PostgreSQL wire protocol  ↓</a:t>
            </a:r>
          </a:p>
        </p:txBody>
      </p:sp>
      <p:sp>
        <p:nvSpPr>
          <p:cNvPr id="55" name="Rectangle 54"/>
          <p:cNvSpPr/>
          <p:nvPr/>
        </p:nvSpPr>
        <p:spPr>
          <a:xfrm>
            <a:off x="365760" y="5358384"/>
            <a:ext cx="11430000" cy="1188720"/>
          </a:xfrm>
          <a:prstGeom prst="rect">
            <a:avLst/>
          </a:prstGeom>
          <a:solidFill>
            <a:srgbClr val="08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65760" y="5358384"/>
            <a:ext cx="11430000" cy="45720"/>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8640" y="5394960"/>
            <a:ext cx="8229600" cy="320040"/>
          </a:xfrm>
          <a:prstGeom prst="rect">
            <a:avLst/>
          </a:prstGeom>
          <a:noFill/>
        </p:spPr>
        <p:txBody>
          <a:bodyPr wrap="square">
            <a:spAutoFit/>
          </a:bodyPr>
          <a:lstStyle/>
          <a:p>
            <a:pPr algn="l"/>
            <a:r>
              <a:rPr sz="1000" b="1" i="0">
                <a:solidFill>
                  <a:srgbClr val="2E7D5B"/>
                </a:solidFill>
                <a:latin typeface="Calibri"/>
              </a:rPr>
              <a:t>LAYER 3 — DATA LAYER  (PostgreSQL via Drizzle ORM · migrating to self-hosted)</a:t>
            </a:r>
          </a:p>
        </p:txBody>
      </p:sp>
      <p:sp>
        <p:nvSpPr>
          <p:cNvPr id="58" name="Rectangle 57"/>
          <p:cNvSpPr/>
          <p:nvPr/>
        </p:nvSpPr>
        <p:spPr>
          <a:xfrm>
            <a:off x="502920" y="5760720"/>
            <a:ext cx="2697480" cy="713232"/>
          </a:xfrm>
          <a:prstGeom prst="rect">
            <a:avLst/>
          </a:prstGeom>
          <a:solidFill>
            <a:srgbClr val="0518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 y="5797296"/>
            <a:ext cx="2514600" cy="274320"/>
          </a:xfrm>
          <a:prstGeom prst="rect">
            <a:avLst/>
          </a:prstGeom>
          <a:noFill/>
        </p:spPr>
        <p:txBody>
          <a:bodyPr wrap="square">
            <a:spAutoFit/>
          </a:bodyPr>
          <a:lstStyle/>
          <a:p>
            <a:pPr algn="l"/>
            <a:r>
              <a:rPr sz="1000" b="1" i="0">
                <a:solidFill>
                  <a:srgbClr val="2E7D5B"/>
                </a:solidFill>
                <a:latin typeface="Calibri"/>
              </a:rPr>
              <a:t>sessions table</a:t>
            </a:r>
          </a:p>
        </p:txBody>
      </p:sp>
      <p:sp>
        <p:nvSpPr>
          <p:cNvPr id="60" name="TextBox 59"/>
          <p:cNvSpPr txBox="1"/>
          <p:nvPr/>
        </p:nvSpPr>
        <p:spPr>
          <a:xfrm>
            <a:off x="594360" y="6071616"/>
            <a:ext cx="2514600" cy="347472"/>
          </a:xfrm>
          <a:prstGeom prst="rect">
            <a:avLst/>
          </a:prstGeom>
          <a:noFill/>
        </p:spPr>
        <p:txBody>
          <a:bodyPr wrap="square">
            <a:spAutoFit/>
          </a:bodyPr>
          <a:lstStyle/>
          <a:p>
            <a:pPr algn="l"/>
            <a:r>
              <a:rPr sz="750" b="0" i="0">
                <a:solidFill>
                  <a:srgbClr val="C0C8FF"/>
                </a:solidFill>
                <a:latin typeface="Calibri"/>
              </a:rPr>
              <a:t>UUID PK · lang · is_demo · created_at
No PII stored — ever.</a:t>
            </a:r>
          </a:p>
        </p:txBody>
      </p:sp>
      <p:sp>
        <p:nvSpPr>
          <p:cNvPr id="61" name="Rectangle 60"/>
          <p:cNvSpPr/>
          <p:nvPr/>
        </p:nvSpPr>
        <p:spPr>
          <a:xfrm>
            <a:off x="3337560" y="5760720"/>
            <a:ext cx="2697480" cy="713232"/>
          </a:xfrm>
          <a:prstGeom prst="rect">
            <a:avLst/>
          </a:prstGeom>
          <a:solidFill>
            <a:srgbClr val="0518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429000" y="5797296"/>
            <a:ext cx="2514600" cy="274320"/>
          </a:xfrm>
          <a:prstGeom prst="rect">
            <a:avLst/>
          </a:prstGeom>
          <a:noFill/>
        </p:spPr>
        <p:txBody>
          <a:bodyPr wrap="square">
            <a:spAutoFit/>
          </a:bodyPr>
          <a:lstStyle/>
          <a:p>
            <a:pPr algn="l"/>
            <a:r>
              <a:rPr sz="1000" b="1" i="0">
                <a:solidFill>
                  <a:srgbClr val="2E7D5B"/>
                </a:solidFill>
                <a:latin typeface="Calibri"/>
              </a:rPr>
              <a:t>events table</a:t>
            </a:r>
          </a:p>
        </p:txBody>
      </p:sp>
      <p:sp>
        <p:nvSpPr>
          <p:cNvPr id="63" name="TextBox 62"/>
          <p:cNvSpPr txBox="1"/>
          <p:nvPr/>
        </p:nvSpPr>
        <p:spPr>
          <a:xfrm>
            <a:off x="3429000" y="6071616"/>
            <a:ext cx="2514600" cy="347472"/>
          </a:xfrm>
          <a:prstGeom prst="rect">
            <a:avLst/>
          </a:prstGeom>
          <a:noFill/>
        </p:spPr>
        <p:txBody>
          <a:bodyPr wrap="square">
            <a:spAutoFit/>
          </a:bodyPr>
          <a:lstStyle/>
          <a:p>
            <a:pPr algn="l"/>
            <a:r>
              <a:rPr sz="750" b="0" i="0">
                <a:solidFill>
                  <a:srgbClr val="C0C8FF"/>
                </a:solidFill>
                <a:latin typeface="Calibri"/>
              </a:rPr>
              <a:t>session_id FK · type · payload JSONB · created_at
Funnel analytics, cascade delete.</a:t>
            </a:r>
          </a:p>
        </p:txBody>
      </p:sp>
      <p:sp>
        <p:nvSpPr>
          <p:cNvPr id="64" name="Rectangle 63"/>
          <p:cNvSpPr/>
          <p:nvPr/>
        </p:nvSpPr>
        <p:spPr>
          <a:xfrm>
            <a:off x="6172200" y="5760720"/>
            <a:ext cx="2697480" cy="713232"/>
          </a:xfrm>
          <a:prstGeom prst="rect">
            <a:avLst/>
          </a:prstGeom>
          <a:solidFill>
            <a:srgbClr val="0518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63640" y="5797296"/>
            <a:ext cx="2514600" cy="274320"/>
          </a:xfrm>
          <a:prstGeom prst="rect">
            <a:avLst/>
          </a:prstGeom>
          <a:noFill/>
        </p:spPr>
        <p:txBody>
          <a:bodyPr wrap="square">
            <a:spAutoFit/>
          </a:bodyPr>
          <a:lstStyle/>
          <a:p>
            <a:pPr algn="l"/>
            <a:r>
              <a:rPr sz="1000" b="1" i="0">
                <a:solidFill>
                  <a:srgbClr val="2E7D5B"/>
                </a:solidFill>
                <a:latin typeface="Calibri"/>
              </a:rPr>
              <a:t>kits table</a:t>
            </a:r>
          </a:p>
        </p:txBody>
      </p:sp>
      <p:sp>
        <p:nvSpPr>
          <p:cNvPr id="66" name="TextBox 65"/>
          <p:cNvSpPr txBox="1"/>
          <p:nvPr/>
        </p:nvSpPr>
        <p:spPr>
          <a:xfrm>
            <a:off x="6263640" y="6071616"/>
            <a:ext cx="2514600" cy="347472"/>
          </a:xfrm>
          <a:prstGeom prst="rect">
            <a:avLst/>
          </a:prstGeom>
          <a:noFill/>
        </p:spPr>
        <p:txBody>
          <a:bodyPr wrap="square">
            <a:spAutoFit/>
          </a:bodyPr>
          <a:lstStyle/>
          <a:p>
            <a:pPr algn="l"/>
            <a:r>
              <a:rPr sz="750" b="0" i="0">
                <a:solidFill>
                  <a:srgbClr val="C0C8FF"/>
                </a:solidFill>
                <a:latin typeface="Calibri"/>
              </a:rPr>
              <a:t>session_id FK · kit_json JSONB · created_at
Full Kit object per completed session.</a:t>
            </a:r>
          </a:p>
        </p:txBody>
      </p:sp>
      <p:sp>
        <p:nvSpPr>
          <p:cNvPr id="67" name="Rectangle 66"/>
          <p:cNvSpPr/>
          <p:nvPr/>
        </p:nvSpPr>
        <p:spPr>
          <a:xfrm>
            <a:off x="9006840" y="5760720"/>
            <a:ext cx="2697480" cy="713232"/>
          </a:xfrm>
          <a:prstGeom prst="rect">
            <a:avLst/>
          </a:prstGeom>
          <a:solidFill>
            <a:srgbClr val="0518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98280" y="5797296"/>
            <a:ext cx="2514600" cy="274320"/>
          </a:xfrm>
          <a:prstGeom prst="rect">
            <a:avLst/>
          </a:prstGeom>
          <a:noFill/>
        </p:spPr>
        <p:txBody>
          <a:bodyPr wrap="square">
            <a:spAutoFit/>
          </a:bodyPr>
          <a:lstStyle/>
          <a:p>
            <a:pPr algn="l"/>
            <a:r>
              <a:rPr sz="1000" b="1" i="0">
                <a:solidFill>
                  <a:srgbClr val="D88B00"/>
                </a:solidFill>
                <a:latin typeface="Calibri"/>
              </a:rPr>
              <a:t>schemes.json</a:t>
            </a:r>
          </a:p>
        </p:txBody>
      </p:sp>
      <p:sp>
        <p:nvSpPr>
          <p:cNvPr id="69" name="TextBox 68"/>
          <p:cNvSpPr txBox="1"/>
          <p:nvPr/>
        </p:nvSpPr>
        <p:spPr>
          <a:xfrm>
            <a:off x="9098280" y="6071616"/>
            <a:ext cx="2514600" cy="347472"/>
          </a:xfrm>
          <a:prstGeom prst="rect">
            <a:avLst/>
          </a:prstGeom>
          <a:noFill/>
        </p:spPr>
        <p:txBody>
          <a:bodyPr wrap="square">
            <a:spAutoFit/>
          </a:bodyPr>
          <a:lstStyle/>
          <a:p>
            <a:pPr algn="l"/>
            <a:r>
              <a:rPr sz="750" b="0" i="0">
                <a:solidFill>
                  <a:srgbClr val="C0C8FF"/>
                </a:solidFill>
                <a:latin typeface="Calibri"/>
              </a:rPr>
              <a:t>4 verified schemes · injected at runtime
Single source of truth — not model weights.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0972800" cy="320040"/>
          </a:xfrm>
          <a:prstGeom prst="rect">
            <a:avLst/>
          </a:prstGeom>
          <a:noFill/>
        </p:spPr>
        <p:txBody>
          <a:bodyPr wrap="square">
            <a:spAutoFit/>
          </a:bodyPr>
          <a:lstStyle/>
          <a:p>
            <a:pPr algn="l"/>
            <a:r>
              <a:rPr sz="800" b="1" i="0">
                <a:solidFill>
                  <a:srgbClr val="4338CA"/>
                </a:solidFill>
                <a:latin typeface="Calibri"/>
              </a:rPr>
              <a:t>REQUEST FLOW — WHAT HAPPENS ON EVERY COACH MESSAGE</a:t>
            </a:r>
          </a:p>
        </p:txBody>
      </p:sp>
      <p:sp>
        <p:nvSpPr>
          <p:cNvPr id="5" name="TextBox 4"/>
          <p:cNvSpPr txBox="1"/>
          <p:nvPr/>
        </p:nvSpPr>
        <p:spPr>
          <a:xfrm>
            <a:off x="457200" y="749808"/>
            <a:ext cx="10972800" cy="594360"/>
          </a:xfrm>
          <a:prstGeom prst="rect">
            <a:avLst/>
          </a:prstGeom>
          <a:noFill/>
        </p:spPr>
        <p:txBody>
          <a:bodyPr wrap="square">
            <a:spAutoFit/>
          </a:bodyPr>
          <a:lstStyle/>
          <a:p>
            <a:pPr algn="l"/>
            <a:r>
              <a:rPr sz="2600" b="1" i="0">
                <a:solidFill>
                  <a:srgbClr val="1B2143"/>
                </a:solidFill>
                <a:latin typeface="Palatino Linotype"/>
              </a:rPr>
              <a:t>7 steps, 3 layers, one typed Kit. Nothing is skipped.</a:t>
            </a:r>
          </a:p>
        </p:txBody>
      </p:sp>
      <p:sp>
        <p:nvSpPr>
          <p:cNvPr id="6" name="Rectangle 5"/>
          <p:cNvSpPr/>
          <p:nvPr/>
        </p:nvSpPr>
        <p:spPr>
          <a:xfrm>
            <a:off x="411480" y="1600200"/>
            <a:ext cx="438912" cy="6400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691640"/>
            <a:ext cx="438912" cy="457200"/>
          </a:xfrm>
          <a:prstGeom prst="rect">
            <a:avLst/>
          </a:prstGeom>
          <a:noFill/>
        </p:spPr>
        <p:txBody>
          <a:bodyPr wrap="square">
            <a:spAutoFit/>
          </a:bodyPr>
          <a:lstStyle/>
          <a:p>
            <a:pPr algn="ctr"/>
            <a:r>
              <a:rPr sz="2000" b="1" i="0">
                <a:solidFill>
                  <a:srgbClr val="1B2143"/>
                </a:solidFill>
                <a:latin typeface="Calibri"/>
              </a:rPr>
              <a:t>1</a:t>
            </a:r>
          </a:p>
        </p:txBody>
      </p:sp>
      <p:sp>
        <p:nvSpPr>
          <p:cNvPr id="8" name="TextBox 7"/>
          <p:cNvSpPr txBox="1"/>
          <p:nvPr/>
        </p:nvSpPr>
        <p:spPr>
          <a:xfrm>
            <a:off x="960120" y="1636776"/>
            <a:ext cx="3200400" cy="347472"/>
          </a:xfrm>
          <a:prstGeom prst="rect">
            <a:avLst/>
          </a:prstGeom>
          <a:noFill/>
        </p:spPr>
        <p:txBody>
          <a:bodyPr wrap="square">
            <a:spAutoFit/>
          </a:bodyPr>
          <a:lstStyle/>
          <a:p>
            <a:pPr algn="l"/>
            <a:r>
              <a:rPr sz="1100" b="1" i="0">
                <a:solidFill>
                  <a:srgbClr val="1B2143"/>
                </a:solidFill>
                <a:latin typeface="Calibri"/>
              </a:rPr>
              <a:t>User sends message</a:t>
            </a:r>
          </a:p>
        </p:txBody>
      </p:sp>
      <p:sp>
        <p:nvSpPr>
          <p:cNvPr id="9" name="TextBox 8"/>
          <p:cNvSpPr txBox="1"/>
          <p:nvPr/>
        </p:nvSpPr>
        <p:spPr>
          <a:xfrm>
            <a:off x="4297680" y="1636776"/>
            <a:ext cx="7315200" cy="594360"/>
          </a:xfrm>
          <a:prstGeom prst="rect">
            <a:avLst/>
          </a:prstGeom>
          <a:noFill/>
        </p:spPr>
        <p:txBody>
          <a:bodyPr wrap="square">
            <a:spAutoFit/>
          </a:bodyPr>
          <a:lstStyle/>
          <a:p>
            <a:pPr algn="l"/>
            <a:r>
              <a:rPr sz="950" b="0" i="0">
                <a:solidFill>
                  <a:srgbClr val="3A4270"/>
                </a:solidFill>
                <a:latin typeface="Calibri"/>
              </a:rPr>
              <a:t>Browser validates non-empty input. Attaches `x-session-id` header (client UUID — no PII). Sends conversation history as a JSON array of `{role, content}` pairs to POST /api/coach.</a:t>
            </a:r>
          </a:p>
        </p:txBody>
      </p:sp>
      <p:sp>
        <p:nvSpPr>
          <p:cNvPr id="10" name="Rectangle 9"/>
          <p:cNvSpPr/>
          <p:nvPr/>
        </p:nvSpPr>
        <p:spPr>
          <a:xfrm>
            <a:off x="4114800" y="1691640"/>
            <a:ext cx="27432" cy="4572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2322576"/>
            <a:ext cx="438912" cy="6400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414016"/>
            <a:ext cx="438912" cy="457200"/>
          </a:xfrm>
          <a:prstGeom prst="rect">
            <a:avLst/>
          </a:prstGeom>
          <a:noFill/>
        </p:spPr>
        <p:txBody>
          <a:bodyPr wrap="square">
            <a:spAutoFit/>
          </a:bodyPr>
          <a:lstStyle/>
          <a:p>
            <a:pPr algn="ctr"/>
            <a:r>
              <a:rPr sz="2000" b="1" i="0">
                <a:solidFill>
                  <a:srgbClr val="1B2143"/>
                </a:solidFill>
                <a:latin typeface="Calibri"/>
              </a:rPr>
              <a:t>2</a:t>
            </a:r>
          </a:p>
        </p:txBody>
      </p:sp>
      <p:sp>
        <p:nvSpPr>
          <p:cNvPr id="13" name="TextBox 12"/>
          <p:cNvSpPr txBox="1"/>
          <p:nvPr/>
        </p:nvSpPr>
        <p:spPr>
          <a:xfrm>
            <a:off x="960120" y="2359152"/>
            <a:ext cx="3200400" cy="347472"/>
          </a:xfrm>
          <a:prstGeom prst="rect">
            <a:avLst/>
          </a:prstGeom>
          <a:noFill/>
        </p:spPr>
        <p:txBody>
          <a:bodyPr wrap="square">
            <a:spAutoFit/>
          </a:bodyPr>
          <a:lstStyle/>
          <a:p>
            <a:pPr algn="l"/>
            <a:r>
              <a:rPr sz="1100" b="1" i="0">
                <a:solidFill>
                  <a:srgbClr val="1B2143"/>
                </a:solidFill>
                <a:latin typeface="Calibri"/>
              </a:rPr>
              <a:t>Zod schema validation</a:t>
            </a:r>
          </a:p>
        </p:txBody>
      </p:sp>
      <p:sp>
        <p:nvSpPr>
          <p:cNvPr id="14" name="TextBox 13"/>
          <p:cNvSpPr txBox="1"/>
          <p:nvPr/>
        </p:nvSpPr>
        <p:spPr>
          <a:xfrm>
            <a:off x="4297680" y="2359152"/>
            <a:ext cx="7315200" cy="594360"/>
          </a:xfrm>
          <a:prstGeom prst="rect">
            <a:avLst/>
          </a:prstGeom>
          <a:noFill/>
        </p:spPr>
        <p:txBody>
          <a:bodyPr wrap="square">
            <a:spAutoFit/>
          </a:bodyPr>
          <a:lstStyle/>
          <a:p>
            <a:pPr algn="l"/>
            <a:r>
              <a:rPr sz="950" b="0" i="0">
                <a:solidFill>
                  <a:srgbClr val="3A4270"/>
                </a:solidFill>
                <a:latin typeface="Calibri"/>
              </a:rPr>
              <a:t>Server validates every message: role must be 'user' | 'assistant', content 1–2000 chars, max 20 messages in history. Malformed requests return 400 before touching Claude.</a:t>
            </a:r>
          </a:p>
        </p:txBody>
      </p:sp>
      <p:sp>
        <p:nvSpPr>
          <p:cNvPr id="15" name="Rectangle 14"/>
          <p:cNvSpPr/>
          <p:nvPr/>
        </p:nvSpPr>
        <p:spPr>
          <a:xfrm>
            <a:off x="4114800" y="2414016"/>
            <a:ext cx="27432" cy="4572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044952"/>
            <a:ext cx="438912" cy="640080"/>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3136392"/>
            <a:ext cx="438912" cy="457200"/>
          </a:xfrm>
          <a:prstGeom prst="rect">
            <a:avLst/>
          </a:prstGeom>
          <a:noFill/>
        </p:spPr>
        <p:txBody>
          <a:bodyPr wrap="square">
            <a:spAutoFit/>
          </a:bodyPr>
          <a:lstStyle/>
          <a:p>
            <a:pPr algn="ctr"/>
            <a:r>
              <a:rPr sz="2000" b="1" i="0">
                <a:solidFill>
                  <a:srgbClr val="1B2143"/>
                </a:solidFill>
                <a:latin typeface="Calibri"/>
              </a:rPr>
              <a:t>3</a:t>
            </a:r>
          </a:p>
        </p:txBody>
      </p:sp>
      <p:sp>
        <p:nvSpPr>
          <p:cNvPr id="18" name="TextBox 17"/>
          <p:cNvSpPr txBox="1"/>
          <p:nvPr/>
        </p:nvSpPr>
        <p:spPr>
          <a:xfrm>
            <a:off x="960120" y="3081528"/>
            <a:ext cx="3200400" cy="347472"/>
          </a:xfrm>
          <a:prstGeom prst="rect">
            <a:avLst/>
          </a:prstGeom>
          <a:noFill/>
        </p:spPr>
        <p:txBody>
          <a:bodyPr wrap="square">
            <a:spAutoFit/>
          </a:bodyPr>
          <a:lstStyle/>
          <a:p>
            <a:pPr algn="l"/>
            <a:r>
              <a:rPr sz="1100" b="1" i="0">
                <a:solidFill>
                  <a:srgbClr val="1B2143"/>
                </a:solidFill>
                <a:latin typeface="Calibri"/>
              </a:rPr>
              <a:t>Rate limit check (Upstash Redis)</a:t>
            </a:r>
          </a:p>
        </p:txBody>
      </p:sp>
      <p:sp>
        <p:nvSpPr>
          <p:cNvPr id="19" name="TextBox 18"/>
          <p:cNvSpPr txBox="1"/>
          <p:nvPr/>
        </p:nvSpPr>
        <p:spPr>
          <a:xfrm>
            <a:off x="4297680" y="3081528"/>
            <a:ext cx="7315200" cy="594360"/>
          </a:xfrm>
          <a:prstGeom prst="rect">
            <a:avLst/>
          </a:prstGeom>
          <a:noFill/>
        </p:spPr>
        <p:txBody>
          <a:bodyPr wrap="square">
            <a:spAutoFit/>
          </a:bodyPr>
          <a:lstStyle/>
          <a:p>
            <a:pPr algn="l"/>
            <a:r>
              <a:rPr sz="950" b="0" i="0">
                <a:solidFill>
                  <a:srgbClr val="3A4270"/>
                </a:solidFill>
                <a:latin typeface="Calibri"/>
              </a:rPr>
              <a:t>Sliding window: 10 requests per 60 seconds per IP address. Returns 429 with Retry-After headers if exceeded. Skipped gracefully if Upstash env vars absent (local dev).</a:t>
            </a:r>
          </a:p>
        </p:txBody>
      </p:sp>
      <p:sp>
        <p:nvSpPr>
          <p:cNvPr id="20" name="Rectangle 19"/>
          <p:cNvSpPr/>
          <p:nvPr/>
        </p:nvSpPr>
        <p:spPr>
          <a:xfrm>
            <a:off x="4114800" y="3136392"/>
            <a:ext cx="27432" cy="4572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3767328"/>
            <a:ext cx="438912" cy="64008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858768"/>
            <a:ext cx="438912" cy="457200"/>
          </a:xfrm>
          <a:prstGeom prst="rect">
            <a:avLst/>
          </a:prstGeom>
          <a:noFill/>
        </p:spPr>
        <p:txBody>
          <a:bodyPr wrap="square">
            <a:spAutoFit/>
          </a:bodyPr>
          <a:lstStyle/>
          <a:p>
            <a:pPr algn="ctr"/>
            <a:r>
              <a:rPr sz="2000" b="1" i="0">
                <a:solidFill>
                  <a:srgbClr val="1B2143"/>
                </a:solidFill>
                <a:latin typeface="Calibri"/>
              </a:rPr>
              <a:t>4</a:t>
            </a:r>
          </a:p>
        </p:txBody>
      </p:sp>
      <p:sp>
        <p:nvSpPr>
          <p:cNvPr id="23" name="TextBox 22"/>
          <p:cNvSpPr txBox="1"/>
          <p:nvPr/>
        </p:nvSpPr>
        <p:spPr>
          <a:xfrm>
            <a:off x="960120" y="3803904"/>
            <a:ext cx="3200400" cy="347472"/>
          </a:xfrm>
          <a:prstGeom prst="rect">
            <a:avLst/>
          </a:prstGeom>
          <a:noFill/>
        </p:spPr>
        <p:txBody>
          <a:bodyPr wrap="square">
            <a:spAutoFit/>
          </a:bodyPr>
          <a:lstStyle/>
          <a:p>
            <a:pPr algn="l"/>
            <a:r>
              <a:rPr sz="1100" b="1" i="0">
                <a:solidFill>
                  <a:srgbClr val="1B2143"/>
                </a:solidFill>
                <a:latin typeface="Calibri"/>
              </a:rPr>
              <a:t>System prompt injection</a:t>
            </a:r>
          </a:p>
        </p:txBody>
      </p:sp>
      <p:sp>
        <p:nvSpPr>
          <p:cNvPr id="24" name="TextBox 23"/>
          <p:cNvSpPr txBox="1"/>
          <p:nvPr/>
        </p:nvSpPr>
        <p:spPr>
          <a:xfrm>
            <a:off x="4297680" y="3803904"/>
            <a:ext cx="7315200" cy="594360"/>
          </a:xfrm>
          <a:prstGeom prst="rect">
            <a:avLst/>
          </a:prstGeom>
          <a:noFill/>
        </p:spPr>
        <p:txBody>
          <a:bodyPr wrap="square">
            <a:spAutoFit/>
          </a:bodyPr>
          <a:lstStyle/>
          <a:p>
            <a:pPr algn="l"/>
            <a:r>
              <a:rPr sz="950" b="0" i="0">
                <a:solidFill>
                  <a:srgbClr val="3A4270"/>
                </a:solidFill>
                <a:latin typeface="Calibri"/>
              </a:rPr>
              <a:t>buildSystemPrompt() constructs the full prompt at request time — injecting all 4 verified schemes from schemes.json. Prompt includes conversation rules, language detection, JSON output format, and the labour-as-cost pricing constraint.</a:t>
            </a:r>
          </a:p>
        </p:txBody>
      </p:sp>
      <p:sp>
        <p:nvSpPr>
          <p:cNvPr id="25" name="Rectangle 24"/>
          <p:cNvSpPr/>
          <p:nvPr/>
        </p:nvSpPr>
        <p:spPr>
          <a:xfrm>
            <a:off x="4114800" y="3858768"/>
            <a:ext cx="27432" cy="4572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 y="4489704"/>
            <a:ext cx="438912" cy="64008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4581144"/>
            <a:ext cx="438912" cy="457200"/>
          </a:xfrm>
          <a:prstGeom prst="rect">
            <a:avLst/>
          </a:prstGeom>
          <a:noFill/>
        </p:spPr>
        <p:txBody>
          <a:bodyPr wrap="square">
            <a:spAutoFit/>
          </a:bodyPr>
          <a:lstStyle/>
          <a:p>
            <a:pPr algn="ctr"/>
            <a:r>
              <a:rPr sz="2000" b="1" i="0">
                <a:solidFill>
                  <a:srgbClr val="1B2143"/>
                </a:solidFill>
                <a:latin typeface="Calibri"/>
              </a:rPr>
              <a:t>5</a:t>
            </a:r>
          </a:p>
        </p:txBody>
      </p:sp>
      <p:sp>
        <p:nvSpPr>
          <p:cNvPr id="28" name="TextBox 27"/>
          <p:cNvSpPr txBox="1"/>
          <p:nvPr/>
        </p:nvSpPr>
        <p:spPr>
          <a:xfrm>
            <a:off x="960120" y="4526280"/>
            <a:ext cx="3200400" cy="347472"/>
          </a:xfrm>
          <a:prstGeom prst="rect">
            <a:avLst/>
          </a:prstGeom>
          <a:noFill/>
        </p:spPr>
        <p:txBody>
          <a:bodyPr wrap="square">
            <a:spAutoFit/>
          </a:bodyPr>
          <a:lstStyle/>
          <a:p>
            <a:pPr algn="l"/>
            <a:r>
              <a:rPr sz="1100" b="1" i="0">
                <a:solidFill>
                  <a:srgbClr val="1B2143"/>
                </a:solidFill>
                <a:latin typeface="Calibri"/>
              </a:rPr>
              <a:t>Claude API call</a:t>
            </a:r>
          </a:p>
        </p:txBody>
      </p:sp>
      <p:sp>
        <p:nvSpPr>
          <p:cNvPr id="29" name="TextBox 28"/>
          <p:cNvSpPr txBox="1"/>
          <p:nvPr/>
        </p:nvSpPr>
        <p:spPr>
          <a:xfrm>
            <a:off x="4297680" y="4526280"/>
            <a:ext cx="7315200" cy="594360"/>
          </a:xfrm>
          <a:prstGeom prst="rect">
            <a:avLst/>
          </a:prstGeom>
          <a:noFill/>
        </p:spPr>
        <p:txBody>
          <a:bodyPr wrap="square">
            <a:spAutoFit/>
          </a:bodyPr>
          <a:lstStyle/>
          <a:p>
            <a:pPr algn="l"/>
            <a:r>
              <a:rPr sz="950" b="0" i="0">
                <a:solidFill>
                  <a:srgbClr val="3A4270"/>
                </a:solidFill>
                <a:latin typeface="Calibri"/>
              </a:rPr>
              <a:t>Anthropic SDK sends messages + system prompt. Model: claude-opus-4-8. max_tokens: 1500. No streaming — waits for complete JSON before responding to browser.</a:t>
            </a:r>
          </a:p>
        </p:txBody>
      </p:sp>
      <p:sp>
        <p:nvSpPr>
          <p:cNvPr id="30" name="Rectangle 29"/>
          <p:cNvSpPr/>
          <p:nvPr/>
        </p:nvSpPr>
        <p:spPr>
          <a:xfrm>
            <a:off x="4114800" y="4581144"/>
            <a:ext cx="27432" cy="4572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1480" y="5212080"/>
            <a:ext cx="438912" cy="640080"/>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5303520"/>
            <a:ext cx="438912" cy="457200"/>
          </a:xfrm>
          <a:prstGeom prst="rect">
            <a:avLst/>
          </a:prstGeom>
          <a:noFill/>
        </p:spPr>
        <p:txBody>
          <a:bodyPr wrap="square">
            <a:spAutoFit/>
          </a:bodyPr>
          <a:lstStyle/>
          <a:p>
            <a:pPr algn="ctr"/>
            <a:r>
              <a:rPr sz="2000" b="1" i="0">
                <a:solidFill>
                  <a:srgbClr val="1B2143"/>
                </a:solidFill>
                <a:latin typeface="Calibri"/>
              </a:rPr>
              <a:t>6</a:t>
            </a:r>
          </a:p>
        </p:txBody>
      </p:sp>
      <p:sp>
        <p:nvSpPr>
          <p:cNvPr id="33" name="TextBox 32"/>
          <p:cNvSpPr txBox="1"/>
          <p:nvPr/>
        </p:nvSpPr>
        <p:spPr>
          <a:xfrm>
            <a:off x="960120" y="5248656"/>
            <a:ext cx="3200400" cy="347472"/>
          </a:xfrm>
          <a:prstGeom prst="rect">
            <a:avLst/>
          </a:prstGeom>
          <a:noFill/>
        </p:spPr>
        <p:txBody>
          <a:bodyPr wrap="square">
            <a:spAutoFit/>
          </a:bodyPr>
          <a:lstStyle/>
          <a:p>
            <a:pPr algn="l"/>
            <a:r>
              <a:rPr sz="1100" b="1" i="0">
                <a:solidFill>
                  <a:srgbClr val="1B2143"/>
                </a:solidFill>
                <a:latin typeface="Calibri"/>
              </a:rPr>
              <a:t>JSON parse + defensive cleaning</a:t>
            </a:r>
          </a:p>
        </p:txBody>
      </p:sp>
      <p:sp>
        <p:nvSpPr>
          <p:cNvPr id="34" name="TextBox 33"/>
          <p:cNvSpPr txBox="1"/>
          <p:nvPr/>
        </p:nvSpPr>
        <p:spPr>
          <a:xfrm>
            <a:off x="4297680" y="5248656"/>
            <a:ext cx="7315200" cy="594360"/>
          </a:xfrm>
          <a:prstGeom prst="rect">
            <a:avLst/>
          </a:prstGeom>
          <a:noFill/>
        </p:spPr>
        <p:txBody>
          <a:bodyPr wrap="square">
            <a:spAutoFit/>
          </a:bodyPr>
          <a:lstStyle/>
          <a:p>
            <a:pPr algn="l"/>
            <a:r>
              <a:rPr sz="950" b="0" i="0">
                <a:solidFill>
                  <a:srgbClr val="3A4270"/>
                </a:solidFill>
                <a:latin typeface="Calibri"/>
              </a:rPr>
              <a:t>Response text has code fences stripped (```json ... ``` → raw JSON). Primary: JSON.parse(). Fallback: regex extract first `{...}` block. If both fail, returns 500 with user-friendly error.</a:t>
            </a:r>
          </a:p>
        </p:txBody>
      </p:sp>
      <p:sp>
        <p:nvSpPr>
          <p:cNvPr id="35" name="Rectangle 34"/>
          <p:cNvSpPr/>
          <p:nvPr/>
        </p:nvSpPr>
        <p:spPr>
          <a:xfrm>
            <a:off x="4114800" y="5303520"/>
            <a:ext cx="27432" cy="4572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11480" y="5934456"/>
            <a:ext cx="438912" cy="640080"/>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6025896"/>
            <a:ext cx="438912" cy="457200"/>
          </a:xfrm>
          <a:prstGeom prst="rect">
            <a:avLst/>
          </a:prstGeom>
          <a:noFill/>
        </p:spPr>
        <p:txBody>
          <a:bodyPr wrap="square">
            <a:spAutoFit/>
          </a:bodyPr>
          <a:lstStyle/>
          <a:p>
            <a:pPr algn="ctr"/>
            <a:r>
              <a:rPr sz="2000" b="1" i="0">
                <a:solidFill>
                  <a:srgbClr val="1B2143"/>
                </a:solidFill>
                <a:latin typeface="Calibri"/>
              </a:rPr>
              <a:t>7</a:t>
            </a:r>
          </a:p>
        </p:txBody>
      </p:sp>
      <p:sp>
        <p:nvSpPr>
          <p:cNvPr id="38" name="TextBox 37"/>
          <p:cNvSpPr txBox="1"/>
          <p:nvPr/>
        </p:nvSpPr>
        <p:spPr>
          <a:xfrm>
            <a:off x="960120" y="5971032"/>
            <a:ext cx="3200400" cy="347472"/>
          </a:xfrm>
          <a:prstGeom prst="rect">
            <a:avLst/>
          </a:prstGeom>
          <a:noFill/>
        </p:spPr>
        <p:txBody>
          <a:bodyPr wrap="square">
            <a:spAutoFit/>
          </a:bodyPr>
          <a:lstStyle/>
          <a:p>
            <a:pPr algn="l"/>
            <a:r>
              <a:rPr sz="1100" b="1" i="0">
                <a:solidFill>
                  <a:srgbClr val="1B2143"/>
                </a:solidFill>
                <a:latin typeface="Calibri"/>
              </a:rPr>
              <a:t>Persist Kit + return</a:t>
            </a:r>
          </a:p>
        </p:txBody>
      </p:sp>
      <p:sp>
        <p:nvSpPr>
          <p:cNvPr id="39" name="TextBox 38"/>
          <p:cNvSpPr txBox="1"/>
          <p:nvPr/>
        </p:nvSpPr>
        <p:spPr>
          <a:xfrm>
            <a:off x="4297680" y="5971032"/>
            <a:ext cx="7315200" cy="594360"/>
          </a:xfrm>
          <a:prstGeom prst="rect">
            <a:avLst/>
          </a:prstGeom>
          <a:noFill/>
        </p:spPr>
        <p:txBody>
          <a:bodyPr wrap="square">
            <a:spAutoFit/>
          </a:bodyPr>
          <a:lstStyle/>
          <a:p>
            <a:pPr algn="l"/>
            <a:r>
              <a:rPr sz="950" b="0" i="0">
                <a:solidFill>
                  <a:srgbClr val="3A4270"/>
                </a:solidFill>
                <a:latin typeface="Calibri"/>
              </a:rPr>
              <a:t>If reply.type === 'kit', inserts kit_json (full typed Kit object) into kits table linked to session_id. Kit persist failure is non-fatal — logs error, still returns Kit to user. Always returns {reply, raw} to browser.</a:t>
            </a:r>
          </a:p>
        </p:txBody>
      </p:sp>
      <p:sp>
        <p:nvSpPr>
          <p:cNvPr id="40" name="Rectangle 39"/>
          <p:cNvSpPr/>
          <p:nvPr/>
        </p:nvSpPr>
        <p:spPr>
          <a:xfrm>
            <a:off x="4114800" y="6025896"/>
            <a:ext cx="27432" cy="457200"/>
          </a:xfrm>
          <a:prstGeom prst="rect">
            <a:avLst/>
          </a:prstGeom>
          <a:solidFill>
            <a:srgbClr val="E8D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6492240"/>
            <a:ext cx="11247120" cy="320040"/>
          </a:xfrm>
          <a:prstGeom prst="rect">
            <a:avLst/>
          </a:prstGeom>
          <a:noFill/>
        </p:spPr>
        <p:txBody>
          <a:bodyPr wrap="square">
            <a:spAutoFit/>
          </a:bodyPr>
          <a:lstStyle/>
          <a:p>
            <a:pPr algn="ctr"/>
            <a:r>
              <a:rPr sz="950" b="0" i="1">
                <a:solidFill>
                  <a:srgbClr val="C8506E"/>
                </a:solidFill>
                <a:latin typeface="Calibri"/>
              </a:rPr>
              <a:t>Each step has a reason. Each failure mode has a fallback. Nothing is fire-and-forget except DB writes (non-fatal by design).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2700000">
            <a:off x="11247120" y="5669280"/>
            <a:ext cx="822960" cy="82296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47472"/>
            <a:ext cx="10972800" cy="320040"/>
          </a:xfrm>
          <a:prstGeom prst="rect">
            <a:avLst/>
          </a:prstGeom>
          <a:noFill/>
        </p:spPr>
        <p:txBody>
          <a:bodyPr wrap="square">
            <a:spAutoFit/>
          </a:bodyPr>
          <a:lstStyle/>
          <a:p>
            <a:pPr algn="l"/>
            <a:r>
              <a:rPr sz="800" b="1" i="0">
                <a:solidFill>
                  <a:srgbClr val="D88B00"/>
                </a:solidFill>
                <a:latin typeface="Calibri"/>
              </a:rPr>
              <a:t>AI PIPELINE — WHY THIS IS NOT A CHATBOT WRAPPER</a:t>
            </a:r>
          </a:p>
        </p:txBody>
      </p:sp>
      <p:sp>
        <p:nvSpPr>
          <p:cNvPr id="5" name="TextBox 4"/>
          <p:cNvSpPr txBox="1"/>
          <p:nvPr/>
        </p:nvSpPr>
        <p:spPr>
          <a:xfrm>
            <a:off x="457200" y="713232"/>
            <a:ext cx="9144000" cy="594360"/>
          </a:xfrm>
          <a:prstGeom prst="rect">
            <a:avLst/>
          </a:prstGeom>
          <a:noFill/>
        </p:spPr>
        <p:txBody>
          <a:bodyPr wrap="square">
            <a:spAutoFit/>
          </a:bodyPr>
          <a:lstStyle/>
          <a:p>
            <a:pPr algn="l"/>
            <a:r>
              <a:rPr sz="2600" b="1" i="0">
                <a:solidFill>
                  <a:srgbClr val="FFFFFF"/>
                </a:solidFill>
                <a:latin typeface="Palatino Linotype"/>
              </a:rPr>
              <a:t>Five engineering layers on top of the model call.</a:t>
            </a:r>
          </a:p>
        </p:txBody>
      </p:sp>
      <p:sp>
        <p:nvSpPr>
          <p:cNvPr id="6" name="Rectangle 5"/>
          <p:cNvSpPr/>
          <p:nvPr/>
        </p:nvSpPr>
        <p:spPr>
          <a:xfrm>
            <a:off x="411480" y="1508760"/>
            <a:ext cx="54864" cy="841248"/>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63624"/>
            <a:ext cx="3657600" cy="384048"/>
          </a:xfrm>
          <a:prstGeom prst="rect">
            <a:avLst/>
          </a:prstGeom>
          <a:noFill/>
        </p:spPr>
        <p:txBody>
          <a:bodyPr wrap="square">
            <a:spAutoFit/>
          </a:bodyPr>
          <a:lstStyle/>
          <a:p>
            <a:pPr algn="l"/>
            <a:r>
              <a:rPr sz="1200" b="1" i="0">
                <a:solidFill>
                  <a:srgbClr val="F2A007"/>
                </a:solidFill>
                <a:latin typeface="Calibri"/>
              </a:rPr>
              <a:t>Structured Conversation Protocol</a:t>
            </a:r>
          </a:p>
        </p:txBody>
      </p:sp>
      <p:sp>
        <p:nvSpPr>
          <p:cNvPr id="8" name="TextBox 7"/>
          <p:cNvSpPr txBox="1"/>
          <p:nvPr/>
        </p:nvSpPr>
        <p:spPr>
          <a:xfrm>
            <a:off x="594360" y="1947672"/>
            <a:ext cx="6949440" cy="457200"/>
          </a:xfrm>
          <a:prstGeom prst="rect">
            <a:avLst/>
          </a:prstGeom>
          <a:noFill/>
        </p:spPr>
        <p:txBody>
          <a:bodyPr wrap="square">
            <a:spAutoFit/>
          </a:bodyPr>
          <a:lstStyle/>
          <a:p>
            <a:pPr algn="l"/>
            <a:r>
              <a:rPr sz="950" b="0" i="0">
                <a:solidFill>
                  <a:srgbClr val="C0C8FF"/>
                </a:solidFill>
                <a:latin typeface="Calibri"/>
              </a:rPr>
              <a:t>The model is not free-chatting. Each response returns a JSON object with a `type` field: 'question' (with a `stage` tag: life|motivation|skills|business|detail) or 'kit'. The UI transitions state based on type. This is a state machine, not a chatroom.</a:t>
            </a:r>
          </a:p>
        </p:txBody>
      </p:sp>
      <p:sp>
        <p:nvSpPr>
          <p:cNvPr id="9" name="Rectangle 8"/>
          <p:cNvSpPr/>
          <p:nvPr/>
        </p:nvSpPr>
        <p:spPr>
          <a:xfrm>
            <a:off x="7772400" y="1618488"/>
            <a:ext cx="4114800" cy="658368"/>
          </a:xfrm>
          <a:prstGeom prst="rect">
            <a:avLst/>
          </a:prstGeom>
          <a:solidFill>
            <a:srgbClr val="0A142E"/>
          </a:solidFill>
          <a:ln w="6350">
            <a:solidFill>
              <a:srgbClr val="F2A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7" y="1728216"/>
            <a:ext cx="3895344" cy="457200"/>
          </a:xfrm>
          <a:prstGeom prst="rect">
            <a:avLst/>
          </a:prstGeom>
          <a:noFill/>
        </p:spPr>
        <p:txBody>
          <a:bodyPr wrap="square">
            <a:spAutoFit/>
          </a:bodyPr>
          <a:lstStyle/>
          <a:p>
            <a:pPr algn="l"/>
            <a:r>
              <a:rPr sz="850" b="0" i="1">
                <a:solidFill>
                  <a:srgbClr val="F2A007"/>
                </a:solidFill>
                <a:latin typeface="Calibri"/>
              </a:rPr>
              <a:t>📎  Code: app/coach/page.tsx → sendMsg() → reply.type switch</a:t>
            </a:r>
          </a:p>
        </p:txBody>
      </p:sp>
      <p:sp>
        <p:nvSpPr>
          <p:cNvPr id="11" name="Rectangle 10"/>
          <p:cNvSpPr/>
          <p:nvPr/>
        </p:nvSpPr>
        <p:spPr>
          <a:xfrm>
            <a:off x="411480" y="2532888"/>
            <a:ext cx="54864" cy="841248"/>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87752"/>
            <a:ext cx="3657600" cy="384048"/>
          </a:xfrm>
          <a:prstGeom prst="rect">
            <a:avLst/>
          </a:prstGeom>
          <a:noFill/>
        </p:spPr>
        <p:txBody>
          <a:bodyPr wrap="square">
            <a:spAutoFit/>
          </a:bodyPr>
          <a:lstStyle/>
          <a:p>
            <a:pPr algn="l"/>
            <a:r>
              <a:rPr sz="1200" b="1" i="0">
                <a:solidFill>
                  <a:srgbClr val="0EA5E9"/>
                </a:solidFill>
                <a:latin typeface="Calibri"/>
              </a:rPr>
              <a:t>Anti-Hallucination Scheme Grounding</a:t>
            </a:r>
          </a:p>
        </p:txBody>
      </p:sp>
      <p:sp>
        <p:nvSpPr>
          <p:cNvPr id="13" name="TextBox 12"/>
          <p:cNvSpPr txBox="1"/>
          <p:nvPr/>
        </p:nvSpPr>
        <p:spPr>
          <a:xfrm>
            <a:off x="594360" y="2971800"/>
            <a:ext cx="6949440" cy="457200"/>
          </a:xfrm>
          <a:prstGeom prst="rect">
            <a:avLst/>
          </a:prstGeom>
          <a:noFill/>
        </p:spPr>
        <p:txBody>
          <a:bodyPr wrap="square">
            <a:spAutoFit/>
          </a:bodyPr>
          <a:lstStyle/>
          <a:p>
            <a:pPr algn="l"/>
            <a:r>
              <a:rPr sz="950" b="0" i="0">
                <a:solidFill>
                  <a:srgbClr val="C0C8FF"/>
                </a:solidFill>
                <a:latin typeface="Calibri"/>
              </a:rPr>
              <a:t>schemes.json is the ONLY source of scheme data. buildSystemPrompt() injects it as plain text at runtime with the instruction: 'Use ONLY these schemes, never invent others.' Claude has no way to use a scheme that isn't in the file. This is structural, not instructional.</a:t>
            </a:r>
          </a:p>
        </p:txBody>
      </p:sp>
      <p:sp>
        <p:nvSpPr>
          <p:cNvPr id="14" name="Rectangle 13"/>
          <p:cNvSpPr/>
          <p:nvPr/>
        </p:nvSpPr>
        <p:spPr>
          <a:xfrm>
            <a:off x="7772400" y="2642616"/>
            <a:ext cx="4114800" cy="658368"/>
          </a:xfrm>
          <a:prstGeom prst="rect">
            <a:avLst/>
          </a:prstGeom>
          <a:solidFill>
            <a:srgbClr val="0A142E"/>
          </a:solidFill>
          <a:ln w="63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82127" y="2752344"/>
            <a:ext cx="3895344" cy="457200"/>
          </a:xfrm>
          <a:prstGeom prst="rect">
            <a:avLst/>
          </a:prstGeom>
          <a:noFill/>
        </p:spPr>
        <p:txBody>
          <a:bodyPr wrap="square">
            <a:spAutoFit/>
          </a:bodyPr>
          <a:lstStyle/>
          <a:p>
            <a:pPr algn="l"/>
            <a:r>
              <a:rPr sz="850" b="0" i="1">
                <a:solidFill>
                  <a:srgbClr val="0EA5E9"/>
                </a:solidFill>
                <a:latin typeface="Calibri"/>
              </a:rPr>
              <a:t>📎  Code: lib/prompt.ts → buildSystemPrompt() · data/schemes.json</a:t>
            </a:r>
          </a:p>
        </p:txBody>
      </p:sp>
      <p:sp>
        <p:nvSpPr>
          <p:cNvPr id="16" name="Rectangle 15"/>
          <p:cNvSpPr/>
          <p:nvPr/>
        </p:nvSpPr>
        <p:spPr>
          <a:xfrm>
            <a:off x="411480" y="3557016"/>
            <a:ext cx="54864" cy="841248"/>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611880"/>
            <a:ext cx="3657600" cy="384048"/>
          </a:xfrm>
          <a:prstGeom prst="rect">
            <a:avLst/>
          </a:prstGeom>
          <a:noFill/>
        </p:spPr>
        <p:txBody>
          <a:bodyPr wrap="square">
            <a:spAutoFit/>
          </a:bodyPr>
          <a:lstStyle/>
          <a:p>
            <a:pPr algn="l"/>
            <a:r>
              <a:rPr sz="1200" b="1" i="0">
                <a:solidFill>
                  <a:srgbClr val="C8506E"/>
                </a:solidFill>
                <a:latin typeface="Calibri"/>
              </a:rPr>
              <a:t>Labour-As-Cost Pricing Constraint</a:t>
            </a:r>
          </a:p>
        </p:txBody>
      </p:sp>
      <p:sp>
        <p:nvSpPr>
          <p:cNvPr id="18" name="TextBox 17"/>
          <p:cNvSpPr txBox="1"/>
          <p:nvPr/>
        </p:nvSpPr>
        <p:spPr>
          <a:xfrm>
            <a:off x="594360" y="3995928"/>
            <a:ext cx="6949440" cy="457200"/>
          </a:xfrm>
          <a:prstGeom prst="rect">
            <a:avLst/>
          </a:prstGeom>
          <a:noFill/>
        </p:spPr>
        <p:txBody>
          <a:bodyPr wrap="square">
            <a:spAutoFit/>
          </a:bodyPr>
          <a:lstStyle/>
          <a:p>
            <a:pPr algn="l"/>
            <a:r>
              <a:rPr sz="950" b="0" i="0">
                <a:solidFill>
                  <a:srgbClr val="C0C8FF"/>
                </a:solidFill>
                <a:latin typeface="Calibri"/>
              </a:rPr>
              <a:t>A hard rule enforced in every prompt call: 'Always count her own labour as a cost when pricing. Women underprice because they don't value their time — you must.' This is an economic intervention, not a feature. It runs on every Kit generation, with no opt-out.</a:t>
            </a:r>
          </a:p>
        </p:txBody>
      </p:sp>
      <p:sp>
        <p:nvSpPr>
          <p:cNvPr id="19" name="Rectangle 18"/>
          <p:cNvSpPr/>
          <p:nvPr/>
        </p:nvSpPr>
        <p:spPr>
          <a:xfrm>
            <a:off x="7772400" y="3666744"/>
            <a:ext cx="4114800" cy="658368"/>
          </a:xfrm>
          <a:prstGeom prst="rect">
            <a:avLst/>
          </a:prstGeom>
          <a:solidFill>
            <a:srgbClr val="0A142E"/>
          </a:solidFill>
          <a:ln w="6350">
            <a:solidFill>
              <a:srgbClr val="C850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82127" y="3776472"/>
            <a:ext cx="3895344" cy="457200"/>
          </a:xfrm>
          <a:prstGeom prst="rect">
            <a:avLst/>
          </a:prstGeom>
          <a:noFill/>
        </p:spPr>
        <p:txBody>
          <a:bodyPr wrap="square">
            <a:spAutoFit/>
          </a:bodyPr>
          <a:lstStyle/>
          <a:p>
            <a:pPr algn="l"/>
            <a:r>
              <a:rPr sz="850" b="0" i="1">
                <a:solidFill>
                  <a:srgbClr val="C8506E"/>
                </a:solidFill>
                <a:latin typeface="Calibri"/>
              </a:rPr>
              <a:t>📎  Code: lib/prompt.ts → system prompt, line 18</a:t>
            </a:r>
          </a:p>
        </p:txBody>
      </p:sp>
      <p:sp>
        <p:nvSpPr>
          <p:cNvPr id="21" name="Rectangle 20"/>
          <p:cNvSpPr/>
          <p:nvPr/>
        </p:nvSpPr>
        <p:spPr>
          <a:xfrm>
            <a:off x="411480" y="4581144"/>
            <a:ext cx="54864" cy="841248"/>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636008"/>
            <a:ext cx="3657600" cy="384048"/>
          </a:xfrm>
          <a:prstGeom prst="rect">
            <a:avLst/>
          </a:prstGeom>
          <a:noFill/>
        </p:spPr>
        <p:txBody>
          <a:bodyPr wrap="square">
            <a:spAutoFit/>
          </a:bodyPr>
          <a:lstStyle/>
          <a:p>
            <a:pPr algn="l"/>
            <a:r>
              <a:rPr sz="1200" b="1" i="0">
                <a:solidFill>
                  <a:srgbClr val="2E7D5B"/>
                </a:solidFill>
                <a:latin typeface="Calibri"/>
              </a:rPr>
              <a:t>Structured JSON Output (typed Kit)</a:t>
            </a:r>
          </a:p>
        </p:txBody>
      </p:sp>
      <p:sp>
        <p:nvSpPr>
          <p:cNvPr id="23" name="TextBox 22"/>
          <p:cNvSpPr txBox="1"/>
          <p:nvPr/>
        </p:nvSpPr>
        <p:spPr>
          <a:xfrm>
            <a:off x="594360" y="5020056"/>
            <a:ext cx="6949440" cy="457200"/>
          </a:xfrm>
          <a:prstGeom prst="rect">
            <a:avLst/>
          </a:prstGeom>
          <a:noFill/>
        </p:spPr>
        <p:txBody>
          <a:bodyPr wrap="square">
            <a:spAutoFit/>
          </a:bodyPr>
          <a:lstStyle/>
          <a:p>
            <a:pPr algn="l"/>
            <a:r>
              <a:rPr sz="950" b="0" i="0">
                <a:solidFill>
                  <a:srgbClr val="C0C8FF"/>
                </a:solidFill>
                <a:latin typeface="Calibri"/>
              </a:rPr>
              <a:t>The model is instructed to return ONLY valid JSON matching the Kit schema (15+ fields, bilingual _en/_hi variants). The response is parsed, JSON.parsed, and typed as Kit. If it fails parsing, there's a regex fallback. If that fails, a 500 error — never a raw string.</a:t>
            </a:r>
          </a:p>
        </p:txBody>
      </p:sp>
      <p:sp>
        <p:nvSpPr>
          <p:cNvPr id="24" name="Rectangle 23"/>
          <p:cNvSpPr/>
          <p:nvPr/>
        </p:nvSpPr>
        <p:spPr>
          <a:xfrm>
            <a:off x="7772400" y="4690872"/>
            <a:ext cx="4114800" cy="658368"/>
          </a:xfrm>
          <a:prstGeom prst="rect">
            <a:avLst/>
          </a:prstGeom>
          <a:solidFill>
            <a:srgbClr val="0A142E"/>
          </a:solidFill>
          <a:ln w="6350">
            <a:solidFill>
              <a:srgbClr val="2E7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82127" y="4800600"/>
            <a:ext cx="3895344" cy="457200"/>
          </a:xfrm>
          <a:prstGeom prst="rect">
            <a:avLst/>
          </a:prstGeom>
          <a:noFill/>
        </p:spPr>
        <p:txBody>
          <a:bodyPr wrap="square">
            <a:spAutoFit/>
          </a:bodyPr>
          <a:lstStyle/>
          <a:p>
            <a:pPr algn="l"/>
            <a:r>
              <a:rPr sz="850" b="0" i="1">
                <a:solidFill>
                  <a:srgbClr val="2E7D5B"/>
                </a:solidFill>
                <a:latin typeface="Calibri"/>
              </a:rPr>
              <a:t>📎  Code: app/api/coach/route.ts → steps 4–5 · lib/types.ts → Kit type</a:t>
            </a:r>
          </a:p>
        </p:txBody>
      </p:sp>
      <p:sp>
        <p:nvSpPr>
          <p:cNvPr id="26" name="Rectangle 25"/>
          <p:cNvSpPr/>
          <p:nvPr/>
        </p:nvSpPr>
        <p:spPr>
          <a:xfrm>
            <a:off x="411480" y="5605272"/>
            <a:ext cx="54864" cy="8412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660136"/>
            <a:ext cx="3657600" cy="384048"/>
          </a:xfrm>
          <a:prstGeom prst="rect">
            <a:avLst/>
          </a:prstGeom>
          <a:noFill/>
        </p:spPr>
        <p:txBody>
          <a:bodyPr wrap="square">
            <a:spAutoFit/>
          </a:bodyPr>
          <a:lstStyle/>
          <a:p>
            <a:pPr algn="l"/>
            <a:r>
              <a:rPr sz="1200" b="1" i="0">
                <a:solidFill>
                  <a:srgbClr val="6366F1"/>
                </a:solidFill>
                <a:latin typeface="Calibri"/>
              </a:rPr>
              <a:t>Multilingual Auto-Detection + TTS</a:t>
            </a:r>
          </a:p>
        </p:txBody>
      </p:sp>
      <p:sp>
        <p:nvSpPr>
          <p:cNvPr id="28" name="TextBox 27"/>
          <p:cNvSpPr txBox="1"/>
          <p:nvPr/>
        </p:nvSpPr>
        <p:spPr>
          <a:xfrm>
            <a:off x="594360" y="6044184"/>
            <a:ext cx="6949440" cy="457200"/>
          </a:xfrm>
          <a:prstGeom prst="rect">
            <a:avLst/>
          </a:prstGeom>
          <a:noFill/>
        </p:spPr>
        <p:txBody>
          <a:bodyPr wrap="square">
            <a:spAutoFit/>
          </a:bodyPr>
          <a:lstStyle/>
          <a:p>
            <a:pPr algn="l"/>
            <a:r>
              <a:rPr sz="950" b="0" i="0">
                <a:solidFill>
                  <a:srgbClr val="C0C8FF"/>
                </a:solidFill>
                <a:latin typeface="Calibri"/>
              </a:rPr>
              <a:t>User input is scanned for Unicode ranges: Devanagari (hi), Tamil (ta), Telugu (te), Kannada (kn), Bengali (bn). Detected language code is passed to SpeechSynthesisUtterance. No external TTS API, no cost, no latency. The browser speaks the response.</a:t>
            </a:r>
          </a:p>
        </p:txBody>
      </p:sp>
      <p:sp>
        <p:nvSpPr>
          <p:cNvPr id="29" name="Rectangle 28"/>
          <p:cNvSpPr/>
          <p:nvPr/>
        </p:nvSpPr>
        <p:spPr>
          <a:xfrm>
            <a:off x="7772400" y="5715000"/>
            <a:ext cx="4114800" cy="658368"/>
          </a:xfrm>
          <a:prstGeom prst="rect">
            <a:avLst/>
          </a:prstGeom>
          <a:solidFill>
            <a:srgbClr val="0A142E"/>
          </a:solidFill>
          <a:ln w="63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82127" y="5824728"/>
            <a:ext cx="3895344" cy="457200"/>
          </a:xfrm>
          <a:prstGeom prst="rect">
            <a:avLst/>
          </a:prstGeom>
          <a:noFill/>
        </p:spPr>
        <p:txBody>
          <a:bodyPr wrap="square">
            <a:spAutoFit/>
          </a:bodyPr>
          <a:lstStyle/>
          <a:p>
            <a:pPr algn="l"/>
            <a:r>
              <a:rPr sz="850" b="0" i="1">
                <a:solidFill>
                  <a:srgbClr val="6366F1"/>
                </a:solidFill>
                <a:latin typeface="Calibri"/>
              </a:rPr>
              <a:t>📎  Code: app/coach/page.tsx → detectLangCode() · speak()</a:t>
            </a:r>
          </a:p>
        </p:txBody>
      </p:sp>
      <p:sp>
        <p:nvSpPr>
          <p:cNvPr id="31" name="TextBox 30"/>
          <p:cNvSpPr txBox="1"/>
          <p:nvPr/>
        </p:nvSpPr>
        <p:spPr>
          <a:xfrm>
            <a:off x="457200" y="6510528"/>
            <a:ext cx="11247120" cy="320040"/>
          </a:xfrm>
          <a:prstGeom prst="rect">
            <a:avLst/>
          </a:prstGeom>
          <a:noFill/>
        </p:spPr>
        <p:txBody>
          <a:bodyPr wrap="square">
            <a:spAutoFit/>
          </a:bodyPr>
          <a:lstStyle/>
          <a:p>
            <a:pPr algn="ctr"/>
            <a:r>
              <a:rPr sz="1000" b="0" i="1">
                <a:solidFill>
                  <a:srgbClr val="F2A007"/>
                </a:solidFill>
                <a:latin typeface="Calibri"/>
              </a:rPr>
              <a:t>A 'chatbot wrapper' returns a string. Udaan returns a type-safe, validated, renderable data structure.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0972800" cy="320040"/>
          </a:xfrm>
          <a:prstGeom prst="rect">
            <a:avLst/>
          </a:prstGeom>
          <a:noFill/>
        </p:spPr>
        <p:txBody>
          <a:bodyPr wrap="square">
            <a:spAutoFit/>
          </a:bodyPr>
          <a:lstStyle/>
          <a:p>
            <a:pPr algn="l"/>
            <a:r>
              <a:rPr sz="800" b="1" i="0">
                <a:solidFill>
                  <a:srgbClr val="D88B00"/>
                </a:solidFill>
                <a:latin typeface="Calibri"/>
              </a:rPr>
              <a:t>ANTI-HALLUCINATION LAYER — SCHEMES GROUNDING DEEP DIVE</a:t>
            </a:r>
          </a:p>
        </p:txBody>
      </p:sp>
      <p:sp>
        <p:nvSpPr>
          <p:cNvPr id="5" name="TextBox 4"/>
          <p:cNvSpPr txBox="1"/>
          <p:nvPr/>
        </p:nvSpPr>
        <p:spPr>
          <a:xfrm>
            <a:off x="457200" y="749808"/>
            <a:ext cx="10972800" cy="658368"/>
          </a:xfrm>
          <a:prstGeom prst="rect">
            <a:avLst/>
          </a:prstGeom>
          <a:noFill/>
        </p:spPr>
        <p:txBody>
          <a:bodyPr wrap="square">
            <a:spAutoFit/>
          </a:bodyPr>
          <a:lstStyle/>
          <a:p>
            <a:pPr algn="l"/>
            <a:r>
              <a:rPr sz="2600" b="1" i="0">
                <a:solidFill>
                  <a:srgbClr val="1B2143"/>
                </a:solidFill>
                <a:latin typeface="Palatino Linotype"/>
              </a:rPr>
              <a:t>The model cannot invent a scheme that doesn't exist in our code.</a:t>
            </a:r>
          </a:p>
        </p:txBody>
      </p:sp>
      <p:sp>
        <p:nvSpPr>
          <p:cNvPr id="6" name="Rectangle 5"/>
          <p:cNvSpPr/>
          <p:nvPr/>
        </p:nvSpPr>
        <p:spPr>
          <a:xfrm>
            <a:off x="411480" y="1600200"/>
            <a:ext cx="5303520" cy="804672"/>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600200"/>
            <a:ext cx="54864" cy="804672"/>
          </a:xfrm>
          <a:prstGeom prst="rect">
            <a:avLst/>
          </a:prstGeom>
          <a:solidFill>
            <a:srgbClr val="D88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3352"/>
            <a:ext cx="2743200" cy="320040"/>
          </a:xfrm>
          <a:prstGeom prst="rect">
            <a:avLst/>
          </a:prstGeom>
          <a:noFill/>
        </p:spPr>
        <p:txBody>
          <a:bodyPr wrap="square">
            <a:spAutoFit/>
          </a:bodyPr>
          <a:lstStyle/>
          <a:p>
            <a:pPr algn="l"/>
            <a:r>
              <a:rPr sz="1100" b="1" i="0">
                <a:solidFill>
                  <a:srgbClr val="D88B00"/>
                </a:solidFill>
                <a:latin typeface="Calibri"/>
              </a:rPr>
              <a:t>schemes.json</a:t>
            </a:r>
          </a:p>
        </p:txBody>
      </p:sp>
      <p:sp>
        <p:nvSpPr>
          <p:cNvPr id="9" name="TextBox 8"/>
          <p:cNvSpPr txBox="1"/>
          <p:nvPr/>
        </p:nvSpPr>
        <p:spPr>
          <a:xfrm>
            <a:off x="594360" y="2020824"/>
            <a:ext cx="4663440" cy="320040"/>
          </a:xfrm>
          <a:prstGeom prst="rect">
            <a:avLst/>
          </a:prstGeom>
          <a:noFill/>
        </p:spPr>
        <p:txBody>
          <a:bodyPr wrap="square">
            <a:spAutoFit/>
          </a:bodyPr>
          <a:lstStyle/>
          <a:p>
            <a:pPr algn="l"/>
            <a:r>
              <a:rPr sz="900" b="0" i="0">
                <a:solidFill>
                  <a:srgbClr val="3A4270"/>
                </a:solidFill>
                <a:latin typeface="Calibri"/>
              </a:rPr>
              <a:t>4 verified government schemes. Each entry has:
id · name · what_en/hi · fits[] · step_en/hi · official_url · last_verified</a:t>
            </a:r>
          </a:p>
        </p:txBody>
      </p:sp>
      <p:sp>
        <p:nvSpPr>
          <p:cNvPr id="10" name="TextBox 9"/>
          <p:cNvSpPr txBox="1"/>
          <p:nvPr/>
        </p:nvSpPr>
        <p:spPr>
          <a:xfrm>
            <a:off x="2560320" y="2441448"/>
            <a:ext cx="457200" cy="109728"/>
          </a:xfrm>
          <a:prstGeom prst="rect">
            <a:avLst/>
          </a:prstGeom>
          <a:noFill/>
        </p:spPr>
        <p:txBody>
          <a:bodyPr wrap="square">
            <a:spAutoFit/>
          </a:bodyPr>
          <a:lstStyle/>
          <a:p>
            <a:pPr algn="ctr"/>
            <a:r>
              <a:rPr sz="1000" b="0" i="0">
                <a:solidFill>
                  <a:srgbClr val="8088AA"/>
                </a:solidFill>
                <a:latin typeface="Calibri"/>
              </a:rPr>
              <a:t>↓</a:t>
            </a:r>
          </a:p>
        </p:txBody>
      </p:sp>
      <p:sp>
        <p:nvSpPr>
          <p:cNvPr id="11" name="Rectangle 10"/>
          <p:cNvSpPr/>
          <p:nvPr/>
        </p:nvSpPr>
        <p:spPr>
          <a:xfrm>
            <a:off x="411480" y="2532888"/>
            <a:ext cx="5303520" cy="804672"/>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32888"/>
            <a:ext cx="54864" cy="804672"/>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606040"/>
            <a:ext cx="2743200" cy="320040"/>
          </a:xfrm>
          <a:prstGeom prst="rect">
            <a:avLst/>
          </a:prstGeom>
          <a:noFill/>
        </p:spPr>
        <p:txBody>
          <a:bodyPr wrap="square">
            <a:spAutoFit/>
          </a:bodyPr>
          <a:lstStyle/>
          <a:p>
            <a:pPr algn="l"/>
            <a:r>
              <a:rPr sz="1100" b="1" i="0">
                <a:solidFill>
                  <a:srgbClr val="1B2143"/>
                </a:solidFill>
                <a:latin typeface="Calibri"/>
              </a:rPr>
              <a:t>buildSystemPrompt()</a:t>
            </a:r>
          </a:p>
        </p:txBody>
      </p:sp>
      <p:sp>
        <p:nvSpPr>
          <p:cNvPr id="14" name="TextBox 13"/>
          <p:cNvSpPr txBox="1"/>
          <p:nvPr/>
        </p:nvSpPr>
        <p:spPr>
          <a:xfrm>
            <a:off x="594360" y="2953512"/>
            <a:ext cx="4663440" cy="320040"/>
          </a:xfrm>
          <a:prstGeom prst="rect">
            <a:avLst/>
          </a:prstGeom>
          <a:noFill/>
        </p:spPr>
        <p:txBody>
          <a:bodyPr wrap="square">
            <a:spAutoFit/>
          </a:bodyPr>
          <a:lstStyle/>
          <a:p>
            <a:pPr algn="l"/>
            <a:r>
              <a:rPr sz="900" b="0" i="0">
                <a:solidFill>
                  <a:srgbClr val="3A4270"/>
                </a:solidFill>
                <a:latin typeface="Calibri"/>
              </a:rPr>
              <a:t>At every API call, iterates schemes and formats them as
plain text: name | what | Hindi | first step | fits | URL</a:t>
            </a:r>
          </a:p>
        </p:txBody>
      </p:sp>
      <p:sp>
        <p:nvSpPr>
          <p:cNvPr id="15" name="TextBox 14"/>
          <p:cNvSpPr txBox="1"/>
          <p:nvPr/>
        </p:nvSpPr>
        <p:spPr>
          <a:xfrm>
            <a:off x="2560320" y="3374136"/>
            <a:ext cx="457200" cy="109728"/>
          </a:xfrm>
          <a:prstGeom prst="rect">
            <a:avLst/>
          </a:prstGeom>
          <a:noFill/>
        </p:spPr>
        <p:txBody>
          <a:bodyPr wrap="square">
            <a:spAutoFit/>
          </a:bodyPr>
          <a:lstStyle/>
          <a:p>
            <a:pPr algn="ctr"/>
            <a:r>
              <a:rPr sz="1000" b="0" i="0">
                <a:solidFill>
                  <a:srgbClr val="8088AA"/>
                </a:solidFill>
                <a:latin typeface="Calibri"/>
              </a:rPr>
              <a:t>↓</a:t>
            </a:r>
          </a:p>
        </p:txBody>
      </p:sp>
      <p:sp>
        <p:nvSpPr>
          <p:cNvPr id="16" name="Rectangle 15"/>
          <p:cNvSpPr/>
          <p:nvPr/>
        </p:nvSpPr>
        <p:spPr>
          <a:xfrm>
            <a:off x="411480" y="3465576"/>
            <a:ext cx="5303520" cy="804672"/>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465576"/>
            <a:ext cx="54864" cy="80467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538728"/>
            <a:ext cx="2743200" cy="320040"/>
          </a:xfrm>
          <a:prstGeom prst="rect">
            <a:avLst/>
          </a:prstGeom>
          <a:noFill/>
        </p:spPr>
        <p:txBody>
          <a:bodyPr wrap="square">
            <a:spAutoFit/>
          </a:bodyPr>
          <a:lstStyle/>
          <a:p>
            <a:pPr algn="l"/>
            <a:r>
              <a:rPr sz="1100" b="1" i="0">
                <a:solidFill>
                  <a:srgbClr val="6366F1"/>
                </a:solidFill>
                <a:latin typeface="Calibri"/>
              </a:rPr>
              <a:t>System Prompt</a:t>
            </a:r>
          </a:p>
        </p:txBody>
      </p:sp>
      <p:sp>
        <p:nvSpPr>
          <p:cNvPr id="19" name="TextBox 18"/>
          <p:cNvSpPr txBox="1"/>
          <p:nvPr/>
        </p:nvSpPr>
        <p:spPr>
          <a:xfrm>
            <a:off x="594360" y="3886200"/>
            <a:ext cx="4663440" cy="320040"/>
          </a:xfrm>
          <a:prstGeom prst="rect">
            <a:avLst/>
          </a:prstGeom>
          <a:noFill/>
        </p:spPr>
        <p:txBody>
          <a:bodyPr wrap="square">
            <a:spAutoFit/>
          </a:bodyPr>
          <a:lstStyle/>
          <a:p>
            <a:pPr algn="l"/>
            <a:r>
              <a:rPr sz="900" b="0" i="0">
                <a:solidFill>
                  <a:srgbClr val="3A4270"/>
                </a:solidFill>
                <a:latin typeface="Calibri"/>
              </a:rPr>
              <a:t>Injected text: 'VERIFIED GOVERNMENT SCHEMES — use ONLY these,
never invent others.' Hard constraint, not a suggestion.</a:t>
            </a:r>
          </a:p>
        </p:txBody>
      </p:sp>
      <p:sp>
        <p:nvSpPr>
          <p:cNvPr id="20" name="TextBox 19"/>
          <p:cNvSpPr txBox="1"/>
          <p:nvPr/>
        </p:nvSpPr>
        <p:spPr>
          <a:xfrm>
            <a:off x="2560320" y="4306824"/>
            <a:ext cx="457200" cy="109728"/>
          </a:xfrm>
          <a:prstGeom prst="rect">
            <a:avLst/>
          </a:prstGeom>
          <a:noFill/>
        </p:spPr>
        <p:txBody>
          <a:bodyPr wrap="square">
            <a:spAutoFit/>
          </a:bodyPr>
          <a:lstStyle/>
          <a:p>
            <a:pPr algn="ctr"/>
            <a:r>
              <a:rPr sz="1000" b="0" i="0">
                <a:solidFill>
                  <a:srgbClr val="8088AA"/>
                </a:solidFill>
                <a:latin typeface="Calibri"/>
              </a:rPr>
              <a:t>↓</a:t>
            </a:r>
          </a:p>
        </p:txBody>
      </p:sp>
      <p:sp>
        <p:nvSpPr>
          <p:cNvPr id="21" name="Rectangle 20"/>
          <p:cNvSpPr/>
          <p:nvPr/>
        </p:nvSpPr>
        <p:spPr>
          <a:xfrm>
            <a:off x="411480" y="4398264"/>
            <a:ext cx="5303520" cy="804672"/>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4398264"/>
            <a:ext cx="54864" cy="804672"/>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471416"/>
            <a:ext cx="2743200" cy="320040"/>
          </a:xfrm>
          <a:prstGeom prst="rect">
            <a:avLst/>
          </a:prstGeom>
          <a:noFill/>
        </p:spPr>
        <p:txBody>
          <a:bodyPr wrap="square">
            <a:spAutoFit/>
          </a:bodyPr>
          <a:lstStyle/>
          <a:p>
            <a:pPr algn="l"/>
            <a:r>
              <a:rPr sz="1100" b="1" i="0">
                <a:solidFill>
                  <a:srgbClr val="C8506E"/>
                </a:solidFill>
                <a:latin typeface="Calibri"/>
              </a:rPr>
              <a:t>Claude Response</a:t>
            </a:r>
          </a:p>
        </p:txBody>
      </p:sp>
      <p:sp>
        <p:nvSpPr>
          <p:cNvPr id="24" name="TextBox 23"/>
          <p:cNvSpPr txBox="1"/>
          <p:nvPr/>
        </p:nvSpPr>
        <p:spPr>
          <a:xfrm>
            <a:off x="594360" y="4818888"/>
            <a:ext cx="4663440" cy="320040"/>
          </a:xfrm>
          <a:prstGeom prst="rect">
            <a:avLst/>
          </a:prstGeom>
          <a:noFill/>
        </p:spPr>
        <p:txBody>
          <a:bodyPr wrap="square">
            <a:spAutoFit/>
          </a:bodyPr>
          <a:lstStyle/>
          <a:p>
            <a:pPr algn="l"/>
            <a:r>
              <a:rPr sz="900" b="0" i="0">
                <a:solidFill>
                  <a:srgbClr val="3A4270"/>
                </a:solidFill>
                <a:latin typeface="Calibri"/>
              </a:rPr>
              <a:t>Model selects 2–3 schemes from the injected list that genuinely
fit the user's profile. Cannot cite anything outside the list.</a:t>
            </a:r>
          </a:p>
        </p:txBody>
      </p:sp>
      <p:sp>
        <p:nvSpPr>
          <p:cNvPr id="25" name="TextBox 24"/>
          <p:cNvSpPr txBox="1"/>
          <p:nvPr/>
        </p:nvSpPr>
        <p:spPr>
          <a:xfrm>
            <a:off x="2560320" y="5239512"/>
            <a:ext cx="457200" cy="109728"/>
          </a:xfrm>
          <a:prstGeom prst="rect">
            <a:avLst/>
          </a:prstGeom>
          <a:noFill/>
        </p:spPr>
        <p:txBody>
          <a:bodyPr wrap="square">
            <a:spAutoFit/>
          </a:bodyPr>
          <a:lstStyle/>
          <a:p>
            <a:pPr algn="ctr"/>
            <a:r>
              <a:rPr sz="1000" b="0" i="0">
                <a:solidFill>
                  <a:srgbClr val="8088AA"/>
                </a:solidFill>
                <a:latin typeface="Calibri"/>
              </a:rPr>
              <a:t>↓</a:t>
            </a:r>
          </a:p>
        </p:txBody>
      </p:sp>
      <p:sp>
        <p:nvSpPr>
          <p:cNvPr id="26" name="Rectangle 25"/>
          <p:cNvSpPr/>
          <p:nvPr/>
        </p:nvSpPr>
        <p:spPr>
          <a:xfrm>
            <a:off x="411480" y="5330952"/>
            <a:ext cx="5303520" cy="804672"/>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5330952"/>
            <a:ext cx="54864" cy="804672"/>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404104"/>
            <a:ext cx="2743200" cy="320040"/>
          </a:xfrm>
          <a:prstGeom prst="rect">
            <a:avLst/>
          </a:prstGeom>
          <a:noFill/>
        </p:spPr>
        <p:txBody>
          <a:bodyPr wrap="square">
            <a:spAutoFit/>
          </a:bodyPr>
          <a:lstStyle/>
          <a:p>
            <a:pPr algn="l"/>
            <a:r>
              <a:rPr sz="1100" b="1" i="0">
                <a:solidFill>
                  <a:srgbClr val="2E7D5B"/>
                </a:solidFill>
                <a:latin typeface="Calibri"/>
              </a:rPr>
              <a:t>Kit.schemes[]</a:t>
            </a:r>
          </a:p>
        </p:txBody>
      </p:sp>
      <p:sp>
        <p:nvSpPr>
          <p:cNvPr id="29" name="TextBox 28"/>
          <p:cNvSpPr txBox="1"/>
          <p:nvPr/>
        </p:nvSpPr>
        <p:spPr>
          <a:xfrm>
            <a:off x="594360" y="5751576"/>
            <a:ext cx="4663440" cy="320040"/>
          </a:xfrm>
          <a:prstGeom prst="rect">
            <a:avLst/>
          </a:prstGeom>
          <a:noFill/>
        </p:spPr>
        <p:txBody>
          <a:bodyPr wrap="square">
            <a:spAutoFit/>
          </a:bodyPr>
          <a:lstStyle/>
          <a:p>
            <a:pPr algn="l"/>
            <a:r>
              <a:rPr sz="900" b="0" i="0">
                <a:solidFill>
                  <a:srgbClr val="3A4270"/>
                </a:solidFill>
                <a:latin typeface="Calibri"/>
              </a:rPr>
              <a:t>Typed array of scheme objects rendered in the UI with
name, explanation, and first concrete step.</a:t>
            </a:r>
          </a:p>
        </p:txBody>
      </p:sp>
      <p:sp>
        <p:nvSpPr>
          <p:cNvPr id="30" name="Rectangle 29"/>
          <p:cNvSpPr/>
          <p:nvPr/>
        </p:nvSpPr>
        <p:spPr>
          <a:xfrm>
            <a:off x="6400800" y="1536192"/>
            <a:ext cx="5394960" cy="5029200"/>
          </a:xfrm>
          <a:prstGeom prst="rect">
            <a:avLst/>
          </a:prstGeom>
          <a:solidFill>
            <a:srgbClr val="F6EFE2"/>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1591056"/>
            <a:ext cx="5120640" cy="347472"/>
          </a:xfrm>
          <a:prstGeom prst="rect">
            <a:avLst/>
          </a:prstGeom>
          <a:noFill/>
        </p:spPr>
        <p:txBody>
          <a:bodyPr wrap="square">
            <a:spAutoFit/>
          </a:bodyPr>
          <a:lstStyle/>
          <a:p>
            <a:pPr algn="l"/>
            <a:r>
              <a:rPr sz="1000" b="1" i="0">
                <a:solidFill>
                  <a:srgbClr val="D88B00"/>
                </a:solidFill>
                <a:latin typeface="Calibri"/>
              </a:rPr>
              <a:t>What's actually in schemes.json</a:t>
            </a:r>
          </a:p>
        </p:txBody>
      </p:sp>
      <p:sp>
        <p:nvSpPr>
          <p:cNvPr id="32" name="Rectangle 31"/>
          <p:cNvSpPr/>
          <p:nvPr/>
        </p:nvSpPr>
        <p:spPr>
          <a:xfrm>
            <a:off x="6537960" y="2029968"/>
            <a:ext cx="5120640" cy="987552"/>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56832" y="2103120"/>
            <a:ext cx="4754880" cy="320040"/>
          </a:xfrm>
          <a:prstGeom prst="rect">
            <a:avLst/>
          </a:prstGeom>
          <a:noFill/>
        </p:spPr>
        <p:txBody>
          <a:bodyPr wrap="square">
            <a:spAutoFit/>
          </a:bodyPr>
          <a:lstStyle/>
          <a:p>
            <a:pPr algn="l"/>
            <a:r>
              <a:rPr sz="1000" b="1" i="0">
                <a:solidFill>
                  <a:srgbClr val="1B2143"/>
                </a:solidFill>
                <a:latin typeface="Calibri"/>
              </a:rPr>
              <a:t>Udyam Registration</a:t>
            </a:r>
          </a:p>
        </p:txBody>
      </p:sp>
      <p:sp>
        <p:nvSpPr>
          <p:cNvPr id="34" name="TextBox 33"/>
          <p:cNvSpPr txBox="1"/>
          <p:nvPr/>
        </p:nvSpPr>
        <p:spPr>
          <a:xfrm>
            <a:off x="6656832" y="2432304"/>
            <a:ext cx="4754880" cy="320040"/>
          </a:xfrm>
          <a:prstGeom prst="rect">
            <a:avLst/>
          </a:prstGeom>
          <a:noFill/>
        </p:spPr>
        <p:txBody>
          <a:bodyPr wrap="square">
            <a:spAutoFit/>
          </a:bodyPr>
          <a:lstStyle/>
          <a:p>
            <a:pPr algn="l"/>
            <a:r>
              <a:rPr sz="850" b="0" i="0">
                <a:solidFill>
                  <a:srgbClr val="3A4270"/>
                </a:solidFill>
                <a:latin typeface="Calibri"/>
              </a:rPr>
              <a:t>Free MSME registration in ~15 min.
Opens loans + subsidies.</a:t>
            </a:r>
          </a:p>
        </p:txBody>
      </p:sp>
      <p:sp>
        <p:nvSpPr>
          <p:cNvPr id="35" name="Rectangle 34"/>
          <p:cNvSpPr/>
          <p:nvPr/>
        </p:nvSpPr>
        <p:spPr>
          <a:xfrm>
            <a:off x="6656832" y="2761488"/>
            <a:ext cx="4754880" cy="201168"/>
          </a:xfrm>
          <a:prstGeom prst="rect">
            <a:avLst/>
          </a:prstGeom>
          <a:solidFill>
            <a:srgbClr val="F6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20840" y="2779776"/>
            <a:ext cx="4572000" cy="164592"/>
          </a:xfrm>
          <a:prstGeom prst="rect">
            <a:avLst/>
          </a:prstGeom>
          <a:noFill/>
        </p:spPr>
        <p:txBody>
          <a:bodyPr wrap="square">
            <a:spAutoFit/>
          </a:bodyPr>
          <a:lstStyle/>
          <a:p>
            <a:pPr algn="l"/>
            <a:r>
              <a:rPr sz="750" b="1" i="0">
                <a:solidFill>
                  <a:srgbClr val="D88B00"/>
                </a:solidFill>
                <a:latin typeface="Calibri"/>
              </a:rPr>
              <a:t>Fits: any small business</a:t>
            </a:r>
          </a:p>
        </p:txBody>
      </p:sp>
      <p:sp>
        <p:nvSpPr>
          <p:cNvPr id="37" name="Rectangle 36"/>
          <p:cNvSpPr/>
          <p:nvPr/>
        </p:nvSpPr>
        <p:spPr>
          <a:xfrm>
            <a:off x="6537960" y="3127248"/>
            <a:ext cx="5120640" cy="987552"/>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56832" y="3200400"/>
            <a:ext cx="4754880" cy="320040"/>
          </a:xfrm>
          <a:prstGeom prst="rect">
            <a:avLst/>
          </a:prstGeom>
          <a:noFill/>
        </p:spPr>
        <p:txBody>
          <a:bodyPr wrap="square">
            <a:spAutoFit/>
          </a:bodyPr>
          <a:lstStyle/>
          <a:p>
            <a:pPr algn="l"/>
            <a:r>
              <a:rPr sz="1000" b="1" i="0">
                <a:solidFill>
                  <a:srgbClr val="1B2143"/>
                </a:solidFill>
                <a:latin typeface="Calibri"/>
              </a:rPr>
              <a:t>PM Mudra Loan</a:t>
            </a:r>
          </a:p>
        </p:txBody>
      </p:sp>
      <p:sp>
        <p:nvSpPr>
          <p:cNvPr id="39" name="TextBox 38"/>
          <p:cNvSpPr txBox="1"/>
          <p:nvPr/>
        </p:nvSpPr>
        <p:spPr>
          <a:xfrm>
            <a:off x="6656832" y="3529584"/>
            <a:ext cx="4754880" cy="320040"/>
          </a:xfrm>
          <a:prstGeom prst="rect">
            <a:avLst/>
          </a:prstGeom>
          <a:noFill/>
        </p:spPr>
        <p:txBody>
          <a:bodyPr wrap="square">
            <a:spAutoFit/>
          </a:bodyPr>
          <a:lstStyle/>
          <a:p>
            <a:pPr algn="l"/>
            <a:r>
              <a:rPr sz="850" b="0" i="0">
                <a:solidFill>
                  <a:srgbClr val="3A4270"/>
                </a:solidFill>
                <a:latin typeface="Calibri"/>
              </a:rPr>
              <a:t>Collateral-free loan up to ₹50,000
(Shishu tier) for startups.</a:t>
            </a:r>
          </a:p>
        </p:txBody>
      </p:sp>
      <p:sp>
        <p:nvSpPr>
          <p:cNvPr id="40" name="Rectangle 39"/>
          <p:cNvSpPr/>
          <p:nvPr/>
        </p:nvSpPr>
        <p:spPr>
          <a:xfrm>
            <a:off x="6656832" y="3858768"/>
            <a:ext cx="4754880" cy="201168"/>
          </a:xfrm>
          <a:prstGeom prst="rect">
            <a:avLst/>
          </a:prstGeom>
          <a:solidFill>
            <a:srgbClr val="F6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20840" y="3877056"/>
            <a:ext cx="4572000" cy="164592"/>
          </a:xfrm>
          <a:prstGeom prst="rect">
            <a:avLst/>
          </a:prstGeom>
          <a:noFill/>
        </p:spPr>
        <p:txBody>
          <a:bodyPr wrap="square">
            <a:spAutoFit/>
          </a:bodyPr>
          <a:lstStyle/>
          <a:p>
            <a:pPr algn="l"/>
            <a:r>
              <a:rPr sz="750" b="1" i="0">
                <a:solidFill>
                  <a:srgbClr val="D88B00"/>
                </a:solidFill>
                <a:latin typeface="Calibri"/>
              </a:rPr>
              <a:t>Fits: needs capital</a:t>
            </a:r>
          </a:p>
        </p:txBody>
      </p:sp>
      <p:sp>
        <p:nvSpPr>
          <p:cNvPr id="42" name="Rectangle 41"/>
          <p:cNvSpPr/>
          <p:nvPr/>
        </p:nvSpPr>
        <p:spPr>
          <a:xfrm>
            <a:off x="6537960" y="4224528"/>
            <a:ext cx="5120640" cy="987552"/>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56832" y="4297680"/>
            <a:ext cx="4754880" cy="320040"/>
          </a:xfrm>
          <a:prstGeom prst="rect">
            <a:avLst/>
          </a:prstGeom>
          <a:noFill/>
        </p:spPr>
        <p:txBody>
          <a:bodyPr wrap="square">
            <a:spAutoFit/>
          </a:bodyPr>
          <a:lstStyle/>
          <a:p>
            <a:pPr algn="l"/>
            <a:r>
              <a:rPr sz="1000" b="1" i="0">
                <a:solidFill>
                  <a:srgbClr val="1B2143"/>
                </a:solidFill>
                <a:latin typeface="Calibri"/>
              </a:rPr>
              <a:t>SHG / NRLM linkage</a:t>
            </a:r>
          </a:p>
        </p:txBody>
      </p:sp>
      <p:sp>
        <p:nvSpPr>
          <p:cNvPr id="44" name="TextBox 43"/>
          <p:cNvSpPr txBox="1"/>
          <p:nvPr/>
        </p:nvSpPr>
        <p:spPr>
          <a:xfrm>
            <a:off x="6656832" y="4626864"/>
            <a:ext cx="4754880" cy="320040"/>
          </a:xfrm>
          <a:prstGeom prst="rect">
            <a:avLst/>
          </a:prstGeom>
          <a:noFill/>
        </p:spPr>
        <p:txBody>
          <a:bodyPr wrap="square">
            <a:spAutoFit/>
          </a:bodyPr>
          <a:lstStyle/>
          <a:p>
            <a:pPr algn="l"/>
            <a:r>
              <a:rPr sz="850" b="0" i="0">
                <a:solidFill>
                  <a:srgbClr val="3A4270"/>
                </a:solidFill>
                <a:latin typeface="Calibri"/>
              </a:rPr>
              <a:t>Join local women's group: savings,
low-interest credit, network.</a:t>
            </a:r>
          </a:p>
        </p:txBody>
      </p:sp>
      <p:sp>
        <p:nvSpPr>
          <p:cNvPr id="45" name="Rectangle 44"/>
          <p:cNvSpPr/>
          <p:nvPr/>
        </p:nvSpPr>
        <p:spPr>
          <a:xfrm>
            <a:off x="6656832" y="4956048"/>
            <a:ext cx="4754880" cy="201168"/>
          </a:xfrm>
          <a:prstGeom prst="rect">
            <a:avLst/>
          </a:prstGeom>
          <a:solidFill>
            <a:srgbClr val="F6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20840" y="4974336"/>
            <a:ext cx="4572000" cy="164592"/>
          </a:xfrm>
          <a:prstGeom prst="rect">
            <a:avLst/>
          </a:prstGeom>
          <a:noFill/>
        </p:spPr>
        <p:txBody>
          <a:bodyPr wrap="square">
            <a:spAutoFit/>
          </a:bodyPr>
          <a:lstStyle/>
          <a:p>
            <a:pPr algn="l"/>
            <a:r>
              <a:rPr sz="750" b="1" i="0">
                <a:solidFill>
                  <a:srgbClr val="D88B00"/>
                </a:solidFill>
                <a:latin typeface="Calibri"/>
              </a:rPr>
              <a:t>Fits: rural · wants community</a:t>
            </a:r>
          </a:p>
        </p:txBody>
      </p:sp>
      <p:sp>
        <p:nvSpPr>
          <p:cNvPr id="47" name="Rectangle 46"/>
          <p:cNvSpPr/>
          <p:nvPr/>
        </p:nvSpPr>
        <p:spPr>
          <a:xfrm>
            <a:off x="6537960" y="5321808"/>
            <a:ext cx="5120640" cy="987552"/>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56832" y="5394960"/>
            <a:ext cx="4754880" cy="320040"/>
          </a:xfrm>
          <a:prstGeom prst="rect">
            <a:avLst/>
          </a:prstGeom>
          <a:noFill/>
        </p:spPr>
        <p:txBody>
          <a:bodyPr wrap="square">
            <a:spAutoFit/>
          </a:bodyPr>
          <a:lstStyle/>
          <a:p>
            <a:pPr algn="l"/>
            <a:r>
              <a:rPr sz="1000" b="1" i="0">
                <a:solidFill>
                  <a:srgbClr val="1B2143"/>
                </a:solidFill>
                <a:latin typeface="Calibri"/>
              </a:rPr>
              <a:t>PM Vishwakarma</a:t>
            </a:r>
          </a:p>
        </p:txBody>
      </p:sp>
      <p:sp>
        <p:nvSpPr>
          <p:cNvPr id="49" name="TextBox 48"/>
          <p:cNvSpPr txBox="1"/>
          <p:nvPr/>
        </p:nvSpPr>
        <p:spPr>
          <a:xfrm>
            <a:off x="6656832" y="5724144"/>
            <a:ext cx="4754880" cy="320040"/>
          </a:xfrm>
          <a:prstGeom prst="rect">
            <a:avLst/>
          </a:prstGeom>
          <a:noFill/>
        </p:spPr>
        <p:txBody>
          <a:bodyPr wrap="square">
            <a:spAutoFit/>
          </a:bodyPr>
          <a:lstStyle/>
          <a:p>
            <a:pPr algn="l"/>
            <a:r>
              <a:rPr sz="850" b="0" i="0">
                <a:solidFill>
                  <a:srgbClr val="3A4270"/>
                </a:solidFill>
                <a:latin typeface="Calibri"/>
              </a:rPr>
              <a:t>For artisans/tailors: training,
toolkit grant, credit.</a:t>
            </a:r>
          </a:p>
        </p:txBody>
      </p:sp>
      <p:sp>
        <p:nvSpPr>
          <p:cNvPr id="50" name="Rectangle 49"/>
          <p:cNvSpPr/>
          <p:nvPr/>
        </p:nvSpPr>
        <p:spPr>
          <a:xfrm>
            <a:off x="6656832" y="6053328"/>
            <a:ext cx="4754880" cy="201168"/>
          </a:xfrm>
          <a:prstGeom prst="rect">
            <a:avLst/>
          </a:prstGeom>
          <a:solidFill>
            <a:srgbClr val="F6EF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20840" y="6071616"/>
            <a:ext cx="4572000" cy="164592"/>
          </a:xfrm>
          <a:prstGeom prst="rect">
            <a:avLst/>
          </a:prstGeom>
          <a:noFill/>
        </p:spPr>
        <p:txBody>
          <a:bodyPr wrap="square">
            <a:spAutoFit/>
          </a:bodyPr>
          <a:lstStyle/>
          <a:p>
            <a:pPr algn="l"/>
            <a:r>
              <a:rPr sz="750" b="1" i="0">
                <a:solidFill>
                  <a:srgbClr val="D88B00"/>
                </a:solidFill>
                <a:latin typeface="Calibri"/>
              </a:rPr>
              <a:t>Fits: tailoring · crafts</a:t>
            </a:r>
          </a:p>
        </p:txBody>
      </p:sp>
      <p:sp>
        <p:nvSpPr>
          <p:cNvPr id="52" name="TextBox 51"/>
          <p:cNvSpPr txBox="1"/>
          <p:nvPr/>
        </p:nvSpPr>
        <p:spPr>
          <a:xfrm>
            <a:off x="411480" y="6473952"/>
            <a:ext cx="11247120" cy="347472"/>
          </a:xfrm>
          <a:prstGeom prst="rect">
            <a:avLst/>
          </a:prstGeom>
          <a:noFill/>
        </p:spPr>
        <p:txBody>
          <a:bodyPr wrap="square">
            <a:spAutoFit/>
          </a:bodyPr>
          <a:lstStyle/>
          <a:p>
            <a:pPr algn="ctr"/>
            <a:r>
              <a:rPr sz="950" b="0" i="1">
                <a:solidFill>
                  <a:srgbClr val="C8506E"/>
                </a:solidFill>
                <a:latin typeface="Calibri"/>
              </a:rPr>
              <a:t>Each scheme has official_url and last_verified date. We update the file — Claude adapts automatically.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2700000">
            <a:off x="10972800" y="365760"/>
            <a:ext cx="731520" cy="73152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47472"/>
            <a:ext cx="10972800" cy="320040"/>
          </a:xfrm>
          <a:prstGeom prst="rect">
            <a:avLst/>
          </a:prstGeom>
          <a:noFill/>
        </p:spPr>
        <p:txBody>
          <a:bodyPr wrap="square">
            <a:spAutoFit/>
          </a:bodyPr>
          <a:lstStyle/>
          <a:p>
            <a:pPr algn="l"/>
            <a:r>
              <a:rPr sz="800" b="1" i="0">
                <a:solidFill>
                  <a:srgbClr val="D88B00"/>
                </a:solidFill>
                <a:latin typeface="Calibri"/>
              </a:rPr>
              <a:t>THE DATABASE DECISION — SUPABASE → SELF-DEPLOYED POSTGRESQL</a:t>
            </a:r>
          </a:p>
        </p:txBody>
      </p:sp>
      <p:sp>
        <p:nvSpPr>
          <p:cNvPr id="5" name="TextBox 4"/>
          <p:cNvSpPr txBox="1"/>
          <p:nvPr/>
        </p:nvSpPr>
        <p:spPr>
          <a:xfrm>
            <a:off x="457200" y="713232"/>
            <a:ext cx="9144000" cy="594360"/>
          </a:xfrm>
          <a:prstGeom prst="rect">
            <a:avLst/>
          </a:prstGeom>
          <a:noFill/>
        </p:spPr>
        <p:txBody>
          <a:bodyPr wrap="square">
            <a:spAutoFit/>
          </a:bodyPr>
          <a:lstStyle/>
          <a:p>
            <a:pPr algn="l"/>
            <a:r>
              <a:rPr sz="2600" b="1" i="0">
                <a:solidFill>
                  <a:srgbClr val="FFFFFF"/>
                </a:solidFill>
                <a:latin typeface="Palatino Linotype"/>
              </a:rPr>
              <a:t>Why we're migrating. Why it's easy. Why it matters.</a:t>
            </a:r>
          </a:p>
        </p:txBody>
      </p:sp>
      <p:sp>
        <p:nvSpPr>
          <p:cNvPr id="6" name="Rectangle 5"/>
          <p:cNvSpPr/>
          <p:nvPr/>
        </p:nvSpPr>
        <p:spPr>
          <a:xfrm>
            <a:off x="411480" y="1444752"/>
            <a:ext cx="5394960" cy="4681728"/>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444752"/>
            <a:ext cx="539496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5120640" cy="347472"/>
          </a:xfrm>
          <a:prstGeom prst="rect">
            <a:avLst/>
          </a:prstGeom>
          <a:noFill/>
        </p:spPr>
        <p:txBody>
          <a:bodyPr wrap="square">
            <a:spAutoFit/>
          </a:bodyPr>
          <a:lstStyle/>
          <a:p>
            <a:pPr algn="l"/>
            <a:r>
              <a:rPr sz="1100" b="1" i="0">
                <a:solidFill>
                  <a:srgbClr val="DC2626"/>
                </a:solidFill>
                <a:latin typeface="Calibri"/>
              </a:rPr>
              <a:t>BEFORE — Supabase (managed)</a:t>
            </a:r>
          </a:p>
        </p:txBody>
      </p:sp>
      <p:sp>
        <p:nvSpPr>
          <p:cNvPr id="9" name="TextBox 8"/>
          <p:cNvSpPr txBox="1"/>
          <p:nvPr/>
        </p:nvSpPr>
        <p:spPr>
          <a:xfrm>
            <a:off x="566928" y="1938528"/>
            <a:ext cx="5120640" cy="566928"/>
          </a:xfrm>
          <a:prstGeom prst="rect">
            <a:avLst/>
          </a:prstGeom>
          <a:noFill/>
        </p:spPr>
        <p:txBody>
          <a:bodyPr wrap="square">
            <a:spAutoFit/>
          </a:bodyPr>
          <a:lstStyle/>
          <a:p>
            <a:pPr algn="l"/>
            <a:r>
              <a:rPr sz="950" b="0" i="0">
                <a:solidFill>
                  <a:srgbClr val="C0C8FF"/>
                </a:solidFill>
                <a:latin typeface="Calibri"/>
              </a:rPr>
              <a:t>✗  US-based servers — potential DPDP Act issue</a:t>
            </a:r>
          </a:p>
        </p:txBody>
      </p:sp>
      <p:sp>
        <p:nvSpPr>
          <p:cNvPr id="10" name="TextBox 9"/>
          <p:cNvSpPr txBox="1"/>
          <p:nvPr/>
        </p:nvSpPr>
        <p:spPr>
          <a:xfrm>
            <a:off x="566928" y="2596896"/>
            <a:ext cx="5120640" cy="566928"/>
          </a:xfrm>
          <a:prstGeom prst="rect">
            <a:avLst/>
          </a:prstGeom>
          <a:noFill/>
        </p:spPr>
        <p:txBody>
          <a:bodyPr wrap="square">
            <a:spAutoFit/>
          </a:bodyPr>
          <a:lstStyle/>
          <a:p>
            <a:pPr algn="l"/>
            <a:r>
              <a:rPr sz="950" b="0" i="0">
                <a:solidFill>
                  <a:srgbClr val="C0C8FF"/>
                </a:solidFill>
                <a:latin typeface="Calibri"/>
              </a:rPr>
              <a:t>✗  Supabase session-mode pooler required
   (max:1, prepare:false workarounds in code)</a:t>
            </a:r>
          </a:p>
        </p:txBody>
      </p:sp>
      <p:sp>
        <p:nvSpPr>
          <p:cNvPr id="11" name="TextBox 10"/>
          <p:cNvSpPr txBox="1"/>
          <p:nvPr/>
        </p:nvSpPr>
        <p:spPr>
          <a:xfrm>
            <a:off x="566928" y="3255264"/>
            <a:ext cx="5120640" cy="566928"/>
          </a:xfrm>
          <a:prstGeom prst="rect">
            <a:avLst/>
          </a:prstGeom>
          <a:noFill/>
        </p:spPr>
        <p:txBody>
          <a:bodyPr wrap="square">
            <a:spAutoFit/>
          </a:bodyPr>
          <a:lstStyle/>
          <a:p>
            <a:pPr algn="l"/>
            <a:r>
              <a:rPr sz="950" b="0" i="0">
                <a:solidFill>
                  <a:srgbClr val="C0C8FF"/>
                </a:solidFill>
                <a:latin typeface="Calibri"/>
              </a:rPr>
              <a:t>✗  Free tier: 500MB storage, 2 projects</a:t>
            </a:r>
          </a:p>
        </p:txBody>
      </p:sp>
      <p:sp>
        <p:nvSpPr>
          <p:cNvPr id="12" name="TextBox 11"/>
          <p:cNvSpPr txBox="1"/>
          <p:nvPr/>
        </p:nvSpPr>
        <p:spPr>
          <a:xfrm>
            <a:off x="566928" y="3913632"/>
            <a:ext cx="5120640" cy="566928"/>
          </a:xfrm>
          <a:prstGeom prst="rect">
            <a:avLst/>
          </a:prstGeom>
          <a:noFill/>
        </p:spPr>
        <p:txBody>
          <a:bodyPr wrap="square">
            <a:spAutoFit/>
          </a:bodyPr>
          <a:lstStyle/>
          <a:p>
            <a:pPr algn="l"/>
            <a:r>
              <a:rPr sz="950" b="0" i="0">
                <a:solidFill>
                  <a:srgbClr val="C0C8FF"/>
                </a:solidFill>
                <a:latin typeface="Calibri"/>
              </a:rPr>
              <a:t>✗  Vendor lock-in — if Supabase changes
   pricing, we're exposed</a:t>
            </a:r>
          </a:p>
        </p:txBody>
      </p:sp>
      <p:sp>
        <p:nvSpPr>
          <p:cNvPr id="13" name="TextBox 12"/>
          <p:cNvSpPr txBox="1"/>
          <p:nvPr/>
        </p:nvSpPr>
        <p:spPr>
          <a:xfrm>
            <a:off x="566928" y="4572000"/>
            <a:ext cx="5120640" cy="566928"/>
          </a:xfrm>
          <a:prstGeom prst="rect">
            <a:avLst/>
          </a:prstGeom>
          <a:noFill/>
        </p:spPr>
        <p:txBody>
          <a:bodyPr wrap="square">
            <a:spAutoFit/>
          </a:bodyPr>
          <a:lstStyle/>
          <a:p>
            <a:pPr algn="l"/>
            <a:r>
              <a:rPr sz="950" b="0" i="0">
                <a:solidFill>
                  <a:srgbClr val="C0C8FF"/>
                </a:solidFill>
                <a:latin typeface="Calibri"/>
              </a:rPr>
              <a:t>✗  Cannot add pgvector for future
   RAG scheme matching</a:t>
            </a:r>
          </a:p>
        </p:txBody>
      </p:sp>
      <p:sp>
        <p:nvSpPr>
          <p:cNvPr id="14" name="TextBox 13"/>
          <p:cNvSpPr txBox="1"/>
          <p:nvPr/>
        </p:nvSpPr>
        <p:spPr>
          <a:xfrm>
            <a:off x="566928" y="5230368"/>
            <a:ext cx="5120640" cy="566928"/>
          </a:xfrm>
          <a:prstGeom prst="rect">
            <a:avLst/>
          </a:prstGeom>
          <a:noFill/>
        </p:spPr>
        <p:txBody>
          <a:bodyPr wrap="square">
            <a:spAutoFit/>
          </a:bodyPr>
          <a:lstStyle/>
          <a:p>
            <a:pPr algn="l"/>
            <a:r>
              <a:rPr sz="950" b="0" i="0">
                <a:solidFill>
                  <a:srgbClr val="C0C8FF"/>
                </a:solidFill>
                <a:latin typeface="Calibri"/>
              </a:rPr>
              <a:t>✗  Connection limits on serverless fns
   forced our architecture</a:t>
            </a:r>
          </a:p>
        </p:txBody>
      </p:sp>
      <p:sp>
        <p:nvSpPr>
          <p:cNvPr id="15" name="Rectangle 14"/>
          <p:cNvSpPr/>
          <p:nvPr/>
        </p:nvSpPr>
        <p:spPr>
          <a:xfrm>
            <a:off x="6355080" y="1444752"/>
            <a:ext cx="5486400" cy="4681728"/>
          </a:xfrm>
          <a:prstGeom prst="rect">
            <a:avLst/>
          </a:prstGeom>
          <a:solidFill>
            <a:srgbClr val="082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80" y="1444752"/>
            <a:ext cx="5486400" cy="54864"/>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508760"/>
            <a:ext cx="5120640" cy="347472"/>
          </a:xfrm>
          <a:prstGeom prst="rect">
            <a:avLst/>
          </a:prstGeom>
          <a:noFill/>
        </p:spPr>
        <p:txBody>
          <a:bodyPr wrap="square">
            <a:spAutoFit/>
          </a:bodyPr>
          <a:lstStyle/>
          <a:p>
            <a:pPr algn="l"/>
            <a:r>
              <a:rPr sz="1100" b="1" i="0">
                <a:solidFill>
                  <a:srgbClr val="2E7D5B"/>
                </a:solidFill>
                <a:latin typeface="Calibri"/>
              </a:rPr>
              <a:t>AFTER — Self-Deployed PostgreSQL</a:t>
            </a:r>
          </a:p>
        </p:txBody>
      </p:sp>
      <p:sp>
        <p:nvSpPr>
          <p:cNvPr id="18" name="TextBox 17"/>
          <p:cNvSpPr txBox="1"/>
          <p:nvPr/>
        </p:nvSpPr>
        <p:spPr>
          <a:xfrm>
            <a:off x="6492240" y="1938528"/>
            <a:ext cx="5212080" cy="566928"/>
          </a:xfrm>
          <a:prstGeom prst="rect">
            <a:avLst/>
          </a:prstGeom>
          <a:noFill/>
        </p:spPr>
        <p:txBody>
          <a:bodyPr wrap="square">
            <a:spAutoFit/>
          </a:bodyPr>
          <a:lstStyle/>
          <a:p>
            <a:pPr algn="l"/>
            <a:r>
              <a:rPr sz="950" b="0" i="0">
                <a:solidFill>
                  <a:srgbClr val="C0C8FF"/>
                </a:solidFill>
                <a:latin typeface="Calibri"/>
              </a:rPr>
              <a:t>✓  India-hosted server — DPDP Act compliant</a:t>
            </a:r>
          </a:p>
        </p:txBody>
      </p:sp>
      <p:sp>
        <p:nvSpPr>
          <p:cNvPr id="19" name="TextBox 18"/>
          <p:cNvSpPr txBox="1"/>
          <p:nvPr/>
        </p:nvSpPr>
        <p:spPr>
          <a:xfrm>
            <a:off x="6492240" y="2596896"/>
            <a:ext cx="5212080" cy="566928"/>
          </a:xfrm>
          <a:prstGeom prst="rect">
            <a:avLst/>
          </a:prstGeom>
          <a:noFill/>
        </p:spPr>
        <p:txBody>
          <a:bodyPr wrap="square">
            <a:spAutoFit/>
          </a:bodyPr>
          <a:lstStyle/>
          <a:p>
            <a:pPr algn="l"/>
            <a:r>
              <a:rPr sz="950" b="0" i="0">
                <a:solidFill>
                  <a:srgbClr val="C0C8FF"/>
                </a:solidFill>
                <a:latin typeface="Calibri"/>
              </a:rPr>
              <a:t>✓  Direct connection, no pooler workarounds
   (remove max:1, prepare:false)</a:t>
            </a:r>
          </a:p>
        </p:txBody>
      </p:sp>
      <p:sp>
        <p:nvSpPr>
          <p:cNvPr id="20" name="TextBox 19"/>
          <p:cNvSpPr txBox="1"/>
          <p:nvPr/>
        </p:nvSpPr>
        <p:spPr>
          <a:xfrm>
            <a:off x="6492240" y="3255264"/>
            <a:ext cx="5212080" cy="566928"/>
          </a:xfrm>
          <a:prstGeom prst="rect">
            <a:avLst/>
          </a:prstGeom>
          <a:noFill/>
        </p:spPr>
        <p:txBody>
          <a:bodyPr wrap="square">
            <a:spAutoFit/>
          </a:bodyPr>
          <a:lstStyle/>
          <a:p>
            <a:pPr algn="l"/>
            <a:r>
              <a:rPr sz="950" b="0" i="0">
                <a:solidFill>
                  <a:srgbClr val="C0C8FF"/>
                </a:solidFill>
                <a:latin typeface="Calibri"/>
              </a:rPr>
              <a:t>✓  Unlimited storage on our own instance</a:t>
            </a:r>
          </a:p>
        </p:txBody>
      </p:sp>
      <p:sp>
        <p:nvSpPr>
          <p:cNvPr id="21" name="TextBox 20"/>
          <p:cNvSpPr txBox="1"/>
          <p:nvPr/>
        </p:nvSpPr>
        <p:spPr>
          <a:xfrm>
            <a:off x="6492240" y="3913632"/>
            <a:ext cx="5212080" cy="566928"/>
          </a:xfrm>
          <a:prstGeom prst="rect">
            <a:avLst/>
          </a:prstGeom>
          <a:noFill/>
        </p:spPr>
        <p:txBody>
          <a:bodyPr wrap="square">
            <a:spAutoFit/>
          </a:bodyPr>
          <a:lstStyle/>
          <a:p>
            <a:pPr algn="l"/>
            <a:r>
              <a:rPr sz="950" b="0" i="0">
                <a:solidFill>
                  <a:srgbClr val="C0C8FF"/>
                </a:solidFill>
                <a:latin typeface="Calibri"/>
              </a:rPr>
              <a:t>✓  Zero vendor lock-in — we own the data
   and the infrastructure</a:t>
            </a:r>
          </a:p>
        </p:txBody>
      </p:sp>
      <p:sp>
        <p:nvSpPr>
          <p:cNvPr id="22" name="TextBox 21"/>
          <p:cNvSpPr txBox="1"/>
          <p:nvPr/>
        </p:nvSpPr>
        <p:spPr>
          <a:xfrm>
            <a:off x="6492240" y="4572000"/>
            <a:ext cx="5212080" cy="566928"/>
          </a:xfrm>
          <a:prstGeom prst="rect">
            <a:avLst/>
          </a:prstGeom>
          <a:noFill/>
        </p:spPr>
        <p:txBody>
          <a:bodyPr wrap="square">
            <a:spAutoFit/>
          </a:bodyPr>
          <a:lstStyle/>
          <a:p>
            <a:pPr algn="l"/>
            <a:r>
              <a:rPr sz="950" b="0" i="0">
                <a:solidFill>
                  <a:srgbClr val="C0C8FF"/>
                </a:solidFill>
                <a:latin typeface="Calibri"/>
              </a:rPr>
              <a:t>✓  Add pgvector extension → enables full
   RAG scheme matching pipeline</a:t>
            </a:r>
          </a:p>
        </p:txBody>
      </p:sp>
      <p:sp>
        <p:nvSpPr>
          <p:cNvPr id="23" name="TextBox 22"/>
          <p:cNvSpPr txBox="1"/>
          <p:nvPr/>
        </p:nvSpPr>
        <p:spPr>
          <a:xfrm>
            <a:off x="6492240" y="5230368"/>
            <a:ext cx="5212080" cy="566928"/>
          </a:xfrm>
          <a:prstGeom prst="rect">
            <a:avLst/>
          </a:prstGeom>
          <a:noFill/>
        </p:spPr>
        <p:txBody>
          <a:bodyPr wrap="square">
            <a:spAutoFit/>
          </a:bodyPr>
          <a:lstStyle/>
          <a:p>
            <a:pPr algn="l"/>
            <a:r>
              <a:rPr sz="950" b="0" i="0">
                <a:solidFill>
                  <a:srgbClr val="C0C8FF"/>
                </a:solidFill>
                <a:latin typeface="Calibri"/>
              </a:rPr>
              <a:t>✓  PgBouncer for connection pooling —
   production-grade, our control</a:t>
            </a:r>
          </a:p>
        </p:txBody>
      </p:sp>
      <p:sp>
        <p:nvSpPr>
          <p:cNvPr id="24" name="Rectangle 23"/>
          <p:cNvSpPr/>
          <p:nvPr/>
        </p:nvSpPr>
        <p:spPr>
          <a:xfrm>
            <a:off x="411480" y="6199632"/>
            <a:ext cx="11430000" cy="54864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245352"/>
            <a:ext cx="11155680" cy="457200"/>
          </a:xfrm>
          <a:prstGeom prst="rect">
            <a:avLst/>
          </a:prstGeom>
          <a:noFill/>
        </p:spPr>
        <p:txBody>
          <a:bodyPr wrap="square">
            <a:spAutoFit/>
          </a:bodyPr>
          <a:lstStyle/>
          <a:p>
            <a:pPr algn="ctr"/>
            <a:r>
              <a:rPr sz="1050" b="1" i="0">
                <a:solidFill>
                  <a:srgbClr val="1B2143"/>
                </a:solidFill>
                <a:latin typeface="Calibri"/>
              </a:rPr>
              <a:t>Migration complexity: Change ONE environment variable (DATABASE_URL). Zero application code changes. Drizzle ORM abstracts the connection completely. Run drizzle-kit push on new host. Done.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0972800" cy="320040"/>
          </a:xfrm>
          <a:prstGeom prst="rect">
            <a:avLst/>
          </a:prstGeom>
          <a:noFill/>
        </p:spPr>
        <p:txBody>
          <a:bodyPr wrap="square">
            <a:spAutoFit/>
          </a:bodyPr>
          <a:lstStyle/>
          <a:p>
            <a:pPr algn="l"/>
            <a:r>
              <a:rPr sz="800" b="1" i="0">
                <a:solidFill>
                  <a:srgbClr val="0EA5E9"/>
                </a:solidFill>
                <a:latin typeface="Calibri"/>
              </a:rPr>
              <a:t>VOICE &amp; LANGUAGE PIPELINE — ZERO EXTERNAL SERVICES</a:t>
            </a:r>
          </a:p>
        </p:txBody>
      </p:sp>
      <p:sp>
        <p:nvSpPr>
          <p:cNvPr id="5" name="TextBox 4"/>
          <p:cNvSpPr txBox="1"/>
          <p:nvPr/>
        </p:nvSpPr>
        <p:spPr>
          <a:xfrm>
            <a:off x="457200" y="749808"/>
            <a:ext cx="10972800" cy="621792"/>
          </a:xfrm>
          <a:prstGeom prst="rect">
            <a:avLst/>
          </a:prstGeom>
          <a:noFill/>
        </p:spPr>
        <p:txBody>
          <a:bodyPr wrap="square">
            <a:spAutoFit/>
          </a:bodyPr>
          <a:lstStyle/>
          <a:p>
            <a:pPr algn="l"/>
            <a:r>
              <a:rPr sz="2500" b="1" i="0">
                <a:solidFill>
                  <a:srgbClr val="1B2143"/>
                </a:solidFill>
                <a:latin typeface="Palatino Linotype"/>
              </a:rPr>
              <a:t>6 Indian languages. No AWS Polly. No Google TTS. No API cost.</a:t>
            </a:r>
          </a:p>
        </p:txBody>
      </p:sp>
      <p:sp>
        <p:nvSpPr>
          <p:cNvPr id="6" name="Rectangle 5"/>
          <p:cNvSpPr/>
          <p:nvPr/>
        </p:nvSpPr>
        <p:spPr>
          <a:xfrm>
            <a:off x="411480" y="1600200"/>
            <a:ext cx="2761488" cy="3474720"/>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600200"/>
            <a:ext cx="2761488"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91640"/>
            <a:ext cx="2487168" cy="594360"/>
          </a:xfrm>
          <a:prstGeom prst="rect">
            <a:avLst/>
          </a:prstGeom>
          <a:noFill/>
        </p:spPr>
        <p:txBody>
          <a:bodyPr wrap="square">
            <a:spAutoFit/>
          </a:bodyPr>
          <a:lstStyle/>
          <a:p>
            <a:pPr algn="l"/>
            <a:r>
              <a:rPr sz="1100" b="1" i="0">
                <a:solidFill>
                  <a:srgbClr val="0EA5E9"/>
                </a:solidFill>
                <a:latin typeface="Calibri"/>
              </a:rPr>
              <a:t>Voice Input
(Web Speech API)</a:t>
            </a:r>
          </a:p>
        </p:txBody>
      </p:sp>
      <p:sp>
        <p:nvSpPr>
          <p:cNvPr id="9" name="TextBox 8"/>
          <p:cNvSpPr txBox="1"/>
          <p:nvPr/>
        </p:nvSpPr>
        <p:spPr>
          <a:xfrm>
            <a:off x="548640" y="2340864"/>
            <a:ext cx="2487168" cy="1371600"/>
          </a:xfrm>
          <a:prstGeom prst="rect">
            <a:avLst/>
          </a:prstGeom>
          <a:noFill/>
        </p:spPr>
        <p:txBody>
          <a:bodyPr wrap="square">
            <a:spAutoFit/>
          </a:bodyPr>
          <a:lstStyle/>
          <a:p>
            <a:pPr algn="l"/>
            <a:r>
              <a:rPr sz="1000" b="0" i="0">
                <a:solidFill>
                  <a:srgbClr val="3A4270"/>
                </a:solidFill>
                <a:latin typeface="Calibri"/>
              </a:rPr>
              <a:t>Browser's SpeechRecognition API.
Language: hi-IN or en-IN
based on UI toggle.</a:t>
            </a:r>
          </a:p>
        </p:txBody>
      </p:sp>
      <p:sp>
        <p:nvSpPr>
          <p:cNvPr id="10" name="Rectangle 9"/>
          <p:cNvSpPr/>
          <p:nvPr/>
        </p:nvSpPr>
        <p:spPr>
          <a:xfrm>
            <a:off x="502920" y="3703320"/>
            <a:ext cx="2578608" cy="1188720"/>
          </a:xfrm>
          <a:prstGeom prst="rect">
            <a:avLst/>
          </a:prstGeom>
          <a:solidFill>
            <a:srgbClr val="F6EFE2"/>
          </a:solidFill>
          <a:ln w="635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3767328"/>
            <a:ext cx="2423160" cy="1051560"/>
          </a:xfrm>
          <a:prstGeom prst="rect">
            <a:avLst/>
          </a:prstGeom>
          <a:noFill/>
        </p:spPr>
        <p:txBody>
          <a:bodyPr wrap="square">
            <a:spAutoFit/>
          </a:bodyPr>
          <a:lstStyle/>
          <a:p>
            <a:pPr algn="l"/>
            <a:r>
              <a:rPr sz="850" b="0" i="1">
                <a:solidFill>
                  <a:srgbClr val="1B2143"/>
                </a:solidFill>
                <a:latin typeface="Calibri"/>
              </a:rPr>
              <a:t>webkitSpeechRecognition
interimResults: true
No server call</a:t>
            </a:r>
          </a:p>
        </p:txBody>
      </p:sp>
      <p:sp>
        <p:nvSpPr>
          <p:cNvPr id="12" name="TextBox 11"/>
          <p:cNvSpPr txBox="1"/>
          <p:nvPr/>
        </p:nvSpPr>
        <p:spPr>
          <a:xfrm>
            <a:off x="3227832" y="3017520"/>
            <a:ext cx="182880" cy="365760"/>
          </a:xfrm>
          <a:prstGeom prst="rect">
            <a:avLst/>
          </a:prstGeom>
          <a:noFill/>
        </p:spPr>
        <p:txBody>
          <a:bodyPr wrap="square">
            <a:spAutoFit/>
          </a:bodyPr>
          <a:lstStyle/>
          <a:p>
            <a:pPr algn="ctr"/>
            <a:r>
              <a:rPr sz="1600" b="1" i="0">
                <a:solidFill>
                  <a:srgbClr val="0EA5E9"/>
                </a:solidFill>
                <a:latin typeface="Calibri"/>
              </a:rPr>
              <a:t>→</a:t>
            </a:r>
          </a:p>
        </p:txBody>
      </p:sp>
      <p:sp>
        <p:nvSpPr>
          <p:cNvPr id="13" name="Rectangle 12"/>
          <p:cNvSpPr/>
          <p:nvPr/>
        </p:nvSpPr>
        <p:spPr>
          <a:xfrm>
            <a:off x="3291840" y="1600200"/>
            <a:ext cx="2761488" cy="3474720"/>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1600200"/>
            <a:ext cx="2761488"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1691640"/>
            <a:ext cx="2487168" cy="594360"/>
          </a:xfrm>
          <a:prstGeom prst="rect">
            <a:avLst/>
          </a:prstGeom>
          <a:noFill/>
        </p:spPr>
        <p:txBody>
          <a:bodyPr wrap="square">
            <a:spAutoFit/>
          </a:bodyPr>
          <a:lstStyle/>
          <a:p>
            <a:pPr algn="l"/>
            <a:r>
              <a:rPr sz="1100" b="1" i="0">
                <a:solidFill>
                  <a:srgbClr val="6366F1"/>
                </a:solidFill>
                <a:latin typeface="Calibri"/>
              </a:rPr>
              <a:t>Language Detection
(Unicode Ranges)</a:t>
            </a:r>
          </a:p>
        </p:txBody>
      </p:sp>
      <p:sp>
        <p:nvSpPr>
          <p:cNvPr id="16" name="TextBox 15"/>
          <p:cNvSpPr txBox="1"/>
          <p:nvPr/>
        </p:nvSpPr>
        <p:spPr>
          <a:xfrm>
            <a:off x="3429000" y="2340864"/>
            <a:ext cx="2487168" cy="1371600"/>
          </a:xfrm>
          <a:prstGeom prst="rect">
            <a:avLst/>
          </a:prstGeom>
          <a:noFill/>
        </p:spPr>
        <p:txBody>
          <a:bodyPr wrap="square">
            <a:spAutoFit/>
          </a:bodyPr>
          <a:lstStyle/>
          <a:p>
            <a:pPr algn="l"/>
            <a:r>
              <a:rPr sz="1000" b="0" i="0">
                <a:solidFill>
                  <a:srgbClr val="3A4270"/>
                </a:solidFill>
                <a:latin typeface="Calibri"/>
              </a:rPr>
              <a:t>detectLangCode() scans input
for Devanagari, Tamil, Telugu,
Kannada, Bengali characters.</a:t>
            </a:r>
          </a:p>
        </p:txBody>
      </p:sp>
      <p:sp>
        <p:nvSpPr>
          <p:cNvPr id="17" name="Rectangle 16"/>
          <p:cNvSpPr/>
          <p:nvPr/>
        </p:nvSpPr>
        <p:spPr>
          <a:xfrm>
            <a:off x="3383280" y="3703320"/>
            <a:ext cx="2578608" cy="1188720"/>
          </a:xfrm>
          <a:prstGeom prst="rect">
            <a:avLst/>
          </a:prstGeom>
          <a:solidFill>
            <a:srgbClr val="F6EFE2"/>
          </a:solidFill>
          <a:ln w="635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2" y="3767328"/>
            <a:ext cx="2423160" cy="1051560"/>
          </a:xfrm>
          <a:prstGeom prst="rect">
            <a:avLst/>
          </a:prstGeom>
          <a:noFill/>
        </p:spPr>
        <p:txBody>
          <a:bodyPr wrap="square">
            <a:spAutoFit/>
          </a:bodyPr>
          <a:lstStyle/>
          <a:p>
            <a:pPr algn="l"/>
            <a:r>
              <a:rPr sz="850" b="0" i="1">
                <a:solidFill>
                  <a:srgbClr val="1B2143"/>
                </a:solidFill>
                <a:latin typeface="Calibri"/>
              </a:rPr>
              <a:t>Regex: /[\u0900-\u097F]/
for Hindi etc.
Zero latency</a:t>
            </a:r>
          </a:p>
        </p:txBody>
      </p:sp>
      <p:sp>
        <p:nvSpPr>
          <p:cNvPr id="19" name="TextBox 18"/>
          <p:cNvSpPr txBox="1"/>
          <p:nvPr/>
        </p:nvSpPr>
        <p:spPr>
          <a:xfrm>
            <a:off x="6108192" y="3017520"/>
            <a:ext cx="182880" cy="365760"/>
          </a:xfrm>
          <a:prstGeom prst="rect">
            <a:avLst/>
          </a:prstGeom>
          <a:noFill/>
        </p:spPr>
        <p:txBody>
          <a:bodyPr wrap="square">
            <a:spAutoFit/>
          </a:bodyPr>
          <a:lstStyle/>
          <a:p>
            <a:pPr algn="ctr"/>
            <a:r>
              <a:rPr sz="1600" b="1" i="0">
                <a:solidFill>
                  <a:srgbClr val="6366F1"/>
                </a:solidFill>
                <a:latin typeface="Calibri"/>
              </a:rPr>
              <a:t>→</a:t>
            </a:r>
          </a:p>
        </p:txBody>
      </p:sp>
      <p:sp>
        <p:nvSpPr>
          <p:cNvPr id="20" name="Rectangle 19"/>
          <p:cNvSpPr/>
          <p:nvPr/>
        </p:nvSpPr>
        <p:spPr>
          <a:xfrm>
            <a:off x="6172200" y="1600200"/>
            <a:ext cx="2761488" cy="3474720"/>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1600200"/>
            <a:ext cx="2761488" cy="4572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691640"/>
            <a:ext cx="2487168" cy="594360"/>
          </a:xfrm>
          <a:prstGeom prst="rect">
            <a:avLst/>
          </a:prstGeom>
          <a:noFill/>
        </p:spPr>
        <p:txBody>
          <a:bodyPr wrap="square">
            <a:spAutoFit/>
          </a:bodyPr>
          <a:lstStyle/>
          <a:p>
            <a:pPr algn="l"/>
            <a:r>
              <a:rPr sz="1100" b="1" i="0">
                <a:solidFill>
                  <a:srgbClr val="F2A007"/>
                </a:solidFill>
                <a:latin typeface="Calibri"/>
              </a:rPr>
              <a:t>Claude API Call
(Multilingual prompt)</a:t>
            </a:r>
          </a:p>
        </p:txBody>
      </p:sp>
      <p:sp>
        <p:nvSpPr>
          <p:cNvPr id="23" name="TextBox 22"/>
          <p:cNvSpPr txBox="1"/>
          <p:nvPr/>
        </p:nvSpPr>
        <p:spPr>
          <a:xfrm>
            <a:off x="6309360" y="2340864"/>
            <a:ext cx="2487168" cy="1371600"/>
          </a:xfrm>
          <a:prstGeom prst="rect">
            <a:avLst/>
          </a:prstGeom>
          <a:noFill/>
        </p:spPr>
        <p:txBody>
          <a:bodyPr wrap="square">
            <a:spAutoFit/>
          </a:bodyPr>
          <a:lstStyle/>
          <a:p>
            <a:pPr algn="l"/>
            <a:r>
              <a:rPr sz="1000" b="0" i="0">
                <a:solidFill>
                  <a:srgbClr val="3A4270"/>
                </a:solidFill>
                <a:latin typeface="Calibri"/>
              </a:rPr>
              <a:t>Prompt instructs model to respond
in detected language. Model returns
bilingual Kit (en + hi always).</a:t>
            </a:r>
          </a:p>
        </p:txBody>
      </p:sp>
      <p:sp>
        <p:nvSpPr>
          <p:cNvPr id="24" name="Rectangle 23"/>
          <p:cNvSpPr/>
          <p:nvPr/>
        </p:nvSpPr>
        <p:spPr>
          <a:xfrm>
            <a:off x="6263640" y="3703320"/>
            <a:ext cx="2578608" cy="1188720"/>
          </a:xfrm>
          <a:prstGeom prst="rect">
            <a:avLst/>
          </a:prstGeom>
          <a:solidFill>
            <a:srgbClr val="F6EFE2"/>
          </a:solidFill>
          <a:ln w="635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36792" y="3767328"/>
            <a:ext cx="2423160" cy="1051560"/>
          </a:xfrm>
          <a:prstGeom prst="rect">
            <a:avLst/>
          </a:prstGeom>
          <a:noFill/>
        </p:spPr>
        <p:txBody>
          <a:bodyPr wrap="square">
            <a:spAutoFit/>
          </a:bodyPr>
          <a:lstStyle/>
          <a:p>
            <a:pPr algn="l"/>
            <a:r>
              <a:rPr sz="850" b="0" i="1">
                <a:solidFill>
                  <a:srgbClr val="1B2143"/>
                </a:solidFill>
                <a:latin typeface="Calibri"/>
              </a:rPr>
              <a:t>System prompt:
'Respond in whatever
language user writes in'</a:t>
            </a:r>
          </a:p>
        </p:txBody>
      </p:sp>
      <p:sp>
        <p:nvSpPr>
          <p:cNvPr id="26" name="TextBox 25"/>
          <p:cNvSpPr txBox="1"/>
          <p:nvPr/>
        </p:nvSpPr>
        <p:spPr>
          <a:xfrm>
            <a:off x="8988552" y="3017520"/>
            <a:ext cx="182880" cy="365760"/>
          </a:xfrm>
          <a:prstGeom prst="rect">
            <a:avLst/>
          </a:prstGeom>
          <a:noFill/>
        </p:spPr>
        <p:txBody>
          <a:bodyPr wrap="square">
            <a:spAutoFit/>
          </a:bodyPr>
          <a:lstStyle/>
          <a:p>
            <a:pPr algn="ctr"/>
            <a:r>
              <a:rPr sz="1600" b="1" i="0">
                <a:solidFill>
                  <a:srgbClr val="F2A007"/>
                </a:solidFill>
                <a:latin typeface="Calibri"/>
              </a:rPr>
              <a:t>→</a:t>
            </a:r>
          </a:p>
        </p:txBody>
      </p:sp>
      <p:sp>
        <p:nvSpPr>
          <p:cNvPr id="27" name="Rectangle 26"/>
          <p:cNvSpPr/>
          <p:nvPr/>
        </p:nvSpPr>
        <p:spPr>
          <a:xfrm>
            <a:off x="9052560" y="1600200"/>
            <a:ext cx="2761488" cy="3474720"/>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600200"/>
            <a:ext cx="2761488" cy="45720"/>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89720" y="1691640"/>
            <a:ext cx="2487168" cy="594360"/>
          </a:xfrm>
          <a:prstGeom prst="rect">
            <a:avLst/>
          </a:prstGeom>
          <a:noFill/>
        </p:spPr>
        <p:txBody>
          <a:bodyPr wrap="square">
            <a:spAutoFit/>
          </a:bodyPr>
          <a:lstStyle/>
          <a:p>
            <a:pPr algn="l"/>
            <a:r>
              <a:rPr sz="1100" b="1" i="0">
                <a:solidFill>
                  <a:srgbClr val="2E7D5B"/>
                </a:solidFill>
                <a:latin typeface="Calibri"/>
              </a:rPr>
              <a:t>TTS Output
(SpeechSynthesis API)</a:t>
            </a:r>
          </a:p>
        </p:txBody>
      </p:sp>
      <p:sp>
        <p:nvSpPr>
          <p:cNvPr id="30" name="TextBox 29"/>
          <p:cNvSpPr txBox="1"/>
          <p:nvPr/>
        </p:nvSpPr>
        <p:spPr>
          <a:xfrm>
            <a:off x="9189720" y="2340864"/>
            <a:ext cx="2487168" cy="1371600"/>
          </a:xfrm>
          <a:prstGeom prst="rect">
            <a:avLst/>
          </a:prstGeom>
          <a:noFill/>
        </p:spPr>
        <p:txBody>
          <a:bodyPr wrap="square">
            <a:spAutoFit/>
          </a:bodyPr>
          <a:lstStyle/>
          <a:p>
            <a:pPr algn="l"/>
            <a:r>
              <a:rPr sz="1000" b="0" i="0">
                <a:solidFill>
                  <a:srgbClr val="3A4270"/>
                </a:solidFill>
                <a:latin typeface="Calibri"/>
              </a:rPr>
              <a:t>speak() creates
SpeechSynthesisUtterance
with detected lang code.</a:t>
            </a:r>
          </a:p>
        </p:txBody>
      </p:sp>
      <p:sp>
        <p:nvSpPr>
          <p:cNvPr id="31" name="Rectangle 30"/>
          <p:cNvSpPr/>
          <p:nvPr/>
        </p:nvSpPr>
        <p:spPr>
          <a:xfrm>
            <a:off x="9144000" y="3703320"/>
            <a:ext cx="2578608" cy="1188720"/>
          </a:xfrm>
          <a:prstGeom prst="rect">
            <a:avLst/>
          </a:prstGeom>
          <a:solidFill>
            <a:srgbClr val="F6EFE2"/>
          </a:solidFill>
          <a:ln w="635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17152" y="3767328"/>
            <a:ext cx="2423160" cy="1051560"/>
          </a:xfrm>
          <a:prstGeom prst="rect">
            <a:avLst/>
          </a:prstGeom>
          <a:noFill/>
        </p:spPr>
        <p:txBody>
          <a:bodyPr wrap="square">
            <a:spAutoFit/>
          </a:bodyPr>
          <a:lstStyle/>
          <a:p>
            <a:pPr algn="l"/>
            <a:r>
              <a:rPr sz="850" b="0" i="1">
                <a:solidFill>
                  <a:srgbClr val="1B2143"/>
                </a:solidFill>
                <a:latin typeface="Calibri"/>
              </a:rPr>
              <a:t>SpeechSynthesisUtterance
.lang = detected code
Voice matched by browser</a:t>
            </a:r>
          </a:p>
        </p:txBody>
      </p:sp>
      <p:sp>
        <p:nvSpPr>
          <p:cNvPr id="33" name="Rectangle 32"/>
          <p:cNvSpPr/>
          <p:nvPr/>
        </p:nvSpPr>
        <p:spPr>
          <a:xfrm>
            <a:off x="411480" y="5257800"/>
            <a:ext cx="11430000" cy="1298448"/>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321808"/>
            <a:ext cx="2743200" cy="320040"/>
          </a:xfrm>
          <a:prstGeom prst="rect">
            <a:avLst/>
          </a:prstGeom>
          <a:noFill/>
        </p:spPr>
        <p:txBody>
          <a:bodyPr wrap="square">
            <a:spAutoFit/>
          </a:bodyPr>
          <a:lstStyle/>
          <a:p>
            <a:pPr algn="l"/>
            <a:r>
              <a:rPr sz="1000" b="1" i="0">
                <a:solidFill>
                  <a:srgbClr val="F2A007"/>
                </a:solidFill>
                <a:latin typeface="Calibri"/>
              </a:rPr>
              <a:t>Languages supported</a:t>
            </a:r>
          </a:p>
        </p:txBody>
      </p:sp>
      <p:sp>
        <p:nvSpPr>
          <p:cNvPr id="35" name="TextBox 34"/>
          <p:cNvSpPr txBox="1"/>
          <p:nvPr/>
        </p:nvSpPr>
        <p:spPr>
          <a:xfrm>
            <a:off x="548640" y="5687568"/>
            <a:ext cx="1783080" cy="347472"/>
          </a:xfrm>
          <a:prstGeom prst="rect">
            <a:avLst/>
          </a:prstGeom>
          <a:noFill/>
        </p:spPr>
        <p:txBody>
          <a:bodyPr wrap="square">
            <a:spAutoFit/>
          </a:bodyPr>
          <a:lstStyle/>
          <a:p>
            <a:pPr algn="ctr"/>
            <a:r>
              <a:rPr sz="1400" b="1" i="0">
                <a:solidFill>
                  <a:srgbClr val="F2A007"/>
                </a:solidFill>
                <a:latin typeface="Calibri"/>
              </a:rPr>
              <a:t>हिन्दी</a:t>
            </a:r>
          </a:p>
        </p:txBody>
      </p:sp>
      <p:sp>
        <p:nvSpPr>
          <p:cNvPr id="36" name="TextBox 35"/>
          <p:cNvSpPr txBox="1"/>
          <p:nvPr/>
        </p:nvSpPr>
        <p:spPr>
          <a:xfrm>
            <a:off x="548640" y="6035040"/>
            <a:ext cx="1783080" cy="228600"/>
          </a:xfrm>
          <a:prstGeom prst="rect">
            <a:avLst/>
          </a:prstGeom>
          <a:noFill/>
        </p:spPr>
        <p:txBody>
          <a:bodyPr wrap="square">
            <a:spAutoFit/>
          </a:bodyPr>
          <a:lstStyle/>
          <a:p>
            <a:pPr algn="ctr"/>
            <a:r>
              <a:rPr sz="800" b="0" i="0">
                <a:solidFill>
                  <a:srgbClr val="FFFFFF"/>
                </a:solidFill>
                <a:latin typeface="Calibri"/>
              </a:rPr>
              <a:t>Hindi · hi-IN</a:t>
            </a:r>
          </a:p>
        </p:txBody>
      </p:sp>
      <p:sp>
        <p:nvSpPr>
          <p:cNvPr id="37" name="TextBox 36"/>
          <p:cNvSpPr txBox="1"/>
          <p:nvPr/>
        </p:nvSpPr>
        <p:spPr>
          <a:xfrm>
            <a:off x="548640" y="6263640"/>
            <a:ext cx="1783080" cy="228600"/>
          </a:xfrm>
          <a:prstGeom prst="rect">
            <a:avLst/>
          </a:prstGeom>
          <a:noFill/>
        </p:spPr>
        <p:txBody>
          <a:bodyPr wrap="square">
            <a:spAutoFit/>
          </a:bodyPr>
          <a:lstStyle/>
          <a:p>
            <a:pPr algn="ctr"/>
            <a:r>
              <a:rPr sz="700" b="0" i="0">
                <a:solidFill>
                  <a:srgbClr val="8088AA"/>
                </a:solidFill>
                <a:latin typeface="Calibri"/>
              </a:rPr>
              <a:t>Devanagari U+0900–U+097F</a:t>
            </a:r>
          </a:p>
        </p:txBody>
      </p:sp>
      <p:sp>
        <p:nvSpPr>
          <p:cNvPr id="38" name="TextBox 37"/>
          <p:cNvSpPr txBox="1"/>
          <p:nvPr/>
        </p:nvSpPr>
        <p:spPr>
          <a:xfrm>
            <a:off x="2423159" y="5687568"/>
            <a:ext cx="1783080" cy="347472"/>
          </a:xfrm>
          <a:prstGeom prst="rect">
            <a:avLst/>
          </a:prstGeom>
          <a:noFill/>
        </p:spPr>
        <p:txBody>
          <a:bodyPr wrap="square">
            <a:spAutoFit/>
          </a:bodyPr>
          <a:lstStyle/>
          <a:p>
            <a:pPr algn="ctr"/>
            <a:r>
              <a:rPr sz="1400" b="1" i="0">
                <a:solidFill>
                  <a:srgbClr val="F2A007"/>
                </a:solidFill>
                <a:latin typeface="Calibri"/>
              </a:rPr>
              <a:t>தமிழ்</a:t>
            </a:r>
          </a:p>
        </p:txBody>
      </p:sp>
      <p:sp>
        <p:nvSpPr>
          <p:cNvPr id="39" name="TextBox 38"/>
          <p:cNvSpPr txBox="1"/>
          <p:nvPr/>
        </p:nvSpPr>
        <p:spPr>
          <a:xfrm>
            <a:off x="2423159" y="6035040"/>
            <a:ext cx="1783080" cy="228600"/>
          </a:xfrm>
          <a:prstGeom prst="rect">
            <a:avLst/>
          </a:prstGeom>
          <a:noFill/>
        </p:spPr>
        <p:txBody>
          <a:bodyPr wrap="square">
            <a:spAutoFit/>
          </a:bodyPr>
          <a:lstStyle/>
          <a:p>
            <a:pPr algn="ctr"/>
            <a:r>
              <a:rPr sz="800" b="0" i="0">
                <a:solidFill>
                  <a:srgbClr val="FFFFFF"/>
                </a:solidFill>
                <a:latin typeface="Calibri"/>
              </a:rPr>
              <a:t>Tamil · ta-IN</a:t>
            </a:r>
          </a:p>
        </p:txBody>
      </p:sp>
      <p:sp>
        <p:nvSpPr>
          <p:cNvPr id="40" name="TextBox 39"/>
          <p:cNvSpPr txBox="1"/>
          <p:nvPr/>
        </p:nvSpPr>
        <p:spPr>
          <a:xfrm>
            <a:off x="2423159" y="6263640"/>
            <a:ext cx="1783080" cy="228600"/>
          </a:xfrm>
          <a:prstGeom prst="rect">
            <a:avLst/>
          </a:prstGeom>
          <a:noFill/>
        </p:spPr>
        <p:txBody>
          <a:bodyPr wrap="square">
            <a:spAutoFit/>
          </a:bodyPr>
          <a:lstStyle/>
          <a:p>
            <a:pPr algn="ctr"/>
            <a:r>
              <a:rPr sz="700" b="0" i="0">
                <a:solidFill>
                  <a:srgbClr val="8088AA"/>
                </a:solidFill>
                <a:latin typeface="Calibri"/>
              </a:rPr>
              <a:t>Tamil U+0B80–U+0BFF</a:t>
            </a:r>
          </a:p>
        </p:txBody>
      </p:sp>
      <p:sp>
        <p:nvSpPr>
          <p:cNvPr id="41" name="TextBox 40"/>
          <p:cNvSpPr txBox="1"/>
          <p:nvPr/>
        </p:nvSpPr>
        <p:spPr>
          <a:xfrm>
            <a:off x="4297678" y="5687568"/>
            <a:ext cx="1783080" cy="347472"/>
          </a:xfrm>
          <a:prstGeom prst="rect">
            <a:avLst/>
          </a:prstGeom>
          <a:noFill/>
        </p:spPr>
        <p:txBody>
          <a:bodyPr wrap="square">
            <a:spAutoFit/>
          </a:bodyPr>
          <a:lstStyle/>
          <a:p>
            <a:pPr algn="ctr"/>
            <a:r>
              <a:rPr sz="1400" b="1" i="0">
                <a:solidFill>
                  <a:srgbClr val="F2A007"/>
                </a:solidFill>
                <a:latin typeface="Calibri"/>
              </a:rPr>
              <a:t>తెలుగు</a:t>
            </a:r>
          </a:p>
        </p:txBody>
      </p:sp>
      <p:sp>
        <p:nvSpPr>
          <p:cNvPr id="42" name="TextBox 41"/>
          <p:cNvSpPr txBox="1"/>
          <p:nvPr/>
        </p:nvSpPr>
        <p:spPr>
          <a:xfrm>
            <a:off x="4297678" y="6035040"/>
            <a:ext cx="1783080" cy="228600"/>
          </a:xfrm>
          <a:prstGeom prst="rect">
            <a:avLst/>
          </a:prstGeom>
          <a:noFill/>
        </p:spPr>
        <p:txBody>
          <a:bodyPr wrap="square">
            <a:spAutoFit/>
          </a:bodyPr>
          <a:lstStyle/>
          <a:p>
            <a:pPr algn="ctr"/>
            <a:r>
              <a:rPr sz="800" b="0" i="0">
                <a:solidFill>
                  <a:srgbClr val="FFFFFF"/>
                </a:solidFill>
                <a:latin typeface="Calibri"/>
              </a:rPr>
              <a:t>Telugu · te-IN</a:t>
            </a:r>
          </a:p>
        </p:txBody>
      </p:sp>
      <p:sp>
        <p:nvSpPr>
          <p:cNvPr id="43" name="TextBox 42"/>
          <p:cNvSpPr txBox="1"/>
          <p:nvPr/>
        </p:nvSpPr>
        <p:spPr>
          <a:xfrm>
            <a:off x="4297678" y="6263640"/>
            <a:ext cx="1783080" cy="228600"/>
          </a:xfrm>
          <a:prstGeom prst="rect">
            <a:avLst/>
          </a:prstGeom>
          <a:noFill/>
        </p:spPr>
        <p:txBody>
          <a:bodyPr wrap="square">
            <a:spAutoFit/>
          </a:bodyPr>
          <a:lstStyle/>
          <a:p>
            <a:pPr algn="ctr"/>
            <a:r>
              <a:rPr sz="700" b="0" i="0">
                <a:solidFill>
                  <a:srgbClr val="8088AA"/>
                </a:solidFill>
                <a:latin typeface="Calibri"/>
              </a:rPr>
              <a:t>Telugu U+0C00–U+0C7F</a:t>
            </a:r>
          </a:p>
        </p:txBody>
      </p:sp>
      <p:sp>
        <p:nvSpPr>
          <p:cNvPr id="44" name="TextBox 43"/>
          <p:cNvSpPr txBox="1"/>
          <p:nvPr/>
        </p:nvSpPr>
        <p:spPr>
          <a:xfrm>
            <a:off x="6172197" y="5687568"/>
            <a:ext cx="1783080" cy="347472"/>
          </a:xfrm>
          <a:prstGeom prst="rect">
            <a:avLst/>
          </a:prstGeom>
          <a:noFill/>
        </p:spPr>
        <p:txBody>
          <a:bodyPr wrap="square">
            <a:spAutoFit/>
          </a:bodyPr>
          <a:lstStyle/>
          <a:p>
            <a:pPr algn="ctr"/>
            <a:r>
              <a:rPr sz="1400" b="1" i="0">
                <a:solidFill>
                  <a:srgbClr val="F2A007"/>
                </a:solidFill>
                <a:latin typeface="Calibri"/>
              </a:rPr>
              <a:t>ಕನ್ನಡ</a:t>
            </a:r>
          </a:p>
        </p:txBody>
      </p:sp>
      <p:sp>
        <p:nvSpPr>
          <p:cNvPr id="45" name="TextBox 44"/>
          <p:cNvSpPr txBox="1"/>
          <p:nvPr/>
        </p:nvSpPr>
        <p:spPr>
          <a:xfrm>
            <a:off x="6172197" y="6035040"/>
            <a:ext cx="1783080" cy="228600"/>
          </a:xfrm>
          <a:prstGeom prst="rect">
            <a:avLst/>
          </a:prstGeom>
          <a:noFill/>
        </p:spPr>
        <p:txBody>
          <a:bodyPr wrap="square">
            <a:spAutoFit/>
          </a:bodyPr>
          <a:lstStyle/>
          <a:p>
            <a:pPr algn="ctr"/>
            <a:r>
              <a:rPr sz="800" b="0" i="0">
                <a:solidFill>
                  <a:srgbClr val="FFFFFF"/>
                </a:solidFill>
                <a:latin typeface="Calibri"/>
              </a:rPr>
              <a:t>Kannada · kn-IN</a:t>
            </a:r>
          </a:p>
        </p:txBody>
      </p:sp>
      <p:sp>
        <p:nvSpPr>
          <p:cNvPr id="46" name="TextBox 45"/>
          <p:cNvSpPr txBox="1"/>
          <p:nvPr/>
        </p:nvSpPr>
        <p:spPr>
          <a:xfrm>
            <a:off x="6172197" y="6263640"/>
            <a:ext cx="1783080" cy="228600"/>
          </a:xfrm>
          <a:prstGeom prst="rect">
            <a:avLst/>
          </a:prstGeom>
          <a:noFill/>
        </p:spPr>
        <p:txBody>
          <a:bodyPr wrap="square">
            <a:spAutoFit/>
          </a:bodyPr>
          <a:lstStyle/>
          <a:p>
            <a:pPr algn="ctr"/>
            <a:r>
              <a:rPr sz="700" b="0" i="0">
                <a:solidFill>
                  <a:srgbClr val="8088AA"/>
                </a:solidFill>
                <a:latin typeface="Calibri"/>
              </a:rPr>
              <a:t>Kannada U+0C80–U+0CFF</a:t>
            </a:r>
          </a:p>
        </p:txBody>
      </p:sp>
      <p:sp>
        <p:nvSpPr>
          <p:cNvPr id="47" name="TextBox 46"/>
          <p:cNvSpPr txBox="1"/>
          <p:nvPr/>
        </p:nvSpPr>
        <p:spPr>
          <a:xfrm>
            <a:off x="8046716" y="5687568"/>
            <a:ext cx="1783080" cy="347472"/>
          </a:xfrm>
          <a:prstGeom prst="rect">
            <a:avLst/>
          </a:prstGeom>
          <a:noFill/>
        </p:spPr>
        <p:txBody>
          <a:bodyPr wrap="square">
            <a:spAutoFit/>
          </a:bodyPr>
          <a:lstStyle/>
          <a:p>
            <a:pPr algn="ctr"/>
            <a:r>
              <a:rPr sz="1400" b="1" i="0">
                <a:solidFill>
                  <a:srgbClr val="F2A007"/>
                </a:solidFill>
                <a:latin typeface="Calibri"/>
              </a:rPr>
              <a:t>বাংলা</a:t>
            </a:r>
          </a:p>
        </p:txBody>
      </p:sp>
      <p:sp>
        <p:nvSpPr>
          <p:cNvPr id="48" name="TextBox 47"/>
          <p:cNvSpPr txBox="1"/>
          <p:nvPr/>
        </p:nvSpPr>
        <p:spPr>
          <a:xfrm>
            <a:off x="8046716" y="6035040"/>
            <a:ext cx="1783080" cy="228600"/>
          </a:xfrm>
          <a:prstGeom prst="rect">
            <a:avLst/>
          </a:prstGeom>
          <a:noFill/>
        </p:spPr>
        <p:txBody>
          <a:bodyPr wrap="square">
            <a:spAutoFit/>
          </a:bodyPr>
          <a:lstStyle/>
          <a:p>
            <a:pPr algn="ctr"/>
            <a:r>
              <a:rPr sz="800" b="0" i="0">
                <a:solidFill>
                  <a:srgbClr val="FFFFFF"/>
                </a:solidFill>
                <a:latin typeface="Calibri"/>
              </a:rPr>
              <a:t>Bengali · bn-IN</a:t>
            </a:r>
          </a:p>
        </p:txBody>
      </p:sp>
      <p:sp>
        <p:nvSpPr>
          <p:cNvPr id="49" name="TextBox 48"/>
          <p:cNvSpPr txBox="1"/>
          <p:nvPr/>
        </p:nvSpPr>
        <p:spPr>
          <a:xfrm>
            <a:off x="8046716" y="6263640"/>
            <a:ext cx="1783080" cy="228600"/>
          </a:xfrm>
          <a:prstGeom prst="rect">
            <a:avLst/>
          </a:prstGeom>
          <a:noFill/>
        </p:spPr>
        <p:txBody>
          <a:bodyPr wrap="square">
            <a:spAutoFit/>
          </a:bodyPr>
          <a:lstStyle/>
          <a:p>
            <a:pPr algn="ctr"/>
            <a:r>
              <a:rPr sz="700" b="0" i="0">
                <a:solidFill>
                  <a:srgbClr val="8088AA"/>
                </a:solidFill>
                <a:latin typeface="Calibri"/>
              </a:rPr>
              <a:t>Bengali U+0980–U+09FF</a:t>
            </a:r>
          </a:p>
        </p:txBody>
      </p:sp>
      <p:sp>
        <p:nvSpPr>
          <p:cNvPr id="50" name="TextBox 49"/>
          <p:cNvSpPr txBox="1"/>
          <p:nvPr/>
        </p:nvSpPr>
        <p:spPr>
          <a:xfrm>
            <a:off x="9921235" y="5687568"/>
            <a:ext cx="1783080" cy="347472"/>
          </a:xfrm>
          <a:prstGeom prst="rect">
            <a:avLst/>
          </a:prstGeom>
          <a:noFill/>
        </p:spPr>
        <p:txBody>
          <a:bodyPr wrap="square">
            <a:spAutoFit/>
          </a:bodyPr>
          <a:lstStyle/>
          <a:p>
            <a:pPr algn="ctr"/>
            <a:r>
              <a:rPr sz="1400" b="1" i="0">
                <a:solidFill>
                  <a:srgbClr val="F2A007"/>
                </a:solidFill>
                <a:latin typeface="Calibri"/>
              </a:rPr>
              <a:t>English</a:t>
            </a:r>
          </a:p>
        </p:txBody>
      </p:sp>
      <p:sp>
        <p:nvSpPr>
          <p:cNvPr id="51" name="TextBox 50"/>
          <p:cNvSpPr txBox="1"/>
          <p:nvPr/>
        </p:nvSpPr>
        <p:spPr>
          <a:xfrm>
            <a:off x="9921235" y="6035040"/>
            <a:ext cx="1783080" cy="228600"/>
          </a:xfrm>
          <a:prstGeom prst="rect">
            <a:avLst/>
          </a:prstGeom>
          <a:noFill/>
        </p:spPr>
        <p:txBody>
          <a:bodyPr wrap="square">
            <a:spAutoFit/>
          </a:bodyPr>
          <a:lstStyle/>
          <a:p>
            <a:pPr algn="ctr"/>
            <a:r>
              <a:rPr sz="800" b="0" i="0">
                <a:solidFill>
                  <a:srgbClr val="FFFFFF"/>
                </a:solidFill>
                <a:latin typeface="Calibri"/>
              </a:rPr>
              <a:t>English · en-IN</a:t>
            </a:r>
          </a:p>
        </p:txBody>
      </p:sp>
      <p:sp>
        <p:nvSpPr>
          <p:cNvPr id="52" name="TextBox 51"/>
          <p:cNvSpPr txBox="1"/>
          <p:nvPr/>
        </p:nvSpPr>
        <p:spPr>
          <a:xfrm>
            <a:off x="9921235" y="6263640"/>
            <a:ext cx="1783080" cy="228600"/>
          </a:xfrm>
          <a:prstGeom prst="rect">
            <a:avLst/>
          </a:prstGeom>
          <a:noFill/>
        </p:spPr>
        <p:txBody>
          <a:bodyPr wrap="square">
            <a:spAutoFit/>
          </a:bodyPr>
          <a:lstStyle/>
          <a:p>
            <a:pPr algn="ctr"/>
            <a:r>
              <a:rPr sz="700" b="0" i="0">
                <a:solidFill>
                  <a:srgbClr val="8088AA"/>
                </a:solidFill>
                <a:latin typeface="Calibri"/>
              </a:rPr>
              <a:t>Default fallback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2700000">
            <a:off x="11155680" y="365760"/>
            <a:ext cx="731520" cy="73152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47472"/>
            <a:ext cx="10972800" cy="320040"/>
          </a:xfrm>
          <a:prstGeom prst="rect">
            <a:avLst/>
          </a:prstGeom>
          <a:noFill/>
        </p:spPr>
        <p:txBody>
          <a:bodyPr wrap="square">
            <a:spAutoFit/>
          </a:bodyPr>
          <a:lstStyle/>
          <a:p>
            <a:pPr algn="l"/>
            <a:r>
              <a:rPr sz="800" b="1" i="0">
                <a:solidFill>
                  <a:srgbClr val="D88B00"/>
                </a:solidFill>
                <a:latin typeface="Calibri"/>
              </a:rPr>
              <a:t>DATA ARCHITECTURE — PRIVACY BY DESIGN  ·  DPDP ACT 2023 READY</a:t>
            </a:r>
          </a:p>
        </p:txBody>
      </p:sp>
      <p:sp>
        <p:nvSpPr>
          <p:cNvPr id="5" name="TextBox 4"/>
          <p:cNvSpPr txBox="1"/>
          <p:nvPr/>
        </p:nvSpPr>
        <p:spPr>
          <a:xfrm>
            <a:off x="457200" y="713232"/>
            <a:ext cx="10972800" cy="594360"/>
          </a:xfrm>
          <a:prstGeom prst="rect">
            <a:avLst/>
          </a:prstGeom>
          <a:noFill/>
        </p:spPr>
        <p:txBody>
          <a:bodyPr wrap="square">
            <a:spAutoFit/>
          </a:bodyPr>
          <a:lstStyle/>
          <a:p>
            <a:pPr algn="l"/>
            <a:r>
              <a:rPr sz="2400" b="1" i="0">
                <a:solidFill>
                  <a:srgbClr val="FFFFFF"/>
                </a:solidFill>
                <a:latin typeface="Palatino Linotype"/>
              </a:rPr>
              <a:t>What we store. What we don't. Why every choice was deliberate.</a:t>
            </a:r>
          </a:p>
        </p:txBody>
      </p:sp>
      <p:sp>
        <p:nvSpPr>
          <p:cNvPr id="6" name="Rectangle 5"/>
          <p:cNvSpPr/>
          <p:nvPr/>
        </p:nvSpPr>
        <p:spPr>
          <a:xfrm>
            <a:off x="411480" y="1444752"/>
            <a:ext cx="5349240" cy="4937760"/>
          </a:xfrm>
          <a:prstGeom prst="rect">
            <a:avLst/>
          </a:prstGeom>
          <a:solidFill>
            <a:srgbClr val="2A31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444752"/>
            <a:ext cx="5349240" cy="54864"/>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5029200" cy="347472"/>
          </a:xfrm>
          <a:prstGeom prst="rect">
            <a:avLst/>
          </a:prstGeom>
          <a:noFill/>
        </p:spPr>
        <p:txBody>
          <a:bodyPr wrap="square">
            <a:spAutoFit/>
          </a:bodyPr>
          <a:lstStyle/>
          <a:p>
            <a:pPr algn="l"/>
            <a:r>
              <a:rPr sz="1000" b="1" i="0">
                <a:solidFill>
                  <a:srgbClr val="2E7D5B"/>
                </a:solidFill>
                <a:latin typeface="Calibri"/>
              </a:rPr>
              <a:t>WHAT WE STORE  (minimal, purposeful)</a:t>
            </a:r>
          </a:p>
        </p:txBody>
      </p:sp>
      <p:sp>
        <p:nvSpPr>
          <p:cNvPr id="9" name="Rectangle 8"/>
          <p:cNvSpPr/>
          <p:nvPr/>
        </p:nvSpPr>
        <p:spPr>
          <a:xfrm>
            <a:off x="566928" y="1965960"/>
            <a:ext cx="5029200" cy="91440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39112"/>
            <a:ext cx="1645920" cy="274320"/>
          </a:xfrm>
          <a:prstGeom prst="rect">
            <a:avLst/>
          </a:prstGeom>
          <a:noFill/>
        </p:spPr>
        <p:txBody>
          <a:bodyPr wrap="square">
            <a:spAutoFit/>
          </a:bodyPr>
          <a:lstStyle/>
          <a:p>
            <a:pPr algn="l"/>
            <a:r>
              <a:rPr sz="1100" b="1" i="0">
                <a:solidFill>
                  <a:srgbClr val="2E7D5B"/>
                </a:solidFill>
                <a:latin typeface="Calibri"/>
              </a:rPr>
              <a:t>sessions</a:t>
            </a:r>
          </a:p>
        </p:txBody>
      </p:sp>
      <p:sp>
        <p:nvSpPr>
          <p:cNvPr id="11" name="TextBox 10"/>
          <p:cNvSpPr txBox="1"/>
          <p:nvPr/>
        </p:nvSpPr>
        <p:spPr>
          <a:xfrm>
            <a:off x="685800" y="2313432"/>
            <a:ext cx="4754880" cy="256032"/>
          </a:xfrm>
          <a:prstGeom prst="rect">
            <a:avLst/>
          </a:prstGeom>
          <a:noFill/>
        </p:spPr>
        <p:txBody>
          <a:bodyPr wrap="square">
            <a:spAutoFit/>
          </a:bodyPr>
          <a:lstStyle/>
          <a:p>
            <a:pPr algn="l"/>
            <a:r>
              <a:rPr sz="850" b="0" i="1">
                <a:solidFill>
                  <a:srgbClr val="F2A007"/>
                </a:solidFill>
                <a:latin typeface="Calibri"/>
              </a:rPr>
              <a:t>UUID · language · is_demo · timestamp</a:t>
            </a:r>
          </a:p>
        </p:txBody>
      </p:sp>
      <p:sp>
        <p:nvSpPr>
          <p:cNvPr id="12" name="TextBox 11"/>
          <p:cNvSpPr txBox="1"/>
          <p:nvPr/>
        </p:nvSpPr>
        <p:spPr>
          <a:xfrm>
            <a:off x="685800" y="2560320"/>
            <a:ext cx="4754880" cy="274320"/>
          </a:xfrm>
          <a:prstGeom prst="rect">
            <a:avLst/>
          </a:prstGeom>
          <a:noFill/>
        </p:spPr>
        <p:txBody>
          <a:bodyPr wrap="square">
            <a:spAutoFit/>
          </a:bodyPr>
          <a:lstStyle/>
          <a:p>
            <a:pPr algn="l"/>
            <a:r>
              <a:rPr sz="850" b="0" i="0">
                <a:solidFill>
                  <a:srgbClr val="C0C8FF"/>
                </a:solidFill>
                <a:latin typeface="Calibri"/>
              </a:rPr>
              <a:t>No name, no phone, no location. UUID generated client-side.</a:t>
            </a:r>
          </a:p>
        </p:txBody>
      </p:sp>
      <p:sp>
        <p:nvSpPr>
          <p:cNvPr id="13" name="Rectangle 12"/>
          <p:cNvSpPr/>
          <p:nvPr/>
        </p:nvSpPr>
        <p:spPr>
          <a:xfrm>
            <a:off x="566928" y="3044952"/>
            <a:ext cx="5029200" cy="91440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118104"/>
            <a:ext cx="1645920" cy="274320"/>
          </a:xfrm>
          <a:prstGeom prst="rect">
            <a:avLst/>
          </a:prstGeom>
          <a:noFill/>
        </p:spPr>
        <p:txBody>
          <a:bodyPr wrap="square">
            <a:spAutoFit/>
          </a:bodyPr>
          <a:lstStyle/>
          <a:p>
            <a:pPr algn="l"/>
            <a:r>
              <a:rPr sz="1100" b="1" i="0">
                <a:solidFill>
                  <a:srgbClr val="2E7D5B"/>
                </a:solidFill>
                <a:latin typeface="Calibri"/>
              </a:rPr>
              <a:t>events</a:t>
            </a:r>
          </a:p>
        </p:txBody>
      </p:sp>
      <p:sp>
        <p:nvSpPr>
          <p:cNvPr id="15" name="TextBox 14"/>
          <p:cNvSpPr txBox="1"/>
          <p:nvPr/>
        </p:nvSpPr>
        <p:spPr>
          <a:xfrm>
            <a:off x="685800" y="3392424"/>
            <a:ext cx="4754880" cy="256032"/>
          </a:xfrm>
          <a:prstGeom prst="rect">
            <a:avLst/>
          </a:prstGeom>
          <a:noFill/>
        </p:spPr>
        <p:txBody>
          <a:bodyPr wrap="square">
            <a:spAutoFit/>
          </a:bodyPr>
          <a:lstStyle/>
          <a:p>
            <a:pPr algn="l"/>
            <a:r>
              <a:rPr sz="850" b="0" i="1">
                <a:solidFill>
                  <a:srgbClr val="F2A007"/>
                </a:solidFill>
                <a:latin typeface="Calibri"/>
              </a:rPr>
              <a:t>session_id · event_type · payload · timestamp</a:t>
            </a:r>
          </a:p>
        </p:txBody>
      </p:sp>
      <p:sp>
        <p:nvSpPr>
          <p:cNvPr id="16" name="TextBox 15"/>
          <p:cNvSpPr txBox="1"/>
          <p:nvPr/>
        </p:nvSpPr>
        <p:spPr>
          <a:xfrm>
            <a:off x="685800" y="3639312"/>
            <a:ext cx="4754880" cy="274320"/>
          </a:xfrm>
          <a:prstGeom prst="rect">
            <a:avLst/>
          </a:prstGeom>
          <a:noFill/>
        </p:spPr>
        <p:txBody>
          <a:bodyPr wrap="square">
            <a:spAutoFit/>
          </a:bodyPr>
          <a:lstStyle/>
          <a:p>
            <a:pPr algn="l"/>
            <a:r>
              <a:rPr sz="850" b="0" i="0">
                <a:solidFill>
                  <a:srgbClr val="C0C8FF"/>
                </a:solidFill>
                <a:latin typeface="Calibri"/>
              </a:rPr>
              <a:t>Funnel analytics only: session_start, interview_answer,
kit_generated, whatsapp_copied.</a:t>
            </a:r>
          </a:p>
        </p:txBody>
      </p:sp>
      <p:sp>
        <p:nvSpPr>
          <p:cNvPr id="17" name="Rectangle 16"/>
          <p:cNvSpPr/>
          <p:nvPr/>
        </p:nvSpPr>
        <p:spPr>
          <a:xfrm>
            <a:off x="566928" y="4123944"/>
            <a:ext cx="5029200" cy="91440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197096"/>
            <a:ext cx="1645920" cy="274320"/>
          </a:xfrm>
          <a:prstGeom prst="rect">
            <a:avLst/>
          </a:prstGeom>
          <a:noFill/>
        </p:spPr>
        <p:txBody>
          <a:bodyPr wrap="square">
            <a:spAutoFit/>
          </a:bodyPr>
          <a:lstStyle/>
          <a:p>
            <a:pPr algn="l"/>
            <a:r>
              <a:rPr sz="1100" b="1" i="0">
                <a:solidFill>
                  <a:srgbClr val="2E7D5B"/>
                </a:solidFill>
                <a:latin typeface="Calibri"/>
              </a:rPr>
              <a:t>kits</a:t>
            </a:r>
          </a:p>
        </p:txBody>
      </p:sp>
      <p:sp>
        <p:nvSpPr>
          <p:cNvPr id="19" name="TextBox 18"/>
          <p:cNvSpPr txBox="1"/>
          <p:nvPr/>
        </p:nvSpPr>
        <p:spPr>
          <a:xfrm>
            <a:off x="685800" y="4471416"/>
            <a:ext cx="4754880" cy="256032"/>
          </a:xfrm>
          <a:prstGeom prst="rect">
            <a:avLst/>
          </a:prstGeom>
          <a:noFill/>
        </p:spPr>
        <p:txBody>
          <a:bodyPr wrap="square">
            <a:spAutoFit/>
          </a:bodyPr>
          <a:lstStyle/>
          <a:p>
            <a:pPr algn="l"/>
            <a:r>
              <a:rPr sz="850" b="0" i="1">
                <a:solidFill>
                  <a:srgbClr val="F2A007"/>
                </a:solidFill>
                <a:latin typeface="Calibri"/>
              </a:rPr>
              <a:t>session_id · kit_json · timestamp</a:t>
            </a:r>
          </a:p>
        </p:txBody>
      </p:sp>
      <p:sp>
        <p:nvSpPr>
          <p:cNvPr id="20" name="TextBox 19"/>
          <p:cNvSpPr txBox="1"/>
          <p:nvPr/>
        </p:nvSpPr>
        <p:spPr>
          <a:xfrm>
            <a:off x="685800" y="4718304"/>
            <a:ext cx="4754880" cy="274320"/>
          </a:xfrm>
          <a:prstGeom prst="rect">
            <a:avLst/>
          </a:prstGeom>
          <a:noFill/>
        </p:spPr>
        <p:txBody>
          <a:bodyPr wrap="square">
            <a:spAutoFit/>
          </a:bodyPr>
          <a:lstStyle/>
          <a:p>
            <a:pPr algn="l"/>
            <a:r>
              <a:rPr sz="850" b="0" i="0">
                <a:solidFill>
                  <a:srgbClr val="C0C8FF"/>
                </a:solidFill>
                <a:latin typeface="Calibri"/>
              </a:rPr>
              <a:t>Full Kit for product analytics. No user identity attached.
Cascade deletes with session.</a:t>
            </a:r>
          </a:p>
        </p:txBody>
      </p:sp>
      <p:sp>
        <p:nvSpPr>
          <p:cNvPr id="21" name="Rectangle 20"/>
          <p:cNvSpPr/>
          <p:nvPr/>
        </p:nvSpPr>
        <p:spPr>
          <a:xfrm>
            <a:off x="566928" y="5202936"/>
            <a:ext cx="5029200" cy="914400"/>
          </a:xfrm>
          <a:prstGeom prst="rect">
            <a:avLst/>
          </a:prstGeom>
          <a:solidFill>
            <a:srgbClr val="0A14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276088"/>
            <a:ext cx="1645920" cy="274320"/>
          </a:xfrm>
          <a:prstGeom prst="rect">
            <a:avLst/>
          </a:prstGeom>
          <a:noFill/>
        </p:spPr>
        <p:txBody>
          <a:bodyPr wrap="square">
            <a:spAutoFit/>
          </a:bodyPr>
          <a:lstStyle/>
          <a:p>
            <a:pPr algn="l"/>
            <a:r>
              <a:rPr sz="1100" b="1" i="0">
                <a:solidFill>
                  <a:srgbClr val="2E7D5B"/>
                </a:solidFill>
                <a:latin typeface="Calibri"/>
              </a:rPr>
              <a:t>schemes.json</a:t>
            </a:r>
          </a:p>
        </p:txBody>
      </p:sp>
      <p:sp>
        <p:nvSpPr>
          <p:cNvPr id="23" name="TextBox 22"/>
          <p:cNvSpPr txBox="1"/>
          <p:nvPr/>
        </p:nvSpPr>
        <p:spPr>
          <a:xfrm>
            <a:off x="685800" y="5550408"/>
            <a:ext cx="4754880" cy="256032"/>
          </a:xfrm>
          <a:prstGeom prst="rect">
            <a:avLst/>
          </a:prstGeom>
          <a:noFill/>
        </p:spPr>
        <p:txBody>
          <a:bodyPr wrap="square">
            <a:spAutoFit/>
          </a:bodyPr>
          <a:lstStyle/>
          <a:p>
            <a:pPr algn="l"/>
            <a:r>
              <a:rPr sz="850" b="0" i="1">
                <a:solidFill>
                  <a:srgbClr val="F2A007"/>
                </a:solidFill>
                <a:latin typeface="Calibri"/>
              </a:rPr>
              <a:t>Static file · version-controlled</a:t>
            </a:r>
          </a:p>
        </p:txBody>
      </p:sp>
      <p:sp>
        <p:nvSpPr>
          <p:cNvPr id="24" name="TextBox 23"/>
          <p:cNvSpPr txBox="1"/>
          <p:nvPr/>
        </p:nvSpPr>
        <p:spPr>
          <a:xfrm>
            <a:off x="685800" y="5797296"/>
            <a:ext cx="4754880" cy="274320"/>
          </a:xfrm>
          <a:prstGeom prst="rect">
            <a:avLst/>
          </a:prstGeom>
          <a:noFill/>
        </p:spPr>
        <p:txBody>
          <a:bodyPr wrap="square">
            <a:spAutoFit/>
          </a:bodyPr>
          <a:lstStyle/>
          <a:p>
            <a:pPr algn="l"/>
            <a:r>
              <a:rPr sz="850" b="0" i="0">
                <a:solidFill>
                  <a:srgbClr val="C0C8FF"/>
                </a:solidFill>
                <a:latin typeface="Calibri"/>
              </a:rPr>
              <a:t>Government schemes. No user data. Deployed with code.
Updated manually, re-verified each cycle.</a:t>
            </a:r>
          </a:p>
        </p:txBody>
      </p:sp>
      <p:sp>
        <p:nvSpPr>
          <p:cNvPr id="25" name="Rectangle 24"/>
          <p:cNvSpPr/>
          <p:nvPr/>
        </p:nvSpPr>
        <p:spPr>
          <a:xfrm>
            <a:off x="6355080" y="1444752"/>
            <a:ext cx="5394960" cy="4937760"/>
          </a:xfrm>
          <a:prstGeom prst="rect">
            <a:avLst/>
          </a:prstGeom>
          <a:solidFill>
            <a:srgbClr val="22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55080" y="1444752"/>
            <a:ext cx="539496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1508760"/>
            <a:ext cx="5029200" cy="347472"/>
          </a:xfrm>
          <a:prstGeom prst="rect">
            <a:avLst/>
          </a:prstGeom>
          <a:noFill/>
        </p:spPr>
        <p:txBody>
          <a:bodyPr wrap="square">
            <a:spAutoFit/>
          </a:bodyPr>
          <a:lstStyle/>
          <a:p>
            <a:pPr algn="l"/>
            <a:r>
              <a:rPr sz="1000" b="1" i="0">
                <a:solidFill>
                  <a:srgbClr val="DC2626"/>
                </a:solidFill>
                <a:latin typeface="Calibri"/>
              </a:rPr>
              <a:t>WHAT WE NEVER STORE</a:t>
            </a:r>
          </a:p>
        </p:txBody>
      </p:sp>
      <p:sp>
        <p:nvSpPr>
          <p:cNvPr id="28" name="TextBox 27"/>
          <p:cNvSpPr txBox="1"/>
          <p:nvPr/>
        </p:nvSpPr>
        <p:spPr>
          <a:xfrm>
            <a:off x="6510528" y="1965960"/>
            <a:ext cx="2286000" cy="292608"/>
          </a:xfrm>
          <a:prstGeom prst="rect">
            <a:avLst/>
          </a:prstGeom>
          <a:noFill/>
        </p:spPr>
        <p:txBody>
          <a:bodyPr wrap="square">
            <a:spAutoFit/>
          </a:bodyPr>
          <a:lstStyle/>
          <a:p>
            <a:pPr algn="l"/>
            <a:r>
              <a:rPr sz="1000" b="1" i="0">
                <a:solidFill>
                  <a:srgbClr val="DC2626"/>
                </a:solidFill>
                <a:latin typeface="Calibri"/>
              </a:rPr>
              <a:t>❌ Phone number</a:t>
            </a:r>
          </a:p>
        </p:txBody>
      </p:sp>
      <p:sp>
        <p:nvSpPr>
          <p:cNvPr id="29" name="TextBox 28"/>
          <p:cNvSpPr txBox="1"/>
          <p:nvPr/>
        </p:nvSpPr>
        <p:spPr>
          <a:xfrm>
            <a:off x="8887968" y="1984248"/>
            <a:ext cx="2560320" cy="292608"/>
          </a:xfrm>
          <a:prstGeom prst="rect">
            <a:avLst/>
          </a:prstGeom>
          <a:noFill/>
        </p:spPr>
        <p:txBody>
          <a:bodyPr wrap="square">
            <a:spAutoFit/>
          </a:bodyPr>
          <a:lstStyle/>
          <a:p>
            <a:pPr algn="l"/>
            <a:r>
              <a:rPr sz="900" b="0" i="0">
                <a:solidFill>
                  <a:srgbClr val="C0C8FF"/>
                </a:solidFill>
                <a:latin typeface="Calibri"/>
              </a:rPr>
              <a:t>Auth is localStorage only. No server ever sees it.</a:t>
            </a:r>
          </a:p>
        </p:txBody>
      </p:sp>
      <p:sp>
        <p:nvSpPr>
          <p:cNvPr id="30" name="TextBox 29"/>
          <p:cNvSpPr txBox="1"/>
          <p:nvPr/>
        </p:nvSpPr>
        <p:spPr>
          <a:xfrm>
            <a:off x="6510528" y="2596896"/>
            <a:ext cx="2286000" cy="292608"/>
          </a:xfrm>
          <a:prstGeom prst="rect">
            <a:avLst/>
          </a:prstGeom>
          <a:noFill/>
        </p:spPr>
        <p:txBody>
          <a:bodyPr wrap="square">
            <a:spAutoFit/>
          </a:bodyPr>
          <a:lstStyle/>
          <a:p>
            <a:pPr algn="l"/>
            <a:r>
              <a:rPr sz="1000" b="1" i="0">
                <a:solidFill>
                  <a:srgbClr val="DC2626"/>
                </a:solidFill>
                <a:latin typeface="Calibri"/>
              </a:rPr>
              <a:t>❌ Real name</a:t>
            </a:r>
          </a:p>
        </p:txBody>
      </p:sp>
      <p:sp>
        <p:nvSpPr>
          <p:cNvPr id="31" name="TextBox 30"/>
          <p:cNvSpPr txBox="1"/>
          <p:nvPr/>
        </p:nvSpPr>
        <p:spPr>
          <a:xfrm>
            <a:off x="8887968" y="2615184"/>
            <a:ext cx="2560320" cy="292608"/>
          </a:xfrm>
          <a:prstGeom prst="rect">
            <a:avLst/>
          </a:prstGeom>
          <a:noFill/>
        </p:spPr>
        <p:txBody>
          <a:bodyPr wrap="square">
            <a:spAutoFit/>
          </a:bodyPr>
          <a:lstStyle/>
          <a:p>
            <a:pPr algn="l"/>
            <a:r>
              <a:rPr sz="900" b="0" i="0">
                <a:solidFill>
                  <a:srgbClr val="C0C8FF"/>
                </a:solidFill>
                <a:latin typeface="Calibri"/>
              </a:rPr>
              <a:t>All sessions use client-generated UUID.</a:t>
            </a:r>
          </a:p>
        </p:txBody>
      </p:sp>
      <p:sp>
        <p:nvSpPr>
          <p:cNvPr id="32" name="TextBox 31"/>
          <p:cNvSpPr txBox="1"/>
          <p:nvPr/>
        </p:nvSpPr>
        <p:spPr>
          <a:xfrm>
            <a:off x="6510528" y="3227832"/>
            <a:ext cx="2286000" cy="292608"/>
          </a:xfrm>
          <a:prstGeom prst="rect">
            <a:avLst/>
          </a:prstGeom>
          <a:noFill/>
        </p:spPr>
        <p:txBody>
          <a:bodyPr wrap="square">
            <a:spAutoFit/>
          </a:bodyPr>
          <a:lstStyle/>
          <a:p>
            <a:pPr algn="l"/>
            <a:r>
              <a:rPr sz="1000" b="1" i="0">
                <a:solidFill>
                  <a:srgbClr val="DC2626"/>
                </a:solidFill>
                <a:latin typeface="Calibri"/>
              </a:rPr>
              <a:t>❌ Location</a:t>
            </a:r>
          </a:p>
        </p:txBody>
      </p:sp>
      <p:sp>
        <p:nvSpPr>
          <p:cNvPr id="33" name="TextBox 32"/>
          <p:cNvSpPr txBox="1"/>
          <p:nvPr/>
        </p:nvSpPr>
        <p:spPr>
          <a:xfrm>
            <a:off x="8887968" y="3246120"/>
            <a:ext cx="2560320" cy="292608"/>
          </a:xfrm>
          <a:prstGeom prst="rect">
            <a:avLst/>
          </a:prstGeom>
          <a:noFill/>
        </p:spPr>
        <p:txBody>
          <a:bodyPr wrap="square">
            <a:spAutoFit/>
          </a:bodyPr>
          <a:lstStyle/>
          <a:p>
            <a:pPr algn="l"/>
            <a:r>
              <a:rPr sz="900" b="0" i="0">
                <a:solidFill>
                  <a:srgbClr val="C0C8FF"/>
                </a:solidFill>
                <a:latin typeface="Calibri"/>
              </a:rPr>
              <a:t>Not collected at any point in the flow.</a:t>
            </a:r>
          </a:p>
        </p:txBody>
      </p:sp>
      <p:sp>
        <p:nvSpPr>
          <p:cNvPr id="34" name="TextBox 33"/>
          <p:cNvSpPr txBox="1"/>
          <p:nvPr/>
        </p:nvSpPr>
        <p:spPr>
          <a:xfrm>
            <a:off x="6510528" y="3858768"/>
            <a:ext cx="2286000" cy="292608"/>
          </a:xfrm>
          <a:prstGeom prst="rect">
            <a:avLst/>
          </a:prstGeom>
          <a:noFill/>
        </p:spPr>
        <p:txBody>
          <a:bodyPr wrap="square">
            <a:spAutoFit/>
          </a:bodyPr>
          <a:lstStyle/>
          <a:p>
            <a:pPr algn="l"/>
            <a:r>
              <a:rPr sz="1000" b="1" i="0">
                <a:solidFill>
                  <a:srgbClr val="DC2626"/>
                </a:solidFill>
                <a:latin typeface="Calibri"/>
              </a:rPr>
              <a:t>❌ Financial data</a:t>
            </a:r>
          </a:p>
        </p:txBody>
      </p:sp>
      <p:sp>
        <p:nvSpPr>
          <p:cNvPr id="35" name="TextBox 34"/>
          <p:cNvSpPr txBox="1"/>
          <p:nvPr/>
        </p:nvSpPr>
        <p:spPr>
          <a:xfrm>
            <a:off x="8887968" y="3877056"/>
            <a:ext cx="2560320" cy="292608"/>
          </a:xfrm>
          <a:prstGeom prst="rect">
            <a:avLst/>
          </a:prstGeom>
          <a:noFill/>
        </p:spPr>
        <p:txBody>
          <a:bodyPr wrap="square">
            <a:spAutoFit/>
          </a:bodyPr>
          <a:lstStyle/>
          <a:p>
            <a:pPr algn="l"/>
            <a:r>
              <a:rPr sz="900" b="0" i="0">
                <a:solidFill>
                  <a:srgbClr val="C0C8FF"/>
                </a:solidFill>
                <a:latin typeface="Calibri"/>
              </a:rPr>
              <a:t>Income projections live in Kit JSON, linked to no identity.</a:t>
            </a:r>
          </a:p>
        </p:txBody>
      </p:sp>
      <p:sp>
        <p:nvSpPr>
          <p:cNvPr id="36" name="TextBox 35"/>
          <p:cNvSpPr txBox="1"/>
          <p:nvPr/>
        </p:nvSpPr>
        <p:spPr>
          <a:xfrm>
            <a:off x="6510528" y="4489704"/>
            <a:ext cx="2286000" cy="292608"/>
          </a:xfrm>
          <a:prstGeom prst="rect">
            <a:avLst/>
          </a:prstGeom>
          <a:noFill/>
        </p:spPr>
        <p:txBody>
          <a:bodyPr wrap="square">
            <a:spAutoFit/>
          </a:bodyPr>
          <a:lstStyle/>
          <a:p>
            <a:pPr algn="l"/>
            <a:r>
              <a:rPr sz="1000" b="1" i="0">
                <a:solidFill>
                  <a:srgbClr val="DC2626"/>
                </a:solidFill>
                <a:latin typeface="Calibri"/>
              </a:rPr>
              <a:t>❌ Conversation text</a:t>
            </a:r>
          </a:p>
        </p:txBody>
      </p:sp>
      <p:sp>
        <p:nvSpPr>
          <p:cNvPr id="37" name="TextBox 36"/>
          <p:cNvSpPr txBox="1"/>
          <p:nvPr/>
        </p:nvSpPr>
        <p:spPr>
          <a:xfrm>
            <a:off x="8887968" y="4507992"/>
            <a:ext cx="2560320" cy="292608"/>
          </a:xfrm>
          <a:prstGeom prst="rect">
            <a:avLst/>
          </a:prstGeom>
          <a:noFill/>
        </p:spPr>
        <p:txBody>
          <a:bodyPr wrap="square">
            <a:spAutoFit/>
          </a:bodyPr>
          <a:lstStyle/>
          <a:p>
            <a:pPr algn="l"/>
            <a:r>
              <a:rPr sz="900" b="0" i="0">
                <a:solidFill>
                  <a:srgbClr val="C0C8FF"/>
                </a:solidFill>
                <a:latin typeface="Calibri"/>
              </a:rPr>
              <a:t>Messages are never persisted. Only Kit output is stored.</a:t>
            </a:r>
          </a:p>
        </p:txBody>
      </p:sp>
      <p:sp>
        <p:nvSpPr>
          <p:cNvPr id="38" name="TextBox 37"/>
          <p:cNvSpPr txBox="1"/>
          <p:nvPr/>
        </p:nvSpPr>
        <p:spPr>
          <a:xfrm>
            <a:off x="6510528" y="5120640"/>
            <a:ext cx="2286000" cy="292608"/>
          </a:xfrm>
          <a:prstGeom prst="rect">
            <a:avLst/>
          </a:prstGeom>
          <a:noFill/>
        </p:spPr>
        <p:txBody>
          <a:bodyPr wrap="square">
            <a:spAutoFit/>
          </a:bodyPr>
          <a:lstStyle/>
          <a:p>
            <a:pPr algn="l"/>
            <a:r>
              <a:rPr sz="1000" b="1" i="0">
                <a:solidFill>
                  <a:srgbClr val="DC2626"/>
                </a:solidFill>
                <a:latin typeface="Calibri"/>
              </a:rPr>
              <a:t>❌ Device identifiers</a:t>
            </a:r>
          </a:p>
        </p:txBody>
      </p:sp>
      <p:sp>
        <p:nvSpPr>
          <p:cNvPr id="39" name="TextBox 38"/>
          <p:cNvSpPr txBox="1"/>
          <p:nvPr/>
        </p:nvSpPr>
        <p:spPr>
          <a:xfrm>
            <a:off x="8887968" y="5138928"/>
            <a:ext cx="2560320" cy="292608"/>
          </a:xfrm>
          <a:prstGeom prst="rect">
            <a:avLst/>
          </a:prstGeom>
          <a:noFill/>
        </p:spPr>
        <p:txBody>
          <a:bodyPr wrap="square">
            <a:spAutoFit/>
          </a:bodyPr>
          <a:lstStyle/>
          <a:p>
            <a:pPr algn="l"/>
            <a:r>
              <a:rPr sz="900" b="0" i="0">
                <a:solidFill>
                  <a:srgbClr val="C0C8FF"/>
                </a:solidFill>
                <a:latin typeface="Calibri"/>
              </a:rPr>
              <a:t>Rate limiting uses IP only, not stored beyond Redis TTL.</a:t>
            </a:r>
          </a:p>
        </p:txBody>
      </p:sp>
      <p:sp>
        <p:nvSpPr>
          <p:cNvPr id="40" name="TextBox 39"/>
          <p:cNvSpPr txBox="1"/>
          <p:nvPr/>
        </p:nvSpPr>
        <p:spPr>
          <a:xfrm>
            <a:off x="6510528" y="5751576"/>
            <a:ext cx="2286000" cy="292608"/>
          </a:xfrm>
          <a:prstGeom prst="rect">
            <a:avLst/>
          </a:prstGeom>
          <a:noFill/>
        </p:spPr>
        <p:txBody>
          <a:bodyPr wrap="square">
            <a:spAutoFit/>
          </a:bodyPr>
          <a:lstStyle/>
          <a:p>
            <a:pPr algn="l"/>
            <a:r>
              <a:rPr sz="1000" b="1" i="0">
                <a:solidFill>
                  <a:srgbClr val="DC2626"/>
                </a:solidFill>
                <a:latin typeface="Calibri"/>
              </a:rPr>
              <a:t>❌ Photos or media</a:t>
            </a:r>
          </a:p>
        </p:txBody>
      </p:sp>
      <p:sp>
        <p:nvSpPr>
          <p:cNvPr id="41" name="TextBox 40"/>
          <p:cNvSpPr txBox="1"/>
          <p:nvPr/>
        </p:nvSpPr>
        <p:spPr>
          <a:xfrm>
            <a:off x="8887968" y="5769864"/>
            <a:ext cx="2560320" cy="292608"/>
          </a:xfrm>
          <a:prstGeom prst="rect">
            <a:avLst/>
          </a:prstGeom>
          <a:noFill/>
        </p:spPr>
        <p:txBody>
          <a:bodyPr wrap="square">
            <a:spAutoFit/>
          </a:bodyPr>
          <a:lstStyle/>
          <a:p>
            <a:pPr algn="l"/>
            <a:r>
              <a:rPr sz="900" b="0" i="0">
                <a:solidFill>
                  <a:srgbClr val="C0C8FF"/>
                </a:solidFill>
                <a:latin typeface="Calibri"/>
              </a:rPr>
              <a:t>Text and voice only. No uploads.</a:t>
            </a:r>
          </a:p>
        </p:txBody>
      </p:sp>
      <p:sp>
        <p:nvSpPr>
          <p:cNvPr id="42" name="Rectangle 41"/>
          <p:cNvSpPr/>
          <p:nvPr/>
        </p:nvSpPr>
        <p:spPr>
          <a:xfrm>
            <a:off x="411480" y="6455664"/>
            <a:ext cx="11430000" cy="347472"/>
          </a:xfrm>
          <a:prstGeom prst="rect">
            <a:avLst/>
          </a:prstGeom>
          <a:solidFill>
            <a:srgbClr val="1A2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6492240"/>
            <a:ext cx="11155680" cy="274320"/>
          </a:xfrm>
          <a:prstGeom prst="rect">
            <a:avLst/>
          </a:prstGeom>
          <a:noFill/>
        </p:spPr>
        <p:txBody>
          <a:bodyPr wrap="square">
            <a:spAutoFit/>
          </a:bodyPr>
          <a:lstStyle/>
          <a:p>
            <a:pPr algn="ctr"/>
            <a:r>
              <a:rPr sz="900" b="0" i="0">
                <a:solidFill>
                  <a:srgbClr val="2E7D5B"/>
                </a:solidFill>
                <a:latin typeface="Calibri"/>
              </a:rPr>
              <a:t>India DPDP Act 2023: No 'personal data' (as defined in the Act) is collected or processed. Self-hosted DB migration completes the data sovereignty picture.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0972800" cy="320040"/>
          </a:xfrm>
          <a:prstGeom prst="rect">
            <a:avLst/>
          </a:prstGeom>
          <a:noFill/>
        </p:spPr>
        <p:txBody>
          <a:bodyPr wrap="square">
            <a:spAutoFit/>
          </a:bodyPr>
          <a:lstStyle/>
          <a:p>
            <a:pPr algn="l"/>
            <a:r>
              <a:rPr sz="800" b="1" i="0">
                <a:solidFill>
                  <a:srgbClr val="C8506E"/>
                </a:solidFill>
                <a:latin typeface="Calibri"/>
              </a:rPr>
              <a:t>SECURITY ARCHITECTURE — API KEY NEVER LEAVES THE SERVER</a:t>
            </a:r>
          </a:p>
        </p:txBody>
      </p:sp>
      <p:sp>
        <p:nvSpPr>
          <p:cNvPr id="5" name="TextBox 4"/>
          <p:cNvSpPr txBox="1"/>
          <p:nvPr/>
        </p:nvSpPr>
        <p:spPr>
          <a:xfrm>
            <a:off x="457200" y="749808"/>
            <a:ext cx="10972800" cy="594360"/>
          </a:xfrm>
          <a:prstGeom prst="rect">
            <a:avLst/>
          </a:prstGeom>
          <a:noFill/>
        </p:spPr>
        <p:txBody>
          <a:bodyPr wrap="square">
            <a:spAutoFit/>
          </a:bodyPr>
          <a:lstStyle/>
          <a:p>
            <a:pPr algn="l"/>
            <a:r>
              <a:rPr sz="2600" b="1" i="0">
                <a:solidFill>
                  <a:srgbClr val="1B2143"/>
                </a:solidFill>
                <a:latin typeface="Palatino Linotype"/>
              </a:rPr>
              <a:t>Designed to be safe when serving vulnerable users at scale.</a:t>
            </a:r>
          </a:p>
        </p:txBody>
      </p:sp>
      <p:sp>
        <p:nvSpPr>
          <p:cNvPr id="6" name="Rectangle 5"/>
          <p:cNvSpPr/>
          <p:nvPr/>
        </p:nvSpPr>
        <p:spPr>
          <a:xfrm>
            <a:off x="411480" y="1508760"/>
            <a:ext cx="11384280" cy="877824"/>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08760"/>
            <a:ext cx="54864" cy="877824"/>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3474720" cy="384048"/>
          </a:xfrm>
          <a:prstGeom prst="rect">
            <a:avLst/>
          </a:prstGeom>
          <a:noFill/>
        </p:spPr>
        <p:txBody>
          <a:bodyPr wrap="square">
            <a:spAutoFit/>
          </a:bodyPr>
          <a:lstStyle/>
          <a:p>
            <a:pPr algn="l"/>
            <a:r>
              <a:rPr sz="1100" b="1" i="0">
                <a:solidFill>
                  <a:srgbClr val="C8506E"/>
                </a:solidFill>
                <a:latin typeface="Calibri"/>
              </a:rPr>
              <a:t>🔑  API Key Isolation</a:t>
            </a:r>
          </a:p>
        </p:txBody>
      </p:sp>
      <p:sp>
        <p:nvSpPr>
          <p:cNvPr id="9" name="TextBox 8"/>
          <p:cNvSpPr txBox="1"/>
          <p:nvPr/>
        </p:nvSpPr>
        <p:spPr>
          <a:xfrm>
            <a:off x="594360" y="1965960"/>
            <a:ext cx="6949440" cy="384048"/>
          </a:xfrm>
          <a:prstGeom prst="rect">
            <a:avLst/>
          </a:prstGeom>
          <a:noFill/>
        </p:spPr>
        <p:txBody>
          <a:bodyPr wrap="square">
            <a:spAutoFit/>
          </a:bodyPr>
          <a:lstStyle/>
          <a:p>
            <a:pPr algn="l"/>
            <a:r>
              <a:rPr sz="900" b="0" i="0">
                <a:solidFill>
                  <a:srgbClr val="3A4270"/>
                </a:solidFill>
                <a:latin typeface="Calibri"/>
              </a:rPr>
              <a:t>ANTHROPIC_API_KEY is a server-side environment variable. It is never in any client bundle, never in any response header, never logged. The browser makes requests to /api/coach — a Next.js Route Handler that runs server-side only. The key is structurally inaccessible to the browser.</a:t>
            </a:r>
          </a:p>
        </p:txBody>
      </p:sp>
      <p:sp>
        <p:nvSpPr>
          <p:cNvPr id="10" name="Rectangle 9"/>
          <p:cNvSpPr/>
          <p:nvPr/>
        </p:nvSpPr>
        <p:spPr>
          <a:xfrm>
            <a:off x="7772400" y="1600200"/>
            <a:ext cx="3840480" cy="694944"/>
          </a:xfrm>
          <a:prstGeom prst="rect">
            <a:avLst/>
          </a:prstGeom>
          <a:solidFill>
            <a:srgbClr val="F6EFE2"/>
          </a:solidFill>
          <a:ln w="635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82127" y="1673352"/>
            <a:ext cx="3657600" cy="548640"/>
          </a:xfrm>
          <a:prstGeom prst="rect">
            <a:avLst/>
          </a:prstGeom>
          <a:noFill/>
        </p:spPr>
        <p:txBody>
          <a:bodyPr wrap="square">
            <a:spAutoFit/>
          </a:bodyPr>
          <a:lstStyle/>
          <a:p>
            <a:pPr algn="l"/>
            <a:r>
              <a:rPr sz="800" b="0" i="1">
                <a:solidFill>
                  <a:srgbClr val="3A4270"/>
                </a:solidFill>
                <a:latin typeface="Calibri"/>
              </a:rPr>
              <a:t>Verify: Network tab → /api/coach response never contains key</a:t>
            </a:r>
          </a:p>
        </p:txBody>
      </p:sp>
      <p:sp>
        <p:nvSpPr>
          <p:cNvPr id="12" name="Rectangle 11"/>
          <p:cNvSpPr/>
          <p:nvPr/>
        </p:nvSpPr>
        <p:spPr>
          <a:xfrm>
            <a:off x="411480" y="2468880"/>
            <a:ext cx="11384280" cy="877824"/>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468880"/>
            <a:ext cx="54864" cy="877824"/>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523744"/>
            <a:ext cx="3474720" cy="384048"/>
          </a:xfrm>
          <a:prstGeom prst="rect">
            <a:avLst/>
          </a:prstGeom>
          <a:noFill/>
        </p:spPr>
        <p:txBody>
          <a:bodyPr wrap="square">
            <a:spAutoFit/>
          </a:bodyPr>
          <a:lstStyle/>
          <a:p>
            <a:pPr algn="l"/>
            <a:r>
              <a:rPr sz="1100" b="1" i="0">
                <a:solidFill>
                  <a:srgbClr val="F2A007"/>
                </a:solidFill>
                <a:latin typeface="Calibri"/>
              </a:rPr>
              <a:t>🛡️  Input Validation (Zod)</a:t>
            </a:r>
          </a:p>
        </p:txBody>
      </p:sp>
      <p:sp>
        <p:nvSpPr>
          <p:cNvPr id="15" name="TextBox 14"/>
          <p:cNvSpPr txBox="1"/>
          <p:nvPr/>
        </p:nvSpPr>
        <p:spPr>
          <a:xfrm>
            <a:off x="594360" y="2926080"/>
            <a:ext cx="6949440" cy="384048"/>
          </a:xfrm>
          <a:prstGeom prst="rect">
            <a:avLst/>
          </a:prstGeom>
          <a:noFill/>
        </p:spPr>
        <p:txBody>
          <a:bodyPr wrap="square">
            <a:spAutoFit/>
          </a:bodyPr>
          <a:lstStyle/>
          <a:p>
            <a:pPr algn="l"/>
            <a:r>
              <a:rPr sz="900" b="0" i="0">
                <a:solidFill>
                  <a:srgbClr val="3A4270"/>
                </a:solidFill>
                <a:latin typeface="Calibri"/>
              </a:rPr>
              <a:t>Every API request is validated before any processing. CoachRequestSchema enforces: role ∈ {user, assistant}, content length 1–2000 chars, max 20 messages. SessionEventSchema enforces event types. Malformed requests return 400 — Claude is never called.</a:t>
            </a:r>
          </a:p>
        </p:txBody>
      </p:sp>
      <p:sp>
        <p:nvSpPr>
          <p:cNvPr id="16" name="Rectangle 15"/>
          <p:cNvSpPr/>
          <p:nvPr/>
        </p:nvSpPr>
        <p:spPr>
          <a:xfrm>
            <a:off x="7772400" y="2560320"/>
            <a:ext cx="3840480" cy="694944"/>
          </a:xfrm>
          <a:prstGeom prst="rect">
            <a:avLst/>
          </a:prstGeom>
          <a:solidFill>
            <a:srgbClr val="F6EFE2"/>
          </a:solidFill>
          <a:ln w="635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2127" y="2633472"/>
            <a:ext cx="3657600" cy="548640"/>
          </a:xfrm>
          <a:prstGeom prst="rect">
            <a:avLst/>
          </a:prstGeom>
          <a:noFill/>
        </p:spPr>
        <p:txBody>
          <a:bodyPr wrap="square">
            <a:spAutoFit/>
          </a:bodyPr>
          <a:lstStyle/>
          <a:p>
            <a:pPr algn="l"/>
            <a:r>
              <a:rPr sz="800" b="0" i="1">
                <a:solidFill>
                  <a:srgbClr val="3A4270"/>
                </a:solidFill>
                <a:latin typeface="Calibri"/>
              </a:rPr>
              <a:t>Code: lib/validations.ts · used in both route handlers</a:t>
            </a:r>
          </a:p>
        </p:txBody>
      </p:sp>
      <p:sp>
        <p:nvSpPr>
          <p:cNvPr id="18" name="Rectangle 17"/>
          <p:cNvSpPr/>
          <p:nvPr/>
        </p:nvSpPr>
        <p:spPr>
          <a:xfrm>
            <a:off x="411480" y="3429000"/>
            <a:ext cx="11384280" cy="877824"/>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3429000"/>
            <a:ext cx="54864" cy="87782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483864"/>
            <a:ext cx="3474720" cy="384048"/>
          </a:xfrm>
          <a:prstGeom prst="rect">
            <a:avLst/>
          </a:prstGeom>
          <a:noFill/>
        </p:spPr>
        <p:txBody>
          <a:bodyPr wrap="square">
            <a:spAutoFit/>
          </a:bodyPr>
          <a:lstStyle/>
          <a:p>
            <a:pPr algn="l"/>
            <a:r>
              <a:rPr sz="1100" b="1" i="0">
                <a:solidFill>
                  <a:srgbClr val="6366F1"/>
                </a:solidFill>
                <a:latin typeface="Calibri"/>
              </a:rPr>
              <a:t>⏱️  Rate Limiting (Upstash Redis)</a:t>
            </a:r>
          </a:p>
        </p:txBody>
      </p:sp>
      <p:sp>
        <p:nvSpPr>
          <p:cNvPr id="21" name="TextBox 20"/>
          <p:cNvSpPr txBox="1"/>
          <p:nvPr/>
        </p:nvSpPr>
        <p:spPr>
          <a:xfrm>
            <a:off x="594360" y="3886200"/>
            <a:ext cx="6949440" cy="384048"/>
          </a:xfrm>
          <a:prstGeom prst="rect">
            <a:avLst/>
          </a:prstGeom>
          <a:noFill/>
        </p:spPr>
        <p:txBody>
          <a:bodyPr wrap="square">
            <a:spAutoFit/>
          </a:bodyPr>
          <a:lstStyle/>
          <a:p>
            <a:pPr algn="l"/>
            <a:r>
              <a:rPr sz="900" b="0" i="0">
                <a:solidFill>
                  <a:srgbClr val="3A4270"/>
                </a:solidFill>
                <a:latin typeface="Calibri"/>
              </a:rPr>
              <a:t>Sliding window algorithm: 10 requests per 60 seconds per IP. Returns 429 with standard RateLimit headers (Limit, Remaining, Reset). Graceful degradation: if Redis is unavailable, the limiter is skipped rather than breaking the app (fail-open by design for MVP).</a:t>
            </a:r>
          </a:p>
        </p:txBody>
      </p:sp>
      <p:sp>
        <p:nvSpPr>
          <p:cNvPr id="22" name="Rectangle 21"/>
          <p:cNvSpPr/>
          <p:nvPr/>
        </p:nvSpPr>
        <p:spPr>
          <a:xfrm>
            <a:off x="7772400" y="3520440"/>
            <a:ext cx="3840480" cy="694944"/>
          </a:xfrm>
          <a:prstGeom prst="rect">
            <a:avLst/>
          </a:prstGeom>
          <a:solidFill>
            <a:srgbClr val="F6EFE2"/>
          </a:solidFill>
          <a:ln w="635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82127" y="3593592"/>
            <a:ext cx="3657600" cy="548640"/>
          </a:xfrm>
          <a:prstGeom prst="rect">
            <a:avLst/>
          </a:prstGeom>
          <a:noFill/>
        </p:spPr>
        <p:txBody>
          <a:bodyPr wrap="square">
            <a:spAutoFit/>
          </a:bodyPr>
          <a:lstStyle/>
          <a:p>
            <a:pPr algn="l"/>
            <a:r>
              <a:rPr sz="800" b="0" i="1">
                <a:solidFill>
                  <a:srgbClr val="3A4270"/>
                </a:solidFill>
                <a:latin typeface="Calibri"/>
              </a:rPr>
              <a:t>Code: app/api/coach/route.ts · Upstash sliding window</a:t>
            </a:r>
          </a:p>
        </p:txBody>
      </p:sp>
      <p:sp>
        <p:nvSpPr>
          <p:cNvPr id="24" name="Rectangle 23"/>
          <p:cNvSpPr/>
          <p:nvPr/>
        </p:nvSpPr>
        <p:spPr>
          <a:xfrm>
            <a:off x="411480" y="4389120"/>
            <a:ext cx="11384280" cy="877824"/>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4389120"/>
            <a:ext cx="54864" cy="877824"/>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4443984"/>
            <a:ext cx="3474720" cy="384048"/>
          </a:xfrm>
          <a:prstGeom prst="rect">
            <a:avLst/>
          </a:prstGeom>
          <a:noFill/>
        </p:spPr>
        <p:txBody>
          <a:bodyPr wrap="square">
            <a:spAutoFit/>
          </a:bodyPr>
          <a:lstStyle/>
          <a:p>
            <a:pPr algn="l"/>
            <a:r>
              <a:rPr sz="1100" b="1" i="0">
                <a:solidFill>
                  <a:srgbClr val="2E7D5B"/>
                </a:solidFill>
                <a:latin typeface="Calibri"/>
              </a:rPr>
              <a:t>🗄️  Database Security</a:t>
            </a:r>
          </a:p>
        </p:txBody>
      </p:sp>
      <p:sp>
        <p:nvSpPr>
          <p:cNvPr id="27" name="TextBox 26"/>
          <p:cNvSpPr txBox="1"/>
          <p:nvPr/>
        </p:nvSpPr>
        <p:spPr>
          <a:xfrm>
            <a:off x="594360" y="4846320"/>
            <a:ext cx="6949440" cy="384048"/>
          </a:xfrm>
          <a:prstGeom prst="rect">
            <a:avLst/>
          </a:prstGeom>
          <a:noFill/>
        </p:spPr>
        <p:txBody>
          <a:bodyPr wrap="square">
            <a:spAutoFit/>
          </a:bodyPr>
          <a:lstStyle/>
          <a:p>
            <a:pPr algn="l"/>
            <a:r>
              <a:rPr sz="900" b="0" i="0">
                <a:solidFill>
                  <a:srgbClr val="3A4270"/>
                </a:solidFill>
                <a:latin typeface="Calibri"/>
              </a:rPr>
              <a:t>No PII in database — UUID-keyed sessions only. Session IDs are client-generated (Math.random() UUID) so we cannot map a session back to a phone number even if compromised. Kit persist is non-fatal: DB errors are caught, logged, and the response still returns to user.</a:t>
            </a:r>
          </a:p>
        </p:txBody>
      </p:sp>
      <p:sp>
        <p:nvSpPr>
          <p:cNvPr id="28" name="Rectangle 27"/>
          <p:cNvSpPr/>
          <p:nvPr/>
        </p:nvSpPr>
        <p:spPr>
          <a:xfrm>
            <a:off x="7772400" y="4480560"/>
            <a:ext cx="3840480" cy="694944"/>
          </a:xfrm>
          <a:prstGeom prst="rect">
            <a:avLst/>
          </a:prstGeom>
          <a:solidFill>
            <a:srgbClr val="F6EFE2"/>
          </a:solidFill>
          <a:ln w="635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82127" y="4553712"/>
            <a:ext cx="3657600" cy="548640"/>
          </a:xfrm>
          <a:prstGeom prst="rect">
            <a:avLst/>
          </a:prstGeom>
          <a:noFill/>
        </p:spPr>
        <p:txBody>
          <a:bodyPr wrap="square">
            <a:spAutoFit/>
          </a:bodyPr>
          <a:lstStyle/>
          <a:p>
            <a:pPr algn="l"/>
            <a:r>
              <a:rPr sz="800" b="0" i="1">
                <a:solidFill>
                  <a:srgbClr val="3A4270"/>
                </a:solidFill>
                <a:latin typeface="Calibri"/>
              </a:rPr>
              <a:t>Code: lib/db/schema.ts · no PII columns</a:t>
            </a:r>
          </a:p>
        </p:txBody>
      </p:sp>
      <p:sp>
        <p:nvSpPr>
          <p:cNvPr id="30" name="Rectangle 29"/>
          <p:cNvSpPr/>
          <p:nvPr/>
        </p:nvSpPr>
        <p:spPr>
          <a:xfrm>
            <a:off x="411480" y="5349240"/>
            <a:ext cx="11384280" cy="877824"/>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11480" y="5349240"/>
            <a:ext cx="54864" cy="87782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404104"/>
            <a:ext cx="3474720" cy="384048"/>
          </a:xfrm>
          <a:prstGeom prst="rect">
            <a:avLst/>
          </a:prstGeom>
          <a:noFill/>
        </p:spPr>
        <p:txBody>
          <a:bodyPr wrap="square">
            <a:spAutoFit/>
          </a:bodyPr>
          <a:lstStyle/>
          <a:p>
            <a:pPr algn="l"/>
            <a:r>
              <a:rPr sz="1100" b="1" i="0">
                <a:solidFill>
                  <a:srgbClr val="0EA5E9"/>
                </a:solidFill>
                <a:latin typeface="Calibri"/>
              </a:rPr>
              <a:t>🔒  Auth Architecture</a:t>
            </a:r>
          </a:p>
        </p:txBody>
      </p:sp>
      <p:sp>
        <p:nvSpPr>
          <p:cNvPr id="33" name="TextBox 32"/>
          <p:cNvSpPr txBox="1"/>
          <p:nvPr/>
        </p:nvSpPr>
        <p:spPr>
          <a:xfrm>
            <a:off x="594360" y="5806440"/>
            <a:ext cx="6949440" cy="384048"/>
          </a:xfrm>
          <a:prstGeom prst="rect">
            <a:avLst/>
          </a:prstGeom>
          <a:noFill/>
        </p:spPr>
        <p:txBody>
          <a:bodyPr wrap="square">
            <a:spAutoFit/>
          </a:bodyPr>
          <a:lstStyle/>
          <a:p>
            <a:pPr algn="l"/>
            <a:r>
              <a:rPr sz="900" b="0" i="0">
                <a:solidFill>
                  <a:srgbClr val="3A4270"/>
                </a:solidFill>
                <a:latin typeface="Calibri"/>
              </a:rPr>
              <a:t>Current: localStorage-based session (MVP). No server-side session = no session hijacking surface. Phone number and OTP never leave the device. Moving to: httpOnly cookie session with CSRF protection as next step before production scale.</a:t>
            </a:r>
          </a:p>
        </p:txBody>
      </p:sp>
      <p:sp>
        <p:nvSpPr>
          <p:cNvPr id="34" name="Rectangle 33"/>
          <p:cNvSpPr/>
          <p:nvPr/>
        </p:nvSpPr>
        <p:spPr>
          <a:xfrm>
            <a:off x="7772400" y="5440680"/>
            <a:ext cx="3840480" cy="694944"/>
          </a:xfrm>
          <a:prstGeom prst="rect">
            <a:avLst/>
          </a:prstGeom>
          <a:solidFill>
            <a:srgbClr val="F6EFE2"/>
          </a:solidFill>
          <a:ln w="635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82127" y="5513832"/>
            <a:ext cx="3657600" cy="548640"/>
          </a:xfrm>
          <a:prstGeom prst="rect">
            <a:avLst/>
          </a:prstGeom>
          <a:noFill/>
        </p:spPr>
        <p:txBody>
          <a:bodyPr wrap="square">
            <a:spAutoFit/>
          </a:bodyPr>
          <a:lstStyle/>
          <a:p>
            <a:pPr algn="l"/>
            <a:r>
              <a:rPr sz="800" b="0" i="1">
                <a:solidFill>
                  <a:srgbClr val="3A4270"/>
                </a:solidFill>
                <a:latin typeface="Calibri"/>
              </a:rPr>
              <a:t>Planned: next-auth or custom httpOnly cookie + server session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2700000">
            <a:off x="11064240" y="274320"/>
            <a:ext cx="731520" cy="73152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47472"/>
            <a:ext cx="10972800" cy="320040"/>
          </a:xfrm>
          <a:prstGeom prst="rect">
            <a:avLst/>
          </a:prstGeom>
          <a:noFill/>
        </p:spPr>
        <p:txBody>
          <a:bodyPr wrap="square">
            <a:spAutoFit/>
          </a:bodyPr>
          <a:lstStyle/>
          <a:p>
            <a:pPr algn="l"/>
            <a:r>
              <a:rPr sz="800" b="1" i="0">
                <a:solidFill>
                  <a:srgbClr val="D88B00"/>
                </a:solidFill>
                <a:latin typeface="Calibri"/>
              </a:rPr>
              <a:t>PERFORMANCE &amp; SCALABILITY — DESIGNED FOR SERVERLESS INDIA</a:t>
            </a:r>
          </a:p>
        </p:txBody>
      </p:sp>
      <p:sp>
        <p:nvSpPr>
          <p:cNvPr id="5" name="TextBox 4"/>
          <p:cNvSpPr txBox="1"/>
          <p:nvPr/>
        </p:nvSpPr>
        <p:spPr>
          <a:xfrm>
            <a:off x="457200" y="713232"/>
            <a:ext cx="9144000" cy="594360"/>
          </a:xfrm>
          <a:prstGeom prst="rect">
            <a:avLst/>
          </a:prstGeom>
          <a:noFill/>
        </p:spPr>
        <p:txBody>
          <a:bodyPr wrap="square">
            <a:spAutoFit/>
          </a:bodyPr>
          <a:lstStyle/>
          <a:p>
            <a:pPr algn="l"/>
            <a:r>
              <a:rPr sz="2600" b="1" i="0">
                <a:solidFill>
                  <a:srgbClr val="FFFFFF"/>
                </a:solidFill>
                <a:latin typeface="Palatino Linotype"/>
              </a:rPr>
              <a:t>Every architectural choice has a scale implication.</a:t>
            </a:r>
          </a:p>
        </p:txBody>
      </p:sp>
      <p:sp>
        <p:nvSpPr>
          <p:cNvPr id="6" name="Rectangle 5"/>
          <p:cNvSpPr/>
          <p:nvPr/>
        </p:nvSpPr>
        <p:spPr>
          <a:xfrm>
            <a:off x="411480" y="1508760"/>
            <a:ext cx="54864" cy="82296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63624"/>
            <a:ext cx="5943600" cy="347472"/>
          </a:xfrm>
          <a:prstGeom prst="rect">
            <a:avLst/>
          </a:prstGeom>
          <a:noFill/>
        </p:spPr>
        <p:txBody>
          <a:bodyPr wrap="square">
            <a:spAutoFit/>
          </a:bodyPr>
          <a:lstStyle/>
          <a:p>
            <a:pPr algn="l"/>
            <a:r>
              <a:rPr sz="1100" b="1" i="0">
                <a:solidFill>
                  <a:srgbClr val="F2A007"/>
                </a:solidFill>
                <a:latin typeface="Calibri"/>
              </a:rPr>
              <a:t>Lazy DB singleton</a:t>
            </a:r>
          </a:p>
        </p:txBody>
      </p:sp>
      <p:sp>
        <p:nvSpPr>
          <p:cNvPr id="8" name="TextBox 7"/>
          <p:cNvSpPr txBox="1"/>
          <p:nvPr/>
        </p:nvSpPr>
        <p:spPr>
          <a:xfrm>
            <a:off x="594360" y="1929384"/>
            <a:ext cx="5943600" cy="457200"/>
          </a:xfrm>
          <a:prstGeom prst="rect">
            <a:avLst/>
          </a:prstGeom>
          <a:noFill/>
        </p:spPr>
        <p:txBody>
          <a:bodyPr wrap="square">
            <a:spAutoFit/>
          </a:bodyPr>
          <a:lstStyle/>
          <a:p>
            <a:pPr algn="l"/>
            <a:r>
              <a:rPr sz="950" b="0" i="0">
                <a:solidFill>
                  <a:srgbClr val="C0C8FF"/>
                </a:solidFill>
                <a:latin typeface="Calibri"/>
              </a:rPr>
              <a:t>Database client created on first request, not at module import. This prevents connection pool exhaustion in serverless environments (Vercel, AWS Lambda) where many function instances start cold simultaneously.</a:t>
            </a:r>
          </a:p>
        </p:txBody>
      </p:sp>
      <p:sp>
        <p:nvSpPr>
          <p:cNvPr id="9" name="Rectangle 8"/>
          <p:cNvSpPr/>
          <p:nvPr/>
        </p:nvSpPr>
        <p:spPr>
          <a:xfrm>
            <a:off x="6766560" y="1600200"/>
            <a:ext cx="5029200" cy="694944"/>
          </a:xfrm>
          <a:prstGeom prst="rect">
            <a:avLst/>
          </a:prstGeom>
          <a:solidFill>
            <a:srgbClr val="0A142E"/>
          </a:solidFill>
          <a:ln w="6350">
            <a:solidFill>
              <a:srgbClr val="F2A0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76288" y="1691640"/>
            <a:ext cx="4809744" cy="475488"/>
          </a:xfrm>
          <a:prstGeom prst="rect">
            <a:avLst/>
          </a:prstGeom>
          <a:noFill/>
        </p:spPr>
        <p:txBody>
          <a:bodyPr wrap="square">
            <a:spAutoFit/>
          </a:bodyPr>
          <a:lstStyle/>
          <a:p>
            <a:pPr algn="l"/>
            <a:r>
              <a:rPr sz="900" b="1" i="0">
                <a:solidFill>
                  <a:srgbClr val="F2A007"/>
                </a:solidFill>
                <a:latin typeface="Calibri"/>
              </a:rPr>
              <a:t>Result: Zero connection errors on cold start · No 'too many clients' errors</a:t>
            </a:r>
          </a:p>
        </p:txBody>
      </p:sp>
      <p:sp>
        <p:nvSpPr>
          <p:cNvPr id="11" name="Rectangle 10"/>
          <p:cNvSpPr/>
          <p:nvPr/>
        </p:nvSpPr>
        <p:spPr>
          <a:xfrm>
            <a:off x="411480" y="2496312"/>
            <a:ext cx="54864" cy="82296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51176"/>
            <a:ext cx="5943600" cy="347472"/>
          </a:xfrm>
          <a:prstGeom prst="rect">
            <a:avLst/>
          </a:prstGeom>
          <a:noFill/>
        </p:spPr>
        <p:txBody>
          <a:bodyPr wrap="square">
            <a:spAutoFit/>
          </a:bodyPr>
          <a:lstStyle/>
          <a:p>
            <a:pPr algn="l"/>
            <a:r>
              <a:rPr sz="1100" b="1" i="0">
                <a:solidFill>
                  <a:srgbClr val="0EA5E9"/>
                </a:solidFill>
                <a:latin typeface="Calibri"/>
              </a:rPr>
              <a:t>max:1 connection per serverless fn</a:t>
            </a:r>
          </a:p>
        </p:txBody>
      </p:sp>
      <p:sp>
        <p:nvSpPr>
          <p:cNvPr id="13" name="TextBox 12"/>
          <p:cNvSpPr txBox="1"/>
          <p:nvPr/>
        </p:nvSpPr>
        <p:spPr>
          <a:xfrm>
            <a:off x="594360" y="2916936"/>
            <a:ext cx="5943600" cy="457200"/>
          </a:xfrm>
          <a:prstGeom prst="rect">
            <a:avLst/>
          </a:prstGeom>
          <a:noFill/>
        </p:spPr>
        <p:txBody>
          <a:bodyPr wrap="square">
            <a:spAutoFit/>
          </a:bodyPr>
          <a:lstStyle/>
          <a:p>
            <a:pPr algn="l"/>
            <a:r>
              <a:rPr sz="950" b="0" i="0">
                <a:solidFill>
                  <a:srgbClr val="C0C8FF"/>
                </a:solidFill>
                <a:latin typeface="Calibri"/>
              </a:rPr>
              <a:t>Each serverless invocation gets exactly 1 Postgres connection. When we move to self-hosted PgBouncer, this becomes configurable — we can raise it per function based on load patterns.</a:t>
            </a:r>
          </a:p>
        </p:txBody>
      </p:sp>
      <p:sp>
        <p:nvSpPr>
          <p:cNvPr id="14" name="Rectangle 13"/>
          <p:cNvSpPr/>
          <p:nvPr/>
        </p:nvSpPr>
        <p:spPr>
          <a:xfrm>
            <a:off x="6766560" y="2587752"/>
            <a:ext cx="5029200" cy="694944"/>
          </a:xfrm>
          <a:prstGeom prst="rect">
            <a:avLst/>
          </a:prstGeom>
          <a:solidFill>
            <a:srgbClr val="0A142E"/>
          </a:solidFill>
          <a:ln w="63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76288" y="2679192"/>
            <a:ext cx="4809744" cy="475488"/>
          </a:xfrm>
          <a:prstGeom prst="rect">
            <a:avLst/>
          </a:prstGeom>
          <a:noFill/>
        </p:spPr>
        <p:txBody>
          <a:bodyPr wrap="square">
            <a:spAutoFit/>
          </a:bodyPr>
          <a:lstStyle/>
          <a:p>
            <a:pPr algn="l"/>
            <a:r>
              <a:rPr sz="900" b="1" i="0">
                <a:solidFill>
                  <a:srgbClr val="0EA5E9"/>
                </a:solidFill>
                <a:latin typeface="Calibri"/>
              </a:rPr>
              <a:t>Result: Predictable connection count · No pool exhaustion at scale</a:t>
            </a:r>
          </a:p>
        </p:txBody>
      </p:sp>
      <p:sp>
        <p:nvSpPr>
          <p:cNvPr id="16" name="Rectangle 15"/>
          <p:cNvSpPr/>
          <p:nvPr/>
        </p:nvSpPr>
        <p:spPr>
          <a:xfrm>
            <a:off x="411480" y="3483864"/>
            <a:ext cx="54864" cy="822960"/>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538728"/>
            <a:ext cx="5943600" cy="347472"/>
          </a:xfrm>
          <a:prstGeom prst="rect">
            <a:avLst/>
          </a:prstGeom>
          <a:noFill/>
        </p:spPr>
        <p:txBody>
          <a:bodyPr wrap="square">
            <a:spAutoFit/>
          </a:bodyPr>
          <a:lstStyle/>
          <a:p>
            <a:pPr algn="l"/>
            <a:r>
              <a:rPr sz="1100" b="1" i="0">
                <a:solidFill>
                  <a:srgbClr val="C8506E"/>
                </a:solidFill>
                <a:latin typeface="Calibri"/>
              </a:rPr>
              <a:t>Non-fatal DB writes</a:t>
            </a:r>
          </a:p>
        </p:txBody>
      </p:sp>
      <p:sp>
        <p:nvSpPr>
          <p:cNvPr id="18" name="TextBox 17"/>
          <p:cNvSpPr txBox="1"/>
          <p:nvPr/>
        </p:nvSpPr>
        <p:spPr>
          <a:xfrm>
            <a:off x="594360" y="3904488"/>
            <a:ext cx="5943600" cy="457200"/>
          </a:xfrm>
          <a:prstGeom prst="rect">
            <a:avLst/>
          </a:prstGeom>
          <a:noFill/>
        </p:spPr>
        <p:txBody>
          <a:bodyPr wrap="square">
            <a:spAutoFit/>
          </a:bodyPr>
          <a:lstStyle/>
          <a:p>
            <a:pPr algn="l"/>
            <a:r>
              <a:rPr sz="950" b="0" i="0">
                <a:solidFill>
                  <a:srgbClr val="C0C8FF"/>
                </a:solidFill>
                <a:latin typeface="Calibri"/>
              </a:rPr>
              <a:t>Kit persistence is wrapped in try/catch. If the database is slow or down, the user still gets their Kit. Analytics are best-effort — the product never degrades because of observability failures.</a:t>
            </a:r>
          </a:p>
        </p:txBody>
      </p:sp>
      <p:sp>
        <p:nvSpPr>
          <p:cNvPr id="19" name="Rectangle 18"/>
          <p:cNvSpPr/>
          <p:nvPr/>
        </p:nvSpPr>
        <p:spPr>
          <a:xfrm>
            <a:off x="6766560" y="3575304"/>
            <a:ext cx="5029200" cy="694944"/>
          </a:xfrm>
          <a:prstGeom prst="rect">
            <a:avLst/>
          </a:prstGeom>
          <a:solidFill>
            <a:srgbClr val="0A142E"/>
          </a:solidFill>
          <a:ln w="6350">
            <a:solidFill>
              <a:srgbClr val="C850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76288" y="3666744"/>
            <a:ext cx="4809744" cy="475488"/>
          </a:xfrm>
          <a:prstGeom prst="rect">
            <a:avLst/>
          </a:prstGeom>
          <a:noFill/>
        </p:spPr>
        <p:txBody>
          <a:bodyPr wrap="square">
            <a:spAutoFit/>
          </a:bodyPr>
          <a:lstStyle/>
          <a:p>
            <a:pPr algn="l"/>
            <a:r>
              <a:rPr sz="900" b="1" i="0">
                <a:solidFill>
                  <a:srgbClr val="C8506E"/>
                </a:solidFill>
                <a:latin typeface="Calibri"/>
              </a:rPr>
              <a:t>Result: User-facing latency unaffected by DB slowdowns</a:t>
            </a:r>
          </a:p>
        </p:txBody>
      </p:sp>
      <p:sp>
        <p:nvSpPr>
          <p:cNvPr id="21" name="Rectangle 20"/>
          <p:cNvSpPr/>
          <p:nvPr/>
        </p:nvSpPr>
        <p:spPr>
          <a:xfrm>
            <a:off x="411480" y="4471416"/>
            <a:ext cx="54864" cy="822960"/>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526280"/>
            <a:ext cx="5943600" cy="347472"/>
          </a:xfrm>
          <a:prstGeom prst="rect">
            <a:avLst/>
          </a:prstGeom>
          <a:noFill/>
        </p:spPr>
        <p:txBody>
          <a:bodyPr wrap="square">
            <a:spAutoFit/>
          </a:bodyPr>
          <a:lstStyle/>
          <a:p>
            <a:pPr algn="l"/>
            <a:r>
              <a:rPr sz="1100" b="1" i="0">
                <a:solidFill>
                  <a:srgbClr val="2E7D5B"/>
                </a:solidFill>
                <a:latin typeface="Calibri"/>
              </a:rPr>
              <a:t>No streaming (by design for MVP)</a:t>
            </a:r>
          </a:p>
        </p:txBody>
      </p:sp>
      <p:sp>
        <p:nvSpPr>
          <p:cNvPr id="23" name="TextBox 22"/>
          <p:cNvSpPr txBox="1"/>
          <p:nvPr/>
        </p:nvSpPr>
        <p:spPr>
          <a:xfrm>
            <a:off x="594360" y="4892040"/>
            <a:ext cx="5943600" cy="457200"/>
          </a:xfrm>
          <a:prstGeom prst="rect">
            <a:avLst/>
          </a:prstGeom>
          <a:noFill/>
        </p:spPr>
        <p:txBody>
          <a:bodyPr wrap="square">
            <a:spAutoFit/>
          </a:bodyPr>
          <a:lstStyle/>
          <a:p>
            <a:pPr algn="l"/>
            <a:r>
              <a:rPr sz="950" b="0" i="0">
                <a:solidFill>
                  <a:srgbClr val="C0C8FF"/>
                </a:solidFill>
                <a:latin typeface="Calibri"/>
              </a:rPr>
              <a:t>The API waits for the complete Claude response before returning. This simplifies error handling (parse the full JSON once) and avoids partial Kit renders. Streaming can be added later for conversational feel without changing the Kit logic.</a:t>
            </a:r>
          </a:p>
        </p:txBody>
      </p:sp>
      <p:sp>
        <p:nvSpPr>
          <p:cNvPr id="24" name="Rectangle 23"/>
          <p:cNvSpPr/>
          <p:nvPr/>
        </p:nvSpPr>
        <p:spPr>
          <a:xfrm>
            <a:off x="6766560" y="4562856"/>
            <a:ext cx="5029200" cy="694944"/>
          </a:xfrm>
          <a:prstGeom prst="rect">
            <a:avLst/>
          </a:prstGeom>
          <a:solidFill>
            <a:srgbClr val="0A142E"/>
          </a:solidFill>
          <a:ln w="6350">
            <a:solidFill>
              <a:srgbClr val="2E7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76288" y="4654296"/>
            <a:ext cx="4809744" cy="475488"/>
          </a:xfrm>
          <a:prstGeom prst="rect">
            <a:avLst/>
          </a:prstGeom>
          <a:noFill/>
        </p:spPr>
        <p:txBody>
          <a:bodyPr wrap="square">
            <a:spAutoFit/>
          </a:bodyPr>
          <a:lstStyle/>
          <a:p>
            <a:pPr algn="l"/>
            <a:r>
              <a:rPr sz="900" b="1" i="0">
                <a:solidFill>
                  <a:srgbClr val="2E7D5B"/>
                </a:solidFill>
                <a:latin typeface="Calibri"/>
              </a:rPr>
              <a:t>Result: Simple, reliable JSON parse · No partial state bugs</a:t>
            </a:r>
          </a:p>
        </p:txBody>
      </p:sp>
      <p:sp>
        <p:nvSpPr>
          <p:cNvPr id="26" name="Rectangle 25"/>
          <p:cNvSpPr/>
          <p:nvPr/>
        </p:nvSpPr>
        <p:spPr>
          <a:xfrm>
            <a:off x="411480" y="5458968"/>
            <a:ext cx="54864" cy="8229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513832"/>
            <a:ext cx="5943600" cy="347472"/>
          </a:xfrm>
          <a:prstGeom prst="rect">
            <a:avLst/>
          </a:prstGeom>
          <a:noFill/>
        </p:spPr>
        <p:txBody>
          <a:bodyPr wrap="square">
            <a:spAutoFit/>
          </a:bodyPr>
          <a:lstStyle/>
          <a:p>
            <a:pPr algn="l"/>
            <a:r>
              <a:rPr sz="1100" b="1" i="0">
                <a:solidFill>
                  <a:srgbClr val="6366F1"/>
                </a:solidFill>
                <a:latin typeface="Calibri"/>
              </a:rPr>
              <a:t>Static pages where possible</a:t>
            </a:r>
          </a:p>
        </p:txBody>
      </p:sp>
      <p:sp>
        <p:nvSpPr>
          <p:cNvPr id="28" name="TextBox 27"/>
          <p:cNvSpPr txBox="1"/>
          <p:nvPr/>
        </p:nvSpPr>
        <p:spPr>
          <a:xfrm>
            <a:off x="594360" y="5879592"/>
            <a:ext cx="5943600" cy="457200"/>
          </a:xfrm>
          <a:prstGeom prst="rect">
            <a:avLst/>
          </a:prstGeom>
          <a:noFill/>
        </p:spPr>
        <p:txBody>
          <a:bodyPr wrap="square">
            <a:spAutoFit/>
          </a:bodyPr>
          <a:lstStyle/>
          <a:p>
            <a:pPr algn="l"/>
            <a:r>
              <a:rPr sz="950" b="0" i="0">
                <a:solidFill>
                  <a:srgbClr val="C0C8FF"/>
                </a:solidFill>
                <a:latin typeface="Calibri"/>
              </a:rPr>
              <a:t>Community heroes, landing page, auth — all static (no DB calls). Only /api/coach and /api/session are dynamic. Next.js build shows 8 static routes, 2 dynamic API routes. CDN-cacheable pages for 80% of traffic.</a:t>
            </a:r>
          </a:p>
        </p:txBody>
      </p:sp>
      <p:sp>
        <p:nvSpPr>
          <p:cNvPr id="29" name="Rectangle 28"/>
          <p:cNvSpPr/>
          <p:nvPr/>
        </p:nvSpPr>
        <p:spPr>
          <a:xfrm>
            <a:off x="6766560" y="5550408"/>
            <a:ext cx="5029200" cy="694944"/>
          </a:xfrm>
          <a:prstGeom prst="rect">
            <a:avLst/>
          </a:prstGeom>
          <a:solidFill>
            <a:srgbClr val="0A142E"/>
          </a:solidFill>
          <a:ln w="63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76288" y="5641848"/>
            <a:ext cx="4809744" cy="475488"/>
          </a:xfrm>
          <a:prstGeom prst="rect">
            <a:avLst/>
          </a:prstGeom>
          <a:noFill/>
        </p:spPr>
        <p:txBody>
          <a:bodyPr wrap="square">
            <a:spAutoFit/>
          </a:bodyPr>
          <a:lstStyle/>
          <a:p>
            <a:pPr algn="l"/>
            <a:r>
              <a:rPr sz="900" b="1" i="0">
                <a:solidFill>
                  <a:srgbClr val="6366F1"/>
                </a:solidFill>
                <a:latin typeface="Calibri"/>
              </a:rPr>
              <a:t>Result: Instant loads for most pages · DB only hit for coaching + analytics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760"/>
            <a:ext cx="10972800" cy="320040"/>
          </a:xfrm>
          <a:prstGeom prst="rect">
            <a:avLst/>
          </a:prstGeom>
          <a:noFill/>
        </p:spPr>
        <p:txBody>
          <a:bodyPr wrap="square">
            <a:spAutoFit/>
          </a:bodyPr>
          <a:lstStyle/>
          <a:p>
            <a:pPr algn="l"/>
            <a:r>
              <a:rPr sz="800" b="1" i="0">
                <a:solidFill>
                  <a:srgbClr val="4338CA"/>
                </a:solidFill>
                <a:latin typeface="Calibri"/>
              </a:rPr>
              <a:t>ARCHITECTURE ROADMAP — WHAT THE FOUNDATION ENABLES</a:t>
            </a:r>
          </a:p>
        </p:txBody>
      </p:sp>
      <p:sp>
        <p:nvSpPr>
          <p:cNvPr id="5" name="TextBox 4"/>
          <p:cNvSpPr txBox="1"/>
          <p:nvPr/>
        </p:nvSpPr>
        <p:spPr>
          <a:xfrm>
            <a:off x="457200" y="749808"/>
            <a:ext cx="10972800" cy="594360"/>
          </a:xfrm>
          <a:prstGeom prst="rect">
            <a:avLst/>
          </a:prstGeom>
          <a:noFill/>
        </p:spPr>
        <p:txBody>
          <a:bodyPr wrap="square">
            <a:spAutoFit/>
          </a:bodyPr>
          <a:lstStyle/>
          <a:p>
            <a:pPr algn="l"/>
            <a:r>
              <a:rPr sz="2600" b="1" i="0">
                <a:solidFill>
                  <a:srgbClr val="1B2143"/>
                </a:solidFill>
                <a:latin typeface="Palatino Linotype"/>
              </a:rPr>
              <a:t>The current design isn't the destination. It's the launchpad.</a:t>
            </a:r>
          </a:p>
        </p:txBody>
      </p:sp>
      <p:sp>
        <p:nvSpPr>
          <p:cNvPr id="6" name="Rectangle 5"/>
          <p:cNvSpPr/>
          <p:nvPr/>
        </p:nvSpPr>
        <p:spPr>
          <a:xfrm>
            <a:off x="411480" y="1572768"/>
            <a:ext cx="2788920" cy="4773168"/>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2788920" cy="54864"/>
          </a:xfrm>
          <a:prstGeom prst="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64208"/>
            <a:ext cx="2514600" cy="384048"/>
          </a:xfrm>
          <a:prstGeom prst="rect">
            <a:avLst/>
          </a:prstGeom>
          <a:noFill/>
        </p:spPr>
        <p:txBody>
          <a:bodyPr wrap="square">
            <a:spAutoFit/>
          </a:bodyPr>
          <a:lstStyle/>
          <a:p>
            <a:pPr algn="l"/>
            <a:r>
              <a:rPr sz="1200" b="1" i="0">
                <a:solidFill>
                  <a:srgbClr val="2E7D5B"/>
                </a:solidFill>
                <a:latin typeface="Calibri"/>
              </a:rPr>
              <a:t>Now — Built</a:t>
            </a:r>
          </a:p>
        </p:txBody>
      </p:sp>
      <p:sp>
        <p:nvSpPr>
          <p:cNvPr id="9" name="TextBox 8"/>
          <p:cNvSpPr txBox="1"/>
          <p:nvPr/>
        </p:nvSpPr>
        <p:spPr>
          <a:xfrm>
            <a:off x="548640" y="2148840"/>
            <a:ext cx="2514600" cy="475488"/>
          </a:xfrm>
          <a:prstGeom prst="rect">
            <a:avLst/>
          </a:prstGeom>
          <a:noFill/>
        </p:spPr>
        <p:txBody>
          <a:bodyPr wrap="square">
            <a:spAutoFit/>
          </a:bodyPr>
          <a:lstStyle/>
          <a:p>
            <a:pPr algn="l"/>
            <a:r>
              <a:rPr sz="900" b="0" i="0">
                <a:solidFill>
                  <a:srgbClr val="085028"/>
                </a:solidFill>
                <a:latin typeface="Calibri"/>
              </a:rPr>
              <a:t>✓ Next.js 14 App Router</a:t>
            </a:r>
          </a:p>
        </p:txBody>
      </p:sp>
      <p:sp>
        <p:nvSpPr>
          <p:cNvPr id="10" name="TextBox 9"/>
          <p:cNvSpPr txBox="1"/>
          <p:nvPr/>
        </p:nvSpPr>
        <p:spPr>
          <a:xfrm>
            <a:off x="548640" y="2660904"/>
            <a:ext cx="2514600" cy="475488"/>
          </a:xfrm>
          <a:prstGeom prst="rect">
            <a:avLst/>
          </a:prstGeom>
          <a:noFill/>
        </p:spPr>
        <p:txBody>
          <a:bodyPr wrap="square">
            <a:spAutoFit/>
          </a:bodyPr>
          <a:lstStyle/>
          <a:p>
            <a:pPr algn="l"/>
            <a:r>
              <a:rPr sz="900" b="0" i="0">
                <a:solidFill>
                  <a:srgbClr val="085028"/>
                </a:solidFill>
                <a:latin typeface="Calibri"/>
              </a:rPr>
              <a:t>✓ Claude conversational coach</a:t>
            </a:r>
          </a:p>
        </p:txBody>
      </p:sp>
      <p:sp>
        <p:nvSpPr>
          <p:cNvPr id="11" name="TextBox 10"/>
          <p:cNvSpPr txBox="1"/>
          <p:nvPr/>
        </p:nvSpPr>
        <p:spPr>
          <a:xfrm>
            <a:off x="548640" y="3172968"/>
            <a:ext cx="2514600" cy="475488"/>
          </a:xfrm>
          <a:prstGeom prst="rect">
            <a:avLst/>
          </a:prstGeom>
          <a:noFill/>
        </p:spPr>
        <p:txBody>
          <a:bodyPr wrap="square">
            <a:spAutoFit/>
          </a:bodyPr>
          <a:lstStyle/>
          <a:p>
            <a:pPr algn="l"/>
            <a:r>
              <a:rPr sz="900" b="0" i="0">
                <a:solidFill>
                  <a:srgbClr val="085028"/>
                </a:solidFill>
                <a:latin typeface="Calibri"/>
              </a:rPr>
              <a:t>✓ Anti-hallucination schemes</a:t>
            </a:r>
          </a:p>
        </p:txBody>
      </p:sp>
      <p:sp>
        <p:nvSpPr>
          <p:cNvPr id="12" name="TextBox 11"/>
          <p:cNvSpPr txBox="1"/>
          <p:nvPr/>
        </p:nvSpPr>
        <p:spPr>
          <a:xfrm>
            <a:off x="548640" y="3685032"/>
            <a:ext cx="2514600" cy="475488"/>
          </a:xfrm>
          <a:prstGeom prst="rect">
            <a:avLst/>
          </a:prstGeom>
          <a:noFill/>
        </p:spPr>
        <p:txBody>
          <a:bodyPr wrap="square">
            <a:spAutoFit/>
          </a:bodyPr>
          <a:lstStyle/>
          <a:p>
            <a:pPr algn="l"/>
            <a:r>
              <a:rPr sz="900" b="0" i="0">
                <a:solidFill>
                  <a:srgbClr val="085028"/>
                </a:solidFill>
                <a:latin typeface="Calibri"/>
              </a:rPr>
              <a:t>✓ Structured Kit JSON</a:t>
            </a:r>
          </a:p>
        </p:txBody>
      </p:sp>
      <p:sp>
        <p:nvSpPr>
          <p:cNvPr id="13" name="TextBox 12"/>
          <p:cNvSpPr txBox="1"/>
          <p:nvPr/>
        </p:nvSpPr>
        <p:spPr>
          <a:xfrm>
            <a:off x="548640" y="4197096"/>
            <a:ext cx="2514600" cy="475488"/>
          </a:xfrm>
          <a:prstGeom prst="rect">
            <a:avLst/>
          </a:prstGeom>
          <a:noFill/>
        </p:spPr>
        <p:txBody>
          <a:bodyPr wrap="square">
            <a:spAutoFit/>
          </a:bodyPr>
          <a:lstStyle/>
          <a:p>
            <a:pPr algn="l"/>
            <a:r>
              <a:rPr sz="900" b="0" i="0">
                <a:solidFill>
                  <a:srgbClr val="085028"/>
                </a:solidFill>
                <a:latin typeface="Calibri"/>
              </a:rPr>
              <a:t>✓ 6 Indian languages + TTS</a:t>
            </a:r>
          </a:p>
        </p:txBody>
      </p:sp>
      <p:sp>
        <p:nvSpPr>
          <p:cNvPr id="14" name="TextBox 13"/>
          <p:cNvSpPr txBox="1"/>
          <p:nvPr/>
        </p:nvSpPr>
        <p:spPr>
          <a:xfrm>
            <a:off x="548640" y="4709160"/>
            <a:ext cx="2514600" cy="475488"/>
          </a:xfrm>
          <a:prstGeom prst="rect">
            <a:avLst/>
          </a:prstGeom>
          <a:noFill/>
        </p:spPr>
        <p:txBody>
          <a:bodyPr wrap="square">
            <a:spAutoFit/>
          </a:bodyPr>
          <a:lstStyle/>
          <a:p>
            <a:pPr algn="l"/>
            <a:r>
              <a:rPr sz="900" b="0" i="0">
                <a:solidFill>
                  <a:srgbClr val="085028"/>
                </a:solidFill>
                <a:latin typeface="Calibri"/>
              </a:rPr>
              <a:t>✓ Funnel analytics</a:t>
            </a:r>
          </a:p>
        </p:txBody>
      </p:sp>
      <p:sp>
        <p:nvSpPr>
          <p:cNvPr id="15" name="TextBox 14"/>
          <p:cNvSpPr txBox="1"/>
          <p:nvPr/>
        </p:nvSpPr>
        <p:spPr>
          <a:xfrm>
            <a:off x="548640" y="5221224"/>
            <a:ext cx="2514600" cy="475488"/>
          </a:xfrm>
          <a:prstGeom prst="rect">
            <a:avLst/>
          </a:prstGeom>
          <a:noFill/>
        </p:spPr>
        <p:txBody>
          <a:bodyPr wrap="square">
            <a:spAutoFit/>
          </a:bodyPr>
          <a:lstStyle/>
          <a:p>
            <a:pPr algn="l"/>
            <a:r>
              <a:rPr sz="900" b="0" i="0">
                <a:solidFill>
                  <a:srgbClr val="085028"/>
                </a:solidFill>
                <a:latin typeface="Calibri"/>
              </a:rPr>
              <a:t>✓ Goals + Piggy Bank</a:t>
            </a:r>
          </a:p>
        </p:txBody>
      </p:sp>
      <p:sp>
        <p:nvSpPr>
          <p:cNvPr id="16" name="TextBox 15"/>
          <p:cNvSpPr txBox="1"/>
          <p:nvPr/>
        </p:nvSpPr>
        <p:spPr>
          <a:xfrm>
            <a:off x="548640" y="5733288"/>
            <a:ext cx="2514600" cy="475488"/>
          </a:xfrm>
          <a:prstGeom prst="rect">
            <a:avLst/>
          </a:prstGeom>
          <a:noFill/>
        </p:spPr>
        <p:txBody>
          <a:bodyPr wrap="square">
            <a:spAutoFit/>
          </a:bodyPr>
          <a:lstStyle/>
          <a:p>
            <a:pPr algn="l"/>
            <a:r>
              <a:rPr sz="900" b="0" i="0">
                <a:solidFill>
                  <a:srgbClr val="085028"/>
                </a:solidFill>
                <a:latin typeface="Calibri"/>
              </a:rPr>
              <a:t>✓ Community heroes</a:t>
            </a:r>
          </a:p>
        </p:txBody>
      </p:sp>
      <p:sp>
        <p:nvSpPr>
          <p:cNvPr id="17" name="Rectangle 16"/>
          <p:cNvSpPr/>
          <p:nvPr/>
        </p:nvSpPr>
        <p:spPr>
          <a:xfrm>
            <a:off x="3319272" y="1572768"/>
            <a:ext cx="2788920" cy="4773168"/>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19272" y="1572768"/>
            <a:ext cx="278892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1664208"/>
            <a:ext cx="2514600" cy="384048"/>
          </a:xfrm>
          <a:prstGeom prst="rect">
            <a:avLst/>
          </a:prstGeom>
          <a:noFill/>
        </p:spPr>
        <p:txBody>
          <a:bodyPr wrap="square">
            <a:spAutoFit/>
          </a:bodyPr>
          <a:lstStyle/>
          <a:p>
            <a:pPr algn="l"/>
            <a:r>
              <a:rPr sz="1200" b="1" i="0">
                <a:solidFill>
                  <a:srgbClr val="0EA5E9"/>
                </a:solidFill>
                <a:latin typeface="Calibri"/>
              </a:rPr>
              <a:t>3 months</a:t>
            </a:r>
          </a:p>
        </p:txBody>
      </p:sp>
      <p:sp>
        <p:nvSpPr>
          <p:cNvPr id="20" name="TextBox 19"/>
          <p:cNvSpPr txBox="1"/>
          <p:nvPr/>
        </p:nvSpPr>
        <p:spPr>
          <a:xfrm>
            <a:off x="3456432" y="2148840"/>
            <a:ext cx="2514600" cy="475488"/>
          </a:xfrm>
          <a:prstGeom prst="rect">
            <a:avLst/>
          </a:prstGeom>
          <a:noFill/>
        </p:spPr>
        <p:txBody>
          <a:bodyPr wrap="square">
            <a:spAutoFit/>
          </a:bodyPr>
          <a:lstStyle/>
          <a:p>
            <a:pPr algn="l"/>
            <a:r>
              <a:rPr sz="900" b="0" i="0">
                <a:solidFill>
                  <a:srgbClr val="3A4270"/>
                </a:solidFill>
                <a:latin typeface="Calibri"/>
              </a:rPr>
              <a:t>→ Self-hosted PostgreSQL</a:t>
            </a:r>
          </a:p>
        </p:txBody>
      </p:sp>
      <p:sp>
        <p:nvSpPr>
          <p:cNvPr id="21" name="TextBox 20"/>
          <p:cNvSpPr txBox="1"/>
          <p:nvPr/>
        </p:nvSpPr>
        <p:spPr>
          <a:xfrm>
            <a:off x="3456432" y="2660904"/>
            <a:ext cx="2514600" cy="475488"/>
          </a:xfrm>
          <a:prstGeom prst="rect">
            <a:avLst/>
          </a:prstGeom>
          <a:noFill/>
        </p:spPr>
        <p:txBody>
          <a:bodyPr wrap="square">
            <a:spAutoFit/>
          </a:bodyPr>
          <a:lstStyle/>
          <a:p>
            <a:pPr algn="l"/>
            <a:r>
              <a:rPr sz="900" b="0" i="0">
                <a:solidFill>
                  <a:srgbClr val="3A4270"/>
                </a:solidFill>
                <a:latin typeface="Calibri"/>
              </a:rPr>
              <a:t>→ pgvector + RAG scheme matching</a:t>
            </a:r>
          </a:p>
        </p:txBody>
      </p:sp>
      <p:sp>
        <p:nvSpPr>
          <p:cNvPr id="22" name="TextBox 21"/>
          <p:cNvSpPr txBox="1"/>
          <p:nvPr/>
        </p:nvSpPr>
        <p:spPr>
          <a:xfrm>
            <a:off x="3456432" y="3172968"/>
            <a:ext cx="2514600" cy="475488"/>
          </a:xfrm>
          <a:prstGeom prst="rect">
            <a:avLst/>
          </a:prstGeom>
          <a:noFill/>
        </p:spPr>
        <p:txBody>
          <a:bodyPr wrap="square">
            <a:spAutoFit/>
          </a:bodyPr>
          <a:lstStyle/>
          <a:p>
            <a:pPr algn="l"/>
            <a:r>
              <a:rPr sz="900" b="0" i="0">
                <a:solidFill>
                  <a:srgbClr val="3A4270"/>
                </a:solidFill>
                <a:latin typeface="Calibri"/>
              </a:rPr>
              <a:t>→ Deterministic pricing engine</a:t>
            </a:r>
          </a:p>
        </p:txBody>
      </p:sp>
      <p:sp>
        <p:nvSpPr>
          <p:cNvPr id="23" name="TextBox 22"/>
          <p:cNvSpPr txBox="1"/>
          <p:nvPr/>
        </p:nvSpPr>
        <p:spPr>
          <a:xfrm>
            <a:off x="3456432" y="3685032"/>
            <a:ext cx="2514600" cy="475488"/>
          </a:xfrm>
          <a:prstGeom prst="rect">
            <a:avLst/>
          </a:prstGeom>
          <a:noFill/>
        </p:spPr>
        <p:txBody>
          <a:bodyPr wrap="square">
            <a:spAutoFit/>
          </a:bodyPr>
          <a:lstStyle/>
          <a:p>
            <a:pPr algn="l"/>
            <a:r>
              <a:rPr sz="900" b="0" i="0">
                <a:solidFill>
                  <a:srgbClr val="3A4270"/>
                </a:solidFill>
                <a:latin typeface="Calibri"/>
              </a:rPr>
              <a:t>→ httpOnly cookie auth</a:t>
            </a:r>
          </a:p>
        </p:txBody>
      </p:sp>
      <p:sp>
        <p:nvSpPr>
          <p:cNvPr id="24" name="TextBox 23"/>
          <p:cNvSpPr txBox="1"/>
          <p:nvPr/>
        </p:nvSpPr>
        <p:spPr>
          <a:xfrm>
            <a:off x="3456432" y="4197096"/>
            <a:ext cx="2514600" cy="475488"/>
          </a:xfrm>
          <a:prstGeom prst="rect">
            <a:avLst/>
          </a:prstGeom>
          <a:noFill/>
        </p:spPr>
        <p:txBody>
          <a:bodyPr wrap="square">
            <a:spAutoFit/>
          </a:bodyPr>
          <a:lstStyle/>
          <a:p>
            <a:pPr algn="l"/>
            <a:r>
              <a:rPr sz="900" b="0" i="0">
                <a:solidFill>
                  <a:srgbClr val="3A4270"/>
                </a:solidFill>
                <a:latin typeface="Calibri"/>
              </a:rPr>
              <a:t>→ WhatsApp Bot (Meta Cloud API)</a:t>
            </a:r>
          </a:p>
        </p:txBody>
      </p:sp>
      <p:sp>
        <p:nvSpPr>
          <p:cNvPr id="25" name="TextBox 24"/>
          <p:cNvSpPr txBox="1"/>
          <p:nvPr/>
        </p:nvSpPr>
        <p:spPr>
          <a:xfrm>
            <a:off x="3456432" y="4709160"/>
            <a:ext cx="2514600" cy="475488"/>
          </a:xfrm>
          <a:prstGeom prst="rect">
            <a:avLst/>
          </a:prstGeom>
          <a:noFill/>
        </p:spPr>
        <p:txBody>
          <a:bodyPr wrap="square">
            <a:spAutoFit/>
          </a:bodyPr>
          <a:lstStyle/>
          <a:p>
            <a:pPr algn="l"/>
            <a:r>
              <a:rPr sz="900" b="0" i="0">
                <a:solidFill>
                  <a:srgbClr val="3A4270"/>
                </a:solidFill>
                <a:latin typeface="Calibri"/>
              </a:rPr>
              <a:t>→ Push notifications (FCM)</a:t>
            </a:r>
          </a:p>
        </p:txBody>
      </p:sp>
      <p:sp>
        <p:nvSpPr>
          <p:cNvPr id="26" name="TextBox 25"/>
          <p:cNvSpPr txBox="1"/>
          <p:nvPr/>
        </p:nvSpPr>
        <p:spPr>
          <a:xfrm>
            <a:off x="3456432" y="5221224"/>
            <a:ext cx="2514600" cy="475488"/>
          </a:xfrm>
          <a:prstGeom prst="rect">
            <a:avLst/>
          </a:prstGeom>
          <a:noFill/>
        </p:spPr>
        <p:txBody>
          <a:bodyPr wrap="square">
            <a:spAutoFit/>
          </a:bodyPr>
          <a:lstStyle/>
          <a:p>
            <a:pPr algn="l"/>
            <a:r>
              <a:rPr sz="900" b="0" i="0">
                <a:solidFill>
                  <a:srgbClr val="3A4270"/>
                </a:solidFill>
                <a:latin typeface="Calibri"/>
              </a:rPr>
              <a:t>→ Gemini Flash fallback</a:t>
            </a:r>
          </a:p>
        </p:txBody>
      </p:sp>
      <p:sp>
        <p:nvSpPr>
          <p:cNvPr id="27" name="Rectangle 26"/>
          <p:cNvSpPr/>
          <p:nvPr/>
        </p:nvSpPr>
        <p:spPr>
          <a:xfrm>
            <a:off x="6227064" y="1572768"/>
            <a:ext cx="2788920" cy="4773168"/>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7064" y="1572768"/>
            <a:ext cx="2788920" cy="54864"/>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1664208"/>
            <a:ext cx="2514600" cy="384048"/>
          </a:xfrm>
          <a:prstGeom prst="rect">
            <a:avLst/>
          </a:prstGeom>
          <a:noFill/>
        </p:spPr>
        <p:txBody>
          <a:bodyPr wrap="square">
            <a:spAutoFit/>
          </a:bodyPr>
          <a:lstStyle/>
          <a:p>
            <a:pPr algn="l"/>
            <a:r>
              <a:rPr sz="1200" b="1" i="0">
                <a:solidFill>
                  <a:srgbClr val="F2A007"/>
                </a:solidFill>
                <a:latin typeface="Calibri"/>
              </a:rPr>
              <a:t>6 months</a:t>
            </a:r>
          </a:p>
        </p:txBody>
      </p:sp>
      <p:sp>
        <p:nvSpPr>
          <p:cNvPr id="30" name="TextBox 29"/>
          <p:cNvSpPr txBox="1"/>
          <p:nvPr/>
        </p:nvSpPr>
        <p:spPr>
          <a:xfrm>
            <a:off x="6364224" y="2148840"/>
            <a:ext cx="2514600" cy="475488"/>
          </a:xfrm>
          <a:prstGeom prst="rect">
            <a:avLst/>
          </a:prstGeom>
          <a:noFill/>
        </p:spPr>
        <p:txBody>
          <a:bodyPr wrap="square">
            <a:spAutoFit/>
          </a:bodyPr>
          <a:lstStyle/>
          <a:p>
            <a:pPr algn="l"/>
            <a:r>
              <a:rPr sz="900" b="0" i="0">
                <a:solidFill>
                  <a:srgbClr val="3A4270"/>
                </a:solidFill>
                <a:latin typeface="Calibri"/>
              </a:rPr>
              <a:t>→ More Indian languages (mr, gu, pa)</a:t>
            </a:r>
          </a:p>
        </p:txBody>
      </p:sp>
      <p:sp>
        <p:nvSpPr>
          <p:cNvPr id="31" name="TextBox 30"/>
          <p:cNvSpPr txBox="1"/>
          <p:nvPr/>
        </p:nvSpPr>
        <p:spPr>
          <a:xfrm>
            <a:off x="6364224" y="2660904"/>
            <a:ext cx="2514600" cy="475488"/>
          </a:xfrm>
          <a:prstGeom prst="rect">
            <a:avLst/>
          </a:prstGeom>
          <a:noFill/>
        </p:spPr>
        <p:txBody>
          <a:bodyPr wrap="square">
            <a:spAutoFit/>
          </a:bodyPr>
          <a:lstStyle/>
          <a:p>
            <a:pPr algn="l"/>
            <a:r>
              <a:rPr sz="900" b="0" i="0">
                <a:solidFill>
                  <a:srgbClr val="3A4270"/>
                </a:solidFill>
                <a:latin typeface="Calibri"/>
              </a:rPr>
              <a:t>→ NGO/SHG partner dashboard</a:t>
            </a:r>
          </a:p>
        </p:txBody>
      </p:sp>
      <p:sp>
        <p:nvSpPr>
          <p:cNvPr id="32" name="TextBox 31"/>
          <p:cNvSpPr txBox="1"/>
          <p:nvPr/>
        </p:nvSpPr>
        <p:spPr>
          <a:xfrm>
            <a:off x="6364224" y="3172968"/>
            <a:ext cx="2514600" cy="475488"/>
          </a:xfrm>
          <a:prstGeom prst="rect">
            <a:avLst/>
          </a:prstGeom>
          <a:noFill/>
        </p:spPr>
        <p:txBody>
          <a:bodyPr wrap="square">
            <a:spAutoFit/>
          </a:bodyPr>
          <a:lstStyle/>
          <a:p>
            <a:pPr algn="l"/>
            <a:r>
              <a:rPr sz="900" b="0" i="0">
                <a:solidFill>
                  <a:srgbClr val="3A4270"/>
                </a:solidFill>
                <a:latin typeface="Calibri"/>
              </a:rPr>
              <a:t>→ First-sale tracking metric</a:t>
            </a:r>
          </a:p>
        </p:txBody>
      </p:sp>
      <p:sp>
        <p:nvSpPr>
          <p:cNvPr id="33" name="TextBox 32"/>
          <p:cNvSpPr txBox="1"/>
          <p:nvPr/>
        </p:nvSpPr>
        <p:spPr>
          <a:xfrm>
            <a:off x="6364224" y="3685032"/>
            <a:ext cx="2514600" cy="475488"/>
          </a:xfrm>
          <a:prstGeom prst="rect">
            <a:avLst/>
          </a:prstGeom>
          <a:noFill/>
        </p:spPr>
        <p:txBody>
          <a:bodyPr wrap="square">
            <a:spAutoFit/>
          </a:bodyPr>
          <a:lstStyle/>
          <a:p>
            <a:pPr algn="l"/>
            <a:r>
              <a:rPr sz="900" b="0" i="0">
                <a:solidFill>
                  <a:srgbClr val="3A4270"/>
                </a:solidFill>
                <a:latin typeface="Calibri"/>
              </a:rPr>
              <a:t>→ Order management module</a:t>
            </a:r>
          </a:p>
        </p:txBody>
      </p:sp>
      <p:sp>
        <p:nvSpPr>
          <p:cNvPr id="34" name="TextBox 33"/>
          <p:cNvSpPr txBox="1"/>
          <p:nvPr/>
        </p:nvSpPr>
        <p:spPr>
          <a:xfrm>
            <a:off x="6364224" y="4197096"/>
            <a:ext cx="2514600" cy="475488"/>
          </a:xfrm>
          <a:prstGeom prst="rect">
            <a:avLst/>
          </a:prstGeom>
          <a:noFill/>
        </p:spPr>
        <p:txBody>
          <a:bodyPr wrap="square">
            <a:spAutoFit/>
          </a:bodyPr>
          <a:lstStyle/>
          <a:p>
            <a:pPr algn="l"/>
            <a:r>
              <a:rPr sz="900" b="0" i="0">
                <a:solidFill>
                  <a:srgbClr val="3A4270"/>
                </a:solidFill>
                <a:latin typeface="Calibri"/>
              </a:rPr>
              <a:t>→ Basic inventory tracker</a:t>
            </a:r>
          </a:p>
        </p:txBody>
      </p:sp>
      <p:sp>
        <p:nvSpPr>
          <p:cNvPr id="35" name="TextBox 34"/>
          <p:cNvSpPr txBox="1"/>
          <p:nvPr/>
        </p:nvSpPr>
        <p:spPr>
          <a:xfrm>
            <a:off x="6364224" y="4709160"/>
            <a:ext cx="2514600" cy="475488"/>
          </a:xfrm>
          <a:prstGeom prst="rect">
            <a:avLst/>
          </a:prstGeom>
          <a:noFill/>
        </p:spPr>
        <p:txBody>
          <a:bodyPr wrap="square">
            <a:spAutoFit/>
          </a:bodyPr>
          <a:lstStyle/>
          <a:p>
            <a:pPr algn="l"/>
            <a:r>
              <a:rPr sz="900" b="0" i="0">
                <a:solidFill>
                  <a:srgbClr val="3A4270"/>
                </a:solidFill>
                <a:latin typeface="Calibri"/>
              </a:rPr>
              <a:t>→ UPI payment links in Kit</a:t>
            </a:r>
          </a:p>
        </p:txBody>
      </p:sp>
      <p:sp>
        <p:nvSpPr>
          <p:cNvPr id="36" name="Rectangle 35"/>
          <p:cNvSpPr/>
          <p:nvPr/>
        </p:nvSpPr>
        <p:spPr>
          <a:xfrm>
            <a:off x="9134856" y="1572768"/>
            <a:ext cx="2788920" cy="4773168"/>
          </a:xfrm>
          <a:prstGeom prst="rect">
            <a:avLst/>
          </a:prstGeom>
          <a:solidFill>
            <a:srgbClr val="FFFFFF"/>
          </a:solidFill>
          <a:ln w="12700">
            <a:solidFill>
              <a:srgbClr val="E8D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134856" y="1572768"/>
            <a:ext cx="2788920" cy="54864"/>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72016" y="1664208"/>
            <a:ext cx="2514600" cy="384048"/>
          </a:xfrm>
          <a:prstGeom prst="rect">
            <a:avLst/>
          </a:prstGeom>
          <a:noFill/>
        </p:spPr>
        <p:txBody>
          <a:bodyPr wrap="square">
            <a:spAutoFit/>
          </a:bodyPr>
          <a:lstStyle/>
          <a:p>
            <a:pPr algn="l"/>
            <a:r>
              <a:rPr sz="1200" b="1" i="0">
                <a:solidFill>
                  <a:srgbClr val="C8506E"/>
                </a:solidFill>
                <a:latin typeface="Calibri"/>
              </a:rPr>
              <a:t>12 months</a:t>
            </a:r>
          </a:p>
        </p:txBody>
      </p:sp>
      <p:sp>
        <p:nvSpPr>
          <p:cNvPr id="39" name="TextBox 38"/>
          <p:cNvSpPr txBox="1"/>
          <p:nvPr/>
        </p:nvSpPr>
        <p:spPr>
          <a:xfrm>
            <a:off x="9272016" y="2148840"/>
            <a:ext cx="2514600" cy="475488"/>
          </a:xfrm>
          <a:prstGeom prst="rect">
            <a:avLst/>
          </a:prstGeom>
          <a:noFill/>
        </p:spPr>
        <p:txBody>
          <a:bodyPr wrap="square">
            <a:spAutoFit/>
          </a:bodyPr>
          <a:lstStyle/>
          <a:p>
            <a:pPr algn="l"/>
            <a:r>
              <a:rPr sz="900" b="0" i="0">
                <a:solidFill>
                  <a:srgbClr val="3A4270"/>
                </a:solidFill>
                <a:latin typeface="Calibri"/>
              </a:rPr>
              <a:t>→ Fine-tuned model on Indian
   women entrepreneur corpus</a:t>
            </a:r>
          </a:p>
        </p:txBody>
      </p:sp>
      <p:sp>
        <p:nvSpPr>
          <p:cNvPr id="40" name="TextBox 39"/>
          <p:cNvSpPr txBox="1"/>
          <p:nvPr/>
        </p:nvSpPr>
        <p:spPr>
          <a:xfrm>
            <a:off x="9272016" y="2660904"/>
            <a:ext cx="2514600" cy="475488"/>
          </a:xfrm>
          <a:prstGeom prst="rect">
            <a:avLst/>
          </a:prstGeom>
          <a:noFill/>
        </p:spPr>
        <p:txBody>
          <a:bodyPr wrap="square">
            <a:spAutoFit/>
          </a:bodyPr>
          <a:lstStyle/>
          <a:p>
            <a:pPr algn="l"/>
            <a:r>
              <a:rPr sz="900" b="0" i="0">
                <a:solidFill>
                  <a:srgbClr val="3A4270"/>
                </a:solidFill>
                <a:latin typeface="Calibri"/>
              </a:rPr>
              <a:t>→ Marketplace integration
   (Meesho, Flipkart Samarth)</a:t>
            </a:r>
          </a:p>
        </p:txBody>
      </p:sp>
      <p:sp>
        <p:nvSpPr>
          <p:cNvPr id="41" name="TextBox 40"/>
          <p:cNvSpPr txBox="1"/>
          <p:nvPr/>
        </p:nvSpPr>
        <p:spPr>
          <a:xfrm>
            <a:off x="9272016" y="3172968"/>
            <a:ext cx="2514600" cy="475488"/>
          </a:xfrm>
          <a:prstGeom prst="rect">
            <a:avLst/>
          </a:prstGeom>
          <a:noFill/>
        </p:spPr>
        <p:txBody>
          <a:bodyPr wrap="square">
            <a:spAutoFit/>
          </a:bodyPr>
          <a:lstStyle/>
          <a:p>
            <a:pPr algn="l"/>
            <a:r>
              <a:rPr sz="900" b="0" i="0">
                <a:solidFill>
                  <a:srgbClr val="3A4270"/>
                </a:solidFill>
                <a:latin typeface="Calibri"/>
              </a:rPr>
              <a:t>→ Multilingual voice-only mode
   for low-literacy users</a:t>
            </a:r>
          </a:p>
        </p:txBody>
      </p:sp>
      <p:sp>
        <p:nvSpPr>
          <p:cNvPr id="42" name="TextBox 41"/>
          <p:cNvSpPr txBox="1"/>
          <p:nvPr/>
        </p:nvSpPr>
        <p:spPr>
          <a:xfrm>
            <a:off x="9272016" y="3685032"/>
            <a:ext cx="2514600" cy="475488"/>
          </a:xfrm>
          <a:prstGeom prst="rect">
            <a:avLst/>
          </a:prstGeom>
          <a:noFill/>
        </p:spPr>
        <p:txBody>
          <a:bodyPr wrap="square">
            <a:spAutoFit/>
          </a:bodyPr>
          <a:lstStyle/>
          <a:p>
            <a:pPr algn="l"/>
            <a:r>
              <a:rPr sz="900" b="0" i="0">
                <a:solidFill>
                  <a:srgbClr val="3A4270"/>
                </a:solidFill>
                <a:latin typeface="Calibri"/>
              </a:rPr>
              <a:t>→ Offline PWA for rural India</a:t>
            </a:r>
          </a:p>
        </p:txBody>
      </p:sp>
      <p:sp>
        <p:nvSpPr>
          <p:cNvPr id="43" name="Rectangle 42"/>
          <p:cNvSpPr/>
          <p:nvPr/>
        </p:nvSpPr>
        <p:spPr>
          <a:xfrm>
            <a:off x="411480" y="6446520"/>
            <a:ext cx="11430000" cy="365760"/>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6492240"/>
            <a:ext cx="11155680" cy="274320"/>
          </a:xfrm>
          <a:prstGeom prst="rect">
            <a:avLst/>
          </a:prstGeom>
          <a:noFill/>
        </p:spPr>
        <p:txBody>
          <a:bodyPr wrap="square">
            <a:spAutoFit/>
          </a:bodyPr>
          <a:lstStyle/>
          <a:p>
            <a:pPr algn="ctr"/>
            <a:r>
              <a:rPr sz="1000" b="1" i="0">
                <a:solidFill>
                  <a:srgbClr val="F2A007"/>
                </a:solidFill>
                <a:latin typeface="Calibri"/>
              </a:rPr>
              <a:t>Key unlock: Self-hosted PostgreSQL + pgvector → real RAG scheme matching → scores eligibility in code, not LLM → verifiable, auditable, faster.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21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2188952" cy="54864"/>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rot="2700000">
            <a:off x="5212080" y="457200"/>
            <a:ext cx="1828800" cy="1828800"/>
          </a:xfrm>
          <a:prstGeom prst="rect">
            <a:avLst/>
          </a:prstGeom>
          <a:solidFill>
            <a:srgbClr val="F2A0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rot="2700000">
            <a:off x="6583680" y="1645920"/>
            <a:ext cx="914400" cy="914400"/>
          </a:xfrm>
          <a:prstGeom prst="rect">
            <a:avLst/>
          </a:prstGeom>
          <a:solidFill>
            <a:srgbClr val="C8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rot="2700000">
            <a:off x="5852160" y="2560320"/>
            <a:ext cx="548640" cy="5486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743200"/>
            <a:ext cx="10972800" cy="1097280"/>
          </a:xfrm>
          <a:prstGeom prst="rect">
            <a:avLst/>
          </a:prstGeom>
          <a:noFill/>
        </p:spPr>
        <p:txBody>
          <a:bodyPr wrap="square">
            <a:spAutoFit/>
          </a:bodyPr>
          <a:lstStyle/>
          <a:p>
            <a:pPr algn="ctr"/>
            <a:r>
              <a:rPr sz="5200" b="1" i="0">
                <a:solidFill>
                  <a:srgbClr val="FFFFFF"/>
                </a:solidFill>
                <a:latin typeface="Palatino Linotype"/>
              </a:rPr>
              <a:t>Udaan  उड़ान</a:t>
            </a:r>
          </a:p>
        </p:txBody>
      </p:sp>
      <p:sp>
        <p:nvSpPr>
          <p:cNvPr id="9" name="TextBox 8"/>
          <p:cNvSpPr txBox="1"/>
          <p:nvPr/>
        </p:nvSpPr>
        <p:spPr>
          <a:xfrm>
            <a:off x="731520" y="3931920"/>
            <a:ext cx="10972800" cy="457200"/>
          </a:xfrm>
          <a:prstGeom prst="rect">
            <a:avLst/>
          </a:prstGeom>
          <a:noFill/>
        </p:spPr>
        <p:txBody>
          <a:bodyPr wrap="square">
            <a:spAutoFit/>
          </a:bodyPr>
          <a:lstStyle/>
          <a:p>
            <a:pPr algn="ctr"/>
            <a:r>
              <a:rPr sz="1300" b="0" i="1">
                <a:solidFill>
                  <a:srgbClr val="F2A007"/>
                </a:solidFill>
                <a:latin typeface="Calibri"/>
              </a:rPr>
              <a:t>Anti-hallucination  ·  Structured AI output  ·  Data sovereignty  ·  Voice-native  ·  Privacy-first</a:t>
            </a:r>
          </a:p>
        </p:txBody>
      </p:sp>
      <p:sp>
        <p:nvSpPr>
          <p:cNvPr id="10" name="TextBox 9"/>
          <p:cNvSpPr txBox="1"/>
          <p:nvPr/>
        </p:nvSpPr>
        <p:spPr>
          <a:xfrm>
            <a:off x="731520" y="4846320"/>
            <a:ext cx="10972800" cy="457200"/>
          </a:xfrm>
          <a:prstGeom prst="rect">
            <a:avLst/>
          </a:prstGeom>
          <a:noFill/>
        </p:spPr>
        <p:txBody>
          <a:bodyPr wrap="square">
            <a:spAutoFit/>
          </a:bodyPr>
          <a:lstStyle/>
          <a:p>
            <a:pPr algn="ctr"/>
            <a:r>
              <a:rPr sz="1400" b="1" i="0">
                <a:solidFill>
                  <a:srgbClr val="C0C8FF"/>
                </a:solidFill>
                <a:latin typeface="Calibri"/>
              </a:rPr>
              <a:t>github.com/arjunnitc1/udaan  ·  branch: shreya/scheme-engine</a:t>
            </a:r>
          </a:p>
        </p:txBody>
      </p:sp>
      <p:sp>
        <p:nvSpPr>
          <p:cNvPr id="11" name="TextBox 10"/>
          <p:cNvSpPr txBox="1"/>
          <p:nvPr/>
        </p:nvSpPr>
        <p:spPr>
          <a:xfrm>
            <a:off x="731520" y="6035040"/>
            <a:ext cx="10972800" cy="365760"/>
          </a:xfrm>
          <a:prstGeom prst="rect">
            <a:avLst/>
          </a:prstGeom>
          <a:noFill/>
        </p:spPr>
        <p:txBody>
          <a:bodyPr wrap="square">
            <a:spAutoFit/>
          </a:bodyPr>
          <a:lstStyle/>
          <a:p>
            <a:pPr algn="ctr"/>
            <a:r>
              <a:rPr sz="1000" b="0" i="0">
                <a:solidFill>
                  <a:srgbClr val="8088AA"/>
                </a:solidFill>
                <a:latin typeface="Calibri"/>
              </a:rPr>
              <a:t>AI for Good Hackathon  ·  Reuben College, Oxford  ·  June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