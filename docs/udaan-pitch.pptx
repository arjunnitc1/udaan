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224528" y="777240"/>
            <a:ext cx="685800" cy="68580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4407408" y="960120"/>
            <a:ext cx="329184" cy="329184"/>
          </a:xfrm>
          <a:prstGeom prst="roundRect">
            <a:avLst>
              <a:gd name="adj" fmla="val 18000"/>
            </a:avLst>
          </a:prstGeom>
          <a:solidFill>
            <a:srgbClr val="C8506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7830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FFF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UDAAN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267004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उड़ान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3246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skill. Your business. Your flight.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379476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business coach that turns a woman's existing skill into her first independent income — in her language, on her phone, judgment-free.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Good Hackathon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38404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292608"/>
            <a:ext cx="7680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B2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women are working than ever.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B2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none of them own anything.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143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labour force participation in 2023-24 — up from 23.3% in 2017-18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143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5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10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20440" y="2606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female-to-male entrepreneurs in India (excluding self-employment)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5603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143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78308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D88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309360" y="26060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earnings fell for most categories of working women — participation rose, prosperity didn't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is not skill or will. </a:t>
            </a:r>
            <a:pPr algn="ctr" indent="0" marL="0">
              <a:buNone/>
            </a:pPr>
            <a:r>
              <a:rPr lang="en-US" sz="16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that nobody ever taught her the bridge from “I can cook” to “I run a tiffin business.”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9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PLFS / Economic Survey 2025-26 · Yale EGC 2025 · IASPOINT analysis of PLFS earnings data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291840" cy="4160520"/>
          </a:xfrm>
          <a:prstGeom prst="roundRect">
            <a:avLst>
              <a:gd name="adj" fmla="val 3333"/>
            </a:avLst>
          </a:prstGeom>
          <a:solidFill>
            <a:srgbClr val="1B2143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828800" y="86868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691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SUNITA, 38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Lucknow, Uttar Pradesh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the best achar and tiffin food in her colony.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free. For twenty years.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till class 10 · husband drives a cab · smartphone with WhatsApp &amp; YouTube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60520" y="685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B2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first-time entrepreneur</a:t>
            </a:r>
            <a:endParaRPr lang="en-US" sz="2600" dirty="0"/>
          </a:p>
          <a:p>
            <a:pPr indent="0" marL="0">
              <a:lnSpc>
                <a:spcPts val="3100"/>
              </a:lnSpc>
              <a:buNone/>
            </a:pPr>
            <a:r>
              <a:rPr lang="en-US" sz="2600" b="1" dirty="0">
                <a:solidFill>
                  <a:srgbClr val="1B2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 mentor.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60520" y="178308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 have always had informal ones — friends, colleagues, the market itself. 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C8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Indian women were never allowed into those rooms.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60520" y="28346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neighbour sells worse achar online for ₹400 a jar.
</a:t>
            </a:r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Sunita has never earned a rupee.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60520" y="37947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D8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business hours are the gaps in domestic labour — 2 to 4 pm, and after 10 at night. The only mentor available at those hours is an AI.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38404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4747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Udaan: she speaks one sentence. She receives a business.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02920" cy="502920"/>
          </a:xfrm>
          <a:prstGeom prst="ellipse">
            <a:avLst/>
          </a:prstGeom>
          <a:solidFill>
            <a:srgbClr val="F6EFE2"/>
          </a:solidFill>
          <a:ln w="12700">
            <a:solidFill>
              <a:srgbClr val="E8DFC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27101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078992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tells Udaan her skill   </a:t>
            </a:r>
            <a:pPr indent="0" marL="0">
              <a:buNone/>
            </a:pPr>
            <a:r>
              <a:rPr lang="en-US" sz="12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text, in her own words, in her language: “main acha khana banati hoon”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1901952"/>
            <a:ext cx="502920" cy="502920"/>
          </a:xfrm>
          <a:prstGeom prst="ellipse">
            <a:avLst/>
          </a:prstGeom>
          <a:solidFill>
            <a:srgbClr val="F6EFE2"/>
          </a:solidFill>
          <a:ln w="12700">
            <a:solidFill>
              <a:srgbClr val="E8DFC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29968"/>
            <a:ext cx="246888" cy="2468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837944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interviews her   </a:t>
            </a:r>
            <a:pPr indent="0" marL="0">
              <a:buNone/>
            </a:pPr>
            <a:r>
              <a:rPr lang="en-US" sz="12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warm questions — what she makes, her time, what people praise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2660904"/>
            <a:ext cx="502920" cy="502920"/>
          </a:xfrm>
          <a:prstGeom prst="ellipse">
            <a:avLst/>
          </a:prstGeom>
          <a:solidFill>
            <a:srgbClr val="F6EFE2"/>
          </a:solidFill>
          <a:ln w="12700">
            <a:solidFill>
              <a:srgbClr val="E8DFC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2788920"/>
            <a:ext cx="246888" cy="246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596896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Udaan Kit, generated live   </a:t>
            </a:r>
            <a:pPr indent="0" marL="0">
              <a:buNone/>
            </a:pPr>
            <a:r>
              <a:rPr lang="en-US" sz="12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shapes with earnings ranges · prices that count HER labour · ready WhatsApp catalog · matched govt schemes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3419856"/>
            <a:ext cx="502920" cy="502920"/>
          </a:xfrm>
          <a:prstGeom prst="ellipse">
            <a:avLst/>
          </a:prstGeom>
          <a:solidFill>
            <a:srgbClr val="F6EFE2"/>
          </a:solidFill>
          <a:ln w="12700">
            <a:solidFill>
              <a:srgbClr val="E8DFCC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547872"/>
            <a:ext cx="246888" cy="2468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335584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possible year”   </a:t>
            </a:r>
            <a:pPr indent="0" marL="0">
              <a:buNone/>
            </a:pPr>
            <a:r>
              <a:rPr lang="en-US" sz="12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12-month income projection + her first savings habit — independence as arithmetic, not a dream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0080" y="4178808"/>
            <a:ext cx="502920" cy="502920"/>
          </a:xfrm>
          <a:prstGeom prst="ellipse">
            <a:avLst/>
          </a:prstGeom>
          <a:solidFill>
            <a:srgbClr val="F6EFE2"/>
          </a:solidFill>
          <a:ln w="12700">
            <a:solidFill>
              <a:srgbClr val="E8DFCC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306824"/>
            <a:ext cx="246888" cy="2468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4114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action today   </a:t>
            </a:r>
            <a:pPr indent="0" marL="0">
              <a:buNone/>
            </a:pPr>
            <a:r>
              <a:rPr lang="en-US" sz="12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“Send this message to 10 neighbours. Your first order is within 500 metres.”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4297680" y="123444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57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600" kern="0" dirty="0">
                <a:solidFill>
                  <a:srgbClr val="FFF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spoken sentence in. A business-in-a-box out. In Hindi and English.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4297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(Backup: recorded demo + offline demo mode — because every PM ships a Plan B)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38404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4747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can't she just use ChatGPT?”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60120" y="8686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8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isn't asking a question. She is starting a life. Generic chat gives answers; Udaan gives artifacts.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63500" dist="25400" dir="5400000">
              <a:srgbClr val="1B2143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664208"/>
            <a:ext cx="457200" cy="457200"/>
          </a:xfrm>
          <a:prstGeom prst="ellipse">
            <a:avLst/>
          </a:prstGeom>
          <a:solidFill>
            <a:srgbClr val="F6EFE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177850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627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Workflow, not chat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53312" y="19659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interview → structured kit → one same-day action. She leaves holding prices, a catalog, and a plan — not a paragraph.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146304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63500" dist="25400" dir="5400000">
              <a:srgbClr val="1B2143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1664208"/>
            <a:ext cx="457200" cy="457200"/>
          </a:xfrm>
          <a:prstGeom prst="ellipse">
            <a:avLst/>
          </a:prstGeom>
          <a:solidFill>
            <a:srgbClr val="F6EFE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628" y="177850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627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layer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513832" y="196596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Mudra, Udyam, NRLM/SHG, PM Vishwakarma and realistic small-town pricing norms are built in — not hallucinated.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1546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63500" dist="25400" dir="5400000">
              <a:srgbClr val="1B2143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355848"/>
            <a:ext cx="457200" cy="457200"/>
          </a:xfrm>
          <a:prstGeom prst="ellipse">
            <a:avLst/>
          </a:prstGeom>
          <a:solidFill>
            <a:srgbClr val="F6EFE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47014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319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behaviour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353312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“Never question whether she should work. Never suggest asking permission.” The judgment-free stance is written into the system prompt as product.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09160" y="31546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63500" dist="25400" dir="5400000">
              <a:srgbClr val="1B2143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10328" y="3355848"/>
            <a:ext cx="457200" cy="457200"/>
          </a:xfrm>
          <a:prstGeom prst="ellipse">
            <a:avLst/>
          </a:prstGeom>
          <a:solidFill>
            <a:srgbClr val="F6EFE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4628" y="347014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13832" y="33192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is the moat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513832" y="365760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has no path to Sunita. Udaan travels through SHG didis, ASHA workers and NGOs — people she already trusts.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38404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4747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heart. National tailwind. A multiplier, not a market.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143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813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80M+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2267712"/>
            <a:ext cx="22311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already organised in self-help groups — our distribution rail, day 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143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4813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50–75%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02152" y="2267712"/>
            <a:ext cx="22311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workers in female-owned firms are women (vs 10–25% in male-owned) — every launch employs more women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560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76200" dist="25400" dir="5400000">
              <a:srgbClr val="1B2143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481328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50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$700B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91072" y="2267712"/>
            <a:ext cx="223113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GDP addition from gender equality (McKinsey) — the grand prize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F6EFE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30752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tailwind: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targets 55% female workforce participation by 2030 and 70% by 2047 (Viksit Bharat). Udaan rows with the national current — which is exactly why governments, banks and CSR programs will pay for it.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38404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4747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 will never search for us. So we travel through people she trusts.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UDAAN REACHES HER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481328"/>
            <a:ext cx="457200" cy="457200"/>
          </a:xfrm>
          <a:prstGeom prst="ellipse">
            <a:avLst/>
          </a:prstGeom>
          <a:solidFill>
            <a:srgbClr val="F6EFE2"/>
          </a:solidFill>
          <a:ln w="12700">
            <a:solidFill>
              <a:srgbClr val="E8DFC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159562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3716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didis &amp; NRLM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Assisted mode: a didi runs Udaan with her, in the group meeting she already attends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2505456"/>
            <a:ext cx="457200" cy="457200"/>
          </a:xfrm>
          <a:prstGeom prst="ellipse">
            <a:avLst/>
          </a:prstGeom>
          <a:solidFill>
            <a:srgbClr val="F6EFE2"/>
          </a:solidFill>
          <a:ln w="12700">
            <a:solidFill>
              <a:srgbClr val="E8DFC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619756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39572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 / anganwadi workers &amp; NGOs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trusted faces in every village and basti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94360" y="3529584"/>
            <a:ext cx="457200" cy="457200"/>
          </a:xfrm>
          <a:prstGeom prst="ellipse">
            <a:avLst/>
          </a:prstGeom>
          <a:solidFill>
            <a:srgbClr val="F6EFE2"/>
          </a:solidFill>
          <a:ln w="12700">
            <a:solidFill>
              <a:srgbClr val="E8DFC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364388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419856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 (roadmap)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every phone; raises no suspicion at home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800600" y="1143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(NEVER HER)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846320" y="1481328"/>
            <a:ext cx="457200" cy="457200"/>
          </a:xfrm>
          <a:prstGeom prst="ellipse">
            <a:avLst/>
          </a:prstGeom>
          <a:solidFill>
            <a:srgbClr val="EAF7EE"/>
          </a:solidFill>
          <a:ln w="12700">
            <a:solidFill>
              <a:srgbClr val="CDE9D6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0620" y="1595628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1371600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CSR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must grow Mudra / priority-sector lending — Udaan is qualified-lead generation for them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4846320" y="2505456"/>
            <a:ext cx="457200" cy="457200"/>
          </a:xfrm>
          <a:prstGeom prst="ellipse">
            <a:avLst/>
          </a:prstGeom>
          <a:solidFill>
            <a:srgbClr val="EAF7EE"/>
          </a:solidFill>
          <a:ln w="12700">
            <a:solidFill>
              <a:srgbClr val="CDE9D6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0620" y="2619756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40680" y="2395728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licensing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SHG federations, state rural livelihood missions and NGOs license Udaan as a program tool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846320" y="3529584"/>
            <a:ext cx="457200" cy="457200"/>
          </a:xfrm>
          <a:prstGeom prst="ellipse">
            <a:avLst/>
          </a:prstGeom>
          <a:solidFill>
            <a:srgbClr val="EAF7EE"/>
          </a:solidFill>
          <a:ln w="12700">
            <a:solidFill>
              <a:srgbClr val="CDE9D6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0620" y="3643884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40680" y="3419856"/>
            <a:ext cx="3246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commerce
</a:t>
            </a:r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take-rate on storefront upgrades once she's earning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502920" y="38404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4747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1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we'll know it works — and what an app cannot fix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63500" dist="25400" dir="5400000">
              <a:srgbClr val="1B2143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898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METRICS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2296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star: first-sale rate.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women with a paid order within 30 days.
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generated (sampled via SHG partners) · Udyam registrations &amp; Mudra applications initiated · kits completed per coached session.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8DFCC"/>
            </a:solidFill>
            <a:prstDash val="solid"/>
          </a:ln>
          <a:effectLst>
            <a:outerShdw sx="100000" sy="100000" kx="0" ky="0" algn="bl" rotWithShape="0" blurRad="63500" dist="25400" dir="5400000">
              <a:srgbClr val="1B2143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3898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C85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HONEST ABOUT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98348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permission is often the real blocker.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 cannot fix patriarchy. We design around it: home-based framing, an “explain this plan to my family” output, assisted mode with a trusted didi.
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B21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be wrong.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come from curated data with official links; projections are labelled estimates; humans complete every step.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40080" y="548640"/>
            <a:ext cx="411480" cy="411480"/>
          </a:xfrm>
          <a:prstGeom prst="roundRect">
            <a:avLst>
              <a:gd name="adj" fmla="val 18000"/>
            </a:avLst>
          </a:prstGeom>
          <a:solidFill>
            <a:srgbClr val="F2A00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430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her income. Tomorrow, her rights.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Udaan is one product on a platform thesis: </a:t>
            </a:r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F2A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meets marginalised Indians where they are — in their language, through people they trust.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242B5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7889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27249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Udaan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→ first independent income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83280" y="26060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242B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788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50208" y="27249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Sahara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84448" y="31546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voice, when she needs her rights protected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26480" y="2606040"/>
            <a:ext cx="2514600" cy="1325880"/>
          </a:xfrm>
          <a:prstGeom prst="roundRect">
            <a:avLst>
              <a:gd name="adj" fmla="val 5517"/>
            </a:avLst>
          </a:prstGeom>
          <a:solidFill>
            <a:srgbClr val="242B5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7889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93408" y="2724912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every language, every country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327648" y="31546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universal; only the data layer is local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097280" y="416052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FFFD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woman with her own income has the power to say no — to an unfair price, to an exploitative employer, and sometimes, to an unsafe home.”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Udaan — AI Business Coach for Women</dc:title>
  <dc:subject>PptxGenJS Presentation</dc:subject>
  <dc:creator>Team Udaan</dc:creator>
  <cp:lastModifiedBy>Team Udaan</cp:lastModifiedBy>
  <cp:revision>1</cp:revision>
  <dcterms:created xsi:type="dcterms:W3CDTF">2026-06-11T22:55:25Z</dcterms:created>
  <dcterms:modified xsi:type="dcterms:W3CDTF">2026-06-11T22:55:25Z</dcterms:modified>
</cp:coreProperties>
</file>